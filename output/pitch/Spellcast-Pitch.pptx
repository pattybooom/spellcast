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205e5270e14b7b" /><Relationship Type="http://schemas.openxmlformats.org/officeDocument/2006/relationships/extended-properties" Target="/docProps/app.xml" Id="R44513296c45b4051" /><Relationship Type="http://schemas.openxmlformats.org/officeDocument/2006/relationships/officeDocument" Target="/ppt/presentation.xml" Id="R24651fcd43ad4ed4" /></Relationships>
</file>

<file path=ppt/presentation.xml><?xml version="1.0" encoding="utf-8"?>
<p:presentation xmlns:p="http://schemas.openxmlformats.org/presentationml/2006/main">
  <p:sldMasterIdLst>
    <p:sldMasterId xmlns:r="http://schemas.openxmlformats.org/officeDocument/2006/relationships" id="2147483648" r:id="R2eb202ac36b042d2"/>
  </p:sldMasterIdLst>
  <p:notesMasterIdLst>
    <p:notesMasterId xmlns:r="http://schemas.openxmlformats.org/officeDocument/2006/relationships" r:id="R6eaccec451d94ea8"/>
  </p:notesMasterIdLst>
  <p:sldIdLst>
    <p:sldId xmlns:r="http://schemas.openxmlformats.org/officeDocument/2006/relationships" id="256" r:id="R8f455575819e4af1"/>
    <p:sldId xmlns:r="http://schemas.openxmlformats.org/officeDocument/2006/relationships" id="257" r:id="R4be40966587b433c"/>
    <p:sldId xmlns:r="http://schemas.openxmlformats.org/officeDocument/2006/relationships" id="258" r:id="Rfe0f8b60ca094fe9"/>
    <p:sldId xmlns:r="http://schemas.openxmlformats.org/officeDocument/2006/relationships" id="259" r:id="Rfa4ffd332bb74177"/>
    <p:sldId xmlns:r="http://schemas.openxmlformats.org/officeDocument/2006/relationships" id="260" r:id="R3685069817c74220"/>
    <p:sldId xmlns:r="http://schemas.openxmlformats.org/officeDocument/2006/relationships" id="261" r:id="Re130845c5ea744c3"/>
    <p:sldId xmlns:r="http://schemas.openxmlformats.org/officeDocument/2006/relationships" id="262" r:id="R5158c850a688465f"/>
    <p:sldId xmlns:r="http://schemas.openxmlformats.org/officeDocument/2006/relationships" id="263" r:id="R5c13fd7836704f0d"/>
    <p:sldId xmlns:r="http://schemas.openxmlformats.org/officeDocument/2006/relationships" id="264" r:id="R9024179cb4ae45ce"/>
    <p:sldId xmlns:r="http://schemas.openxmlformats.org/officeDocument/2006/relationships" id="265" r:id="Re5c6b9a925c242f9"/>
    <p:sldId xmlns:r="http://schemas.openxmlformats.org/officeDocument/2006/relationships" id="266" r:id="Rb193c4af91dd46ba"/>
    <p:sldId xmlns:r="http://schemas.openxmlformats.org/officeDocument/2006/relationships" id="267" r:id="R042d9c032bea4554"/>
    <p:sldId xmlns:r="http://schemas.openxmlformats.org/officeDocument/2006/relationships" id="268" r:id="Rb7d90639b6294a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6477a7897b4efb" /><Relationship Type="http://schemas.openxmlformats.org/officeDocument/2006/relationships/slideMaster" Target="/ppt/slideMasters/slideMaster1.xml" Id="R2eb202ac36b042d2" /><Relationship Type="http://schemas.openxmlformats.org/officeDocument/2006/relationships/notesMaster" Target="/ppt/notesMasters/notesMaster1.xml" Id="R6eaccec451d94ea8" /><Relationship Type="http://schemas.openxmlformats.org/officeDocument/2006/relationships/presProps" Target="/ppt/presProps.xml" Id="R828cf27722db48d1" /><Relationship Type="http://schemas.openxmlformats.org/officeDocument/2006/relationships/tableStyles" Target="/ppt/tableStyles.xml" Id="R609001e865144f1e" /><Relationship Type="http://schemas.openxmlformats.org/officeDocument/2006/relationships/slide" Target="/ppt/slides/slide1.xml" Id="R8f455575819e4af1" /><Relationship Type="http://schemas.openxmlformats.org/officeDocument/2006/relationships/slide" Target="/ppt/slides/slide2.xml" Id="R4be40966587b433c" /><Relationship Type="http://schemas.openxmlformats.org/officeDocument/2006/relationships/slide" Target="/ppt/slides/slide3.xml" Id="Rfe0f8b60ca094fe9" /><Relationship Type="http://schemas.openxmlformats.org/officeDocument/2006/relationships/slide" Target="/ppt/slides/slide4.xml" Id="Rfa4ffd332bb74177" /><Relationship Type="http://schemas.openxmlformats.org/officeDocument/2006/relationships/slide" Target="/ppt/slides/slide5.xml" Id="R3685069817c74220" /><Relationship Type="http://schemas.openxmlformats.org/officeDocument/2006/relationships/slide" Target="/ppt/slides/slide6.xml" Id="Re130845c5ea744c3" /><Relationship Type="http://schemas.openxmlformats.org/officeDocument/2006/relationships/slide" Target="/ppt/slides/slide7.xml" Id="R5158c850a688465f" /><Relationship Type="http://schemas.openxmlformats.org/officeDocument/2006/relationships/slide" Target="/ppt/slides/slide8.xml" Id="R5c13fd7836704f0d" /><Relationship Type="http://schemas.openxmlformats.org/officeDocument/2006/relationships/slide" Target="/ppt/slides/slide9.xml" Id="R9024179cb4ae45ce" /><Relationship Type="http://schemas.openxmlformats.org/officeDocument/2006/relationships/slide" Target="/ppt/slides/slide10.xml" Id="Re5c6b9a925c242f9" /><Relationship Type="http://schemas.openxmlformats.org/officeDocument/2006/relationships/slide" Target="/ppt/slides/slide11.xml" Id="Rb193c4af91dd46ba" /><Relationship Type="http://schemas.openxmlformats.org/officeDocument/2006/relationships/slide" Target="/ppt/slides/slide12.xml" Id="R042d9c032bea4554" /><Relationship Type="http://schemas.openxmlformats.org/officeDocument/2006/relationships/slide" Target="/ppt/slides/slide13.xml" Id="Rb7d90639b6294a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946bed72254e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15b243d1b34865" /><Relationship Type="http://schemas.openxmlformats.org/officeDocument/2006/relationships/notesMaster" Target="/ppt/notesMasters/notesMaster1.xml" Id="Raafce5db92824d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6c305681064457" /><Relationship Type="http://schemas.openxmlformats.org/officeDocument/2006/relationships/notesMaster" Target="/ppt/notesMasters/notesMaster1.xml" Id="R712923f3afa744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b84c9ae3e94227" /><Relationship Type="http://schemas.openxmlformats.org/officeDocument/2006/relationships/notesMaster" Target="/ppt/notesMasters/notesMaster1.xml" Id="R3555810328c149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2365d4cfbc4b2b" /><Relationship Type="http://schemas.openxmlformats.org/officeDocument/2006/relationships/notesMaster" Target="/ppt/notesMasters/notesMaster1.xml" Id="R37a258c8c5c141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6ad3e5b9a4558" /><Relationship Type="http://schemas.openxmlformats.org/officeDocument/2006/relationships/notesMaster" Target="/ppt/notesMasters/notesMaster1.xml" Id="R706e35b61a4846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db1965de2c45fe" /><Relationship Type="http://schemas.openxmlformats.org/officeDocument/2006/relationships/notesMaster" Target="/ppt/notesMasters/notesMaster1.xml" Id="R00d5f8428fc448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147ff80b214912" /><Relationship Type="http://schemas.openxmlformats.org/officeDocument/2006/relationships/notesMaster" Target="/ppt/notesMasters/notesMaster1.xml" Id="R8a62b0c19a7e4e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c074c5ea04527" /><Relationship Type="http://schemas.openxmlformats.org/officeDocument/2006/relationships/notesMaster" Target="/ppt/notesMasters/notesMaster1.xml" Id="R0df3098270bf40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f67fc048ee4305" /><Relationship Type="http://schemas.openxmlformats.org/officeDocument/2006/relationships/notesMaster" Target="/ppt/notesMasters/notesMaster1.xml" Id="Rad4154a9a45b42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4f0c8d43354cd5" /><Relationship Type="http://schemas.openxmlformats.org/officeDocument/2006/relationships/notesMaster" Target="/ppt/notesMasters/notesMaster1.xml" Id="R8f27bde864d14d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509415016040c0" /><Relationship Type="http://schemas.openxmlformats.org/officeDocument/2006/relationships/notesMaster" Target="/ppt/notesMasters/notesMaster1.xml" Id="R9a142f07c31446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968d4a276f4866" /><Relationship Type="http://schemas.openxmlformats.org/officeDocument/2006/relationships/notesMaster" Target="/ppt/notesMasters/notesMaster1.xml" Id="R306ba1fc842640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e812d4bc1d4726" /><Relationship Type="http://schemas.openxmlformats.org/officeDocument/2006/relationships/notesMaster" Target="/ppt/notesMasters/notesMaster1.xml" Id="Rd7be55c755d04c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seconds</a:t>
            </a:r>
          </a:p>
          <a:p xmlns:a="http://schemas.openxmlformats.org/drawingml/2006/main">
            <a:r>
              <a:t>Spellcast lets you point at a device in your room and control it with your hands. We are starting with the two things students adjust at their desks: lighting and music.</a:t>
            </a:r>
          </a:p>
          <a:p xmlns:a="http://schemas.openxmlformats.org/drawingml/2006/main">
            <a:r>
              <a:t/>
            </a:r>
          </a:p>
          <a:p xmlns:a="http://schemas.openxmlformats.org/drawingml/2006/main">
            <a:r>
              <a:t>Sources and qualifications</a:t>
            </a:r>
          </a:p>
          <a:p xmlns:a="http://schemas.openxmlformats.org/drawingml/2006/main">
            <a:r>
              <a:t>Visual: AI-generated concept illustration using the built-in image-generation tool. It is not a photo of the prototype.</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Our first user is a student with a Mac, a smart lamp and Spotify. Adjusting the room still means reaching for an app, finding a switch or speaking a command. The cost we want to reduce is that interruption. Ofcom found smart speakers in 40% of UK households, and three in five smart-speaker users said a request for a radio station had played the wrong thing. That is evidence of control friction, not proof that they will pay for gestures.</a:t>
            </a:r>
          </a:p>
          <a:p xmlns:a="http://schemas.openxmlformats.org/drawingml/2006/main">
            <a:r>
              <a:t/>
            </a:r>
          </a:p>
          <a:p xmlns:a="http://schemas.openxmlformats.org/drawingml/2006/main">
            <a:r>
              <a:t>Sources and qualifications</a:t>
            </a:r>
          </a:p>
          <a:p xmlns:a="http://schemas.openxmlformats.org/drawingml/2006/main">
            <a:r>
              <a:t>https://www.ofcom.org.uk/siteassets/resources/documents/research-and-data/multi-sector/media-nations/2025/media-nations-2025-uk-report.pdf (printed page 92, Q1 2025 smart-speaker ownership)</a:t>
            </a:r>
          </a:p>
          <a:p xmlns:a="http://schemas.openxmlformats.org/drawingml/2006/main">
            <a:r>
              <a:t>https://www.ofcom.org.uk/tv-radio-and-on-demand/digital-radio/top-trends-uk-listening-habits-2025 (21 May 2025, wrong radio-station playback). Do not interpret this as 60% of requests failing.</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Spellcast uses the webcam already on the Mac. We calibrate where the lamp and speaker appear in the camera view. Pointing selects the device, and the other hand controls it. The current code connects the lamp through Zigbee2MQTT and controls the Mac Spotify app. It also includes Calm, Study and Party scenes. This prototype uses two-dimensional camera calibration, not automatic room understanding.</a:t>
            </a:r>
          </a:p>
          <a:p xmlns:a="http://schemas.openxmlformats.org/drawingml/2006/main">
            <a:r>
              <a:t/>
            </a:r>
          </a:p>
          <a:p xmlns:a="http://schemas.openxmlformats.org/drawingml/2006/main">
            <a:r>
              <a:t>Sources and qualifications</a:t>
            </a:r>
          </a:p>
          <a:p xmlns:a="http://schemas.openxmlformats.org/drawingml/2006/main">
            <a:r>
              <a:t>Repository: src/App.tsx, src/tracking/handTracker.ts, src/targeting/useLampTargeting.ts, src/control/*, electron/main.ts, electron/spotify.ts, electron/scenes.ts. The source overview files contain older progress descriptions.</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Switch to the running app.</a:t>
            </a:r>
          </a:p>
          <a:p xmlns:a="http://schemas.openxmlformats.org/drawingml/2006/main">
            <a:r>
              <a:t>Before pitching, pair the bulb, open and sign into Spotify, permit Automation, enable the camera and calibrate both target boxes. Start with no scene active.</a:t>
            </a:r>
          </a:p>
          <a:p xmlns:a="http://schemas.openxmlformats.org/drawingml/2006/main">
            <a:r>
              <a:t>0-15 sec: point at the lamp. Use the other hand open for ON, fist for OFF, then reopen and move it up or down for brightness.</a:t>
            </a:r>
          </a:p>
          <a:p xmlns:a="http://schemas.openxmlformats.org/drawingml/2006/main">
            <a:r>
              <a:t>15-30 sec: point directly at the speaker. Move the other hand to adjust Spotify volume.</a:t>
            </a:r>
          </a:p>
          <a:p xmlns:a="http://schemas.openxmlformats.org/drawingml/2006/main">
            <a:r>
              <a:t>30-45 sec: touch the two index fingertips together twice, separating them between contacts, to enter Calm. Repeat if time permits to show Study. Keep Party optional. Scene presets override individual lamp gestures.</a:t>
            </a:r>
          </a:p>
          <a:p xmlns:a="http://schemas.openxmlformats.org/drawingml/2006/main">
            <a:r>
              <a:t>Say: One camera, two devices, and a room that responds to where you point.</a:t>
            </a:r>
          </a:p>
          <a:p xmlns:a="http://schemas.openxmlformats.org/drawingml/2006/main">
            <a:r>
              <a:t>If hardware fails, use the on-screen controls to explain the same interaction and say clearly which connection is unavailable. Do not imply a recorded result.</a:t>
            </a:r>
          </a:p>
          <a:p xmlns:a="http://schemas.openxmlformats.org/drawingml/2006/main">
            <a:r>
              <a:t/>
            </a:r>
          </a:p>
          <a:p xmlns:a="http://schemas.openxmlformats.org/drawingml/2006/main">
            <a:r>
              <a:t>Sources and qualifications</a:t>
            </a:r>
          </a:p>
          <a:p xmlns:a="http://schemas.openxmlformats.org/drawingml/2006/main">
            <a:r>
              <a:t>Gesture evidence: src/control/useTwoHandLampControl.ts, useSpotifyHandControl.ts, useTwoHandSceneControl.ts. Current scene sequence: none, Calm, Study, Party, none.</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Apps give precise controls. Voice can work across the room. Flic already sells physical controls with gesture support. Spellcast adds a different selection method: point at the actual visible object. We are not claiming that gesture control is new, or that this prototype is universally easier. The hypothesis is that direct pointing is useful in a quiet desk setup.</a:t>
            </a:r>
          </a:p>
          <a:p xmlns:a="http://schemas.openxmlformats.org/drawingml/2006/main">
            <a:r>
              <a:t/>
            </a:r>
          </a:p>
          <a:p xmlns:a="http://schemas.openxmlformats.org/drawingml/2006/main">
            <a:r>
              <a:t>Sources and qualifications</a:t>
            </a:r>
          </a:p>
          <a:p xmlns:a="http://schemas.openxmlformats.org/drawingml/2006/main">
            <a:r>
              <a:t>https://www.philips-hue.com/en-gb/products/smart-light-starter-kits</a:t>
            </a:r>
          </a:p>
          <a:p xmlns:a="http://schemas.openxmlformats.org/drawingml/2006/main">
            <a:r>
              <a:t>https://www.mynewsdesk.com/flic/pressreleases/flic-duo-pre-orders-are-open-now-exclusive-offers-and-limited-bundles-available-today-3365357</a:t>
            </a:r>
          </a:p>
          <a:p xmlns:a="http://schemas.openxmlformats.org/drawingml/2006/main">
            <a:r>
              <a:t>Spellcast source: src/targeting/* and src/control/*. Assessment compares interaction approaches, not measured task speed. Existing shortcuts and automations can already combine actions.</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first audience is students with compatible desk setups. For scale, we use a broad UK smart-speaker household proxy, not a count of compatible Spellcast buyers. Twenty-nine million UK households times 40% gives 11.6 million. Our serviceable scenario assumes just 1% also meets the Mac, webcam, lighting and willingness criteria. Our first-year target is 1,000 paying rooms. We must measure that 1% assumption and demand before relying on this market case.</a:t>
            </a:r>
          </a:p>
          <a:p xmlns:a="http://schemas.openxmlformats.org/drawingml/2006/main">
            <a:r>
              <a:t/>
            </a:r>
          </a:p>
          <a:p xmlns:a="http://schemas.openxmlformats.org/drawingml/2006/main">
            <a:r>
              <a:t>Sources and qualifications</a:t>
            </a:r>
          </a:p>
          <a:p xmlns:a="http://schemas.openxmlformats.org/drawingml/2006/main">
            <a:r>
              <a:t>https://www.ons.gov.uk/peoplepopulationandcommunity/birthsdeathsandmarriages/families/bulletins/familiesandhouseholds/2025 (2025 household estimate, released 17 April 2026)</a:t>
            </a:r>
          </a:p>
          <a:p xmlns:a="http://schemas.openxmlformats.org/drawingml/2006/main">
            <a:r>
              <a:t>https://www.ofcom.org.uk/siteassets/resources/documents/research-and-data/multi-sector/media-nations/2025/media-nations-2025-uk-report.pdf (Q1 2025 ownership share)</a:t>
            </a:r>
          </a:p>
          <a:p xmlns:a="http://schemas.openxmlformats.org/drawingml/2006/main">
            <a:r>
              <a:t>Calculation: 29,000,000 × 0.40 = 11,600,000. SAM scenario: 11,600,000 × 0.01 = 116,000. SOM target: 1,000 / 116,000 = 0.86%. Price proposal: GBP 29 per year.</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We start in Durham with students who already own compatible hardware. Recruit 20 supervised testers through computing and gaming societies. Then share a real demonstration and a compatibility guide with maker communities and desk-setup creators. The planning funnel is 400 qualified visits and 25% activation to reach 100 installed setups. These are targets, not existing users.</a:t>
            </a:r>
          </a:p>
          <a:p xmlns:a="http://schemas.openxmlformats.org/drawingml/2006/main">
            <a:r>
              <a:t/>
            </a:r>
          </a:p>
          <a:p xmlns:a="http://schemas.openxmlformats.org/drawingml/2006/main">
            <a:r>
              <a:t>Sources and qualifications</a:t>
            </a:r>
          </a:p>
          <a:p xmlns:a="http://schemas.openxmlformats.org/drawingml/2006/main">
            <a:r>
              <a:t>Acquisition proposal. No university, society, creator partnership or installed-user count has been verified. Activation means a user completes a gesture command on a real paired device.</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The beta is free. Our paid-launch proposal is 29 pounds per year for one supported room. Enthusiasts would pay for a maintained control layer and compatibility updates. Existing hardware is separate. At 1,000 customers this is 29,000 pounds in annual gross revenue before fees, tax and support. We will test payment after users have tried it. Willingness to pay and renewal are unproven.</a:t>
            </a:r>
          </a:p>
          <a:p xmlns:a="http://schemas.openxmlformats.org/drawingml/2006/main">
            <a:r>
              <a:t/>
            </a:r>
          </a:p>
          <a:p xmlns:a="http://schemas.openxmlformats.org/drawingml/2006/main">
            <a:r>
              <a:t>Sources and qualifications</a:t>
            </a:r>
          </a:p>
          <a:p xmlns:a="http://schemas.openxmlformats.org/drawingml/2006/main">
            <a:r>
              <a:t>Commercial proposal, not an existing subscription. No revenue or customer commitments have been verified. Hardware, Spotify service and integration support costs remain separate.</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seconds</a:t>
            </a:r>
          </a:p>
          <a:p xmlns:a="http://schemas.openxmlformats.org/drawingml/2006/main">
            <a:r>
              <a:t>We have built the interaction. The next step is proving it belongs in everyday life. We are looking for 20 students with compatible desk setups to try Spellcast in their own rooms. Your space, within reach.</a:t>
            </a:r>
          </a:p>
          <a:p xmlns:a="http://schemas.openxmlformats.org/drawingml/2006/main">
            <a:r>
              <a:t/>
            </a:r>
          </a:p>
          <a:p xmlns:a="http://schemas.openxmlformats.org/drawingml/2006/main">
            <a:r>
              <a:t>Sources and qualifications</a:t>
            </a:r>
          </a:p>
          <a:p xmlns:a="http://schemas.openxmlformats.org/drawingml/2006/main">
            <a:r>
              <a:t>Pilot recruitment is the proposed next step. This does not claim 20 users already exist. Visual: AI-generated concept illustration.</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a:t>
            </a:r>
          </a:p>
          <a:p xmlns:a="http://schemas.openxmlformats.org/drawingml/2006/main">
            <a:r>
              <a:t>The code is the current source of truth. PRODUCT.md and the earlier README progress list predate many implemented features. We inspected source for the claims in this deck. The deck does not claim a measured end-to-end latency, recognition accuracy or independent physical-device verification from this research session.</a:t>
            </a:r>
          </a:p>
          <a:p xmlns:a="http://schemas.openxmlformats.org/drawingml/2006/main">
            <a:r>
              <a:t/>
            </a:r>
          </a:p>
          <a:p xmlns:a="http://schemas.openxmlformats.org/drawingml/2006/main">
            <a:r>
              <a:t>Sources and qualifications</a:t>
            </a:r>
          </a:p>
          <a:p xmlns:a="http://schemas.openxmlformats.org/drawingml/2006/main">
            <a:r>
              <a:t>src/App.tsx; src/tracking/handTracker.ts; src/targeting/useLampTargeting.ts; electron/main.ts; electron/spotify.ts; electron/scenes.ts; README.md. Checkout observed at commit 23970ca on 17 October 2026.</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a:t>
            </a:r>
          </a:p>
          <a:p xmlns:a="http://schemas.openxmlformats.org/drawingml/2006/main">
            <a:r>
              <a:t>TAM proxy combines two UK datasets for 2025 with slightly different measurement periods. It does not measure ownership of a supported lamp, a Mac, or demand for a webcam interface. The 1% combined-fit rate is a placeholder to replace with actual research. At 0.5% fit the serviceable scenario is 58,000 rooms. At 2% it is 232,000. Market-size revenues are hypothetical annual gross spend at the proposed price, not forecast sales.</a:t>
            </a:r>
          </a:p>
          <a:p xmlns:a="http://schemas.openxmlformats.org/drawingml/2006/main">
            <a:r>
              <a:t/>
            </a:r>
          </a:p>
          <a:p xmlns:a="http://schemas.openxmlformats.org/drawingml/2006/main">
            <a:r>
              <a:t>Sources and qualifications</a:t>
            </a:r>
          </a:p>
          <a:p xmlns:a="http://schemas.openxmlformats.org/drawingml/2006/main">
            <a:r>
              <a:t>https://www.ons.gov.uk/peoplepopulationandcommunity/birthsdeathsandmarriages/families/bulletins/familiesandhouseholds/2025</a:t>
            </a:r>
          </a:p>
          <a:p xmlns:a="http://schemas.openxmlformats.org/drawingml/2006/main">
            <a:r>
              <a:t>https://www.ofcom.org.uk/siteassets/resources/documents/research-and-data/multi-sector/media-nations/2025/media-nations-2025-uk-report.pdf</a:t>
            </a:r>
          </a:p>
          <a:p xmlns:a="http://schemas.openxmlformats.org/drawingml/2006/main">
            <a:r>
              <a:t>Arithmetic: TAM proxy 11.6m × GBP 29 = GBP 336.4m; SAM scenario 116k × GBP 29 = GBP 3.364m; SOM target 1k × GBP 29 = GBP 29k.</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a:t>
            </a:r>
          </a:p>
          <a:p xmlns:a="http://schemas.openxmlformats.org/drawingml/2006/main">
            <a:r>
              <a:t>Run a pilot with 20 students who have the supported setup. Compare the same lamp and music tasks using Spellcast and their existing controls, counterbalancing the order. Count completed actions and unintended activations. Test daylight and dim rooms. Follow up after one week and offer a real paid reservation only after a trial. These thresholds are proposed decision rules, not results.</a:t>
            </a:r>
          </a:p>
          <a:p xmlns:a="http://schemas.openxmlformats.org/drawingml/2006/main">
            <a:r>
              <a:t/>
            </a:r>
          </a:p>
          <a:p xmlns:a="http://schemas.openxmlformats.org/drawingml/2006/main">
            <a:r>
              <a:t>Sources and qualifications</a:t>
            </a:r>
          </a:p>
          <a:p xmlns:a="http://schemas.openxmlformats.org/drawingml/2006/main">
            <a:r>
              <a:t>Research design proposal. No customer interviews, usability study, retention test or willingness-to-pay evidence was supplied or conducted for this deck.</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Primary sources support the problem context and competitor capabilities. Every commercial figure and acquisition funnel is an explicit proposal. Research date: 17 October 2026.</a:t>
            </a:r>
          </a:p>
          <a:p xmlns:a="http://schemas.openxmlformats.org/drawingml/2006/main">
            <a:r>
              <a:t/>
            </a:r>
          </a:p>
          <a:p xmlns:a="http://schemas.openxmlformats.org/drawingml/2006/main">
            <a:r>
              <a:t>Sources and qualifications</a:t>
            </a:r>
          </a:p>
          <a:p xmlns:a="http://schemas.openxmlformats.org/drawingml/2006/main">
            <a:r>
              <a:t>https://www.ofcom.org.uk/siteassets/resources/documents/research-and-data/multi-sector/media-nations/2025/media-nations-2025-uk-report.pdf</a:t>
            </a:r>
          </a:p>
          <a:p xmlns:a="http://schemas.openxmlformats.org/drawingml/2006/main">
            <a:r>
              <a:t>https://www.ofcom.org.uk/tv-radio-and-on-demand/digital-radio/top-trends-uk-listening-habits-2025</a:t>
            </a:r>
          </a:p>
          <a:p xmlns:a="http://schemas.openxmlformats.org/drawingml/2006/main">
            <a:r>
              <a:t>https://www.ons.gov.uk/peoplepopulationandcommunity/birthsdeathsandmarriages/families/bulletins/familiesandhouseholds/2025</a:t>
            </a:r>
          </a:p>
          <a:p xmlns:a="http://schemas.openxmlformats.org/drawingml/2006/main">
            <a:r>
              <a:t>https://www.philips-hue.com/en-gb/products/smart-light-starter-kits</a:t>
            </a:r>
          </a:p>
          <a:p xmlns:a="http://schemas.openxmlformats.org/drawingml/2006/main">
            <a:r>
              <a:t>https://www.mynewsdesk.com/flic/pressreleases/flic-duo-pre-orders-are-open-now-exclusive-offers-and-limited-bundles-available-today-3365357</a:t>
            </a:r>
          </a:p>
          <a:p xmlns:a="http://schemas.openxmlformats.org/drawingml/2006/main">
            <a:r>
              <a:t>https://ai.google.dev/edge/mediapipe/solutions/vision/hand_landmarker</a:t>
            </a:r>
          </a:p>
          <a:p xmlns:a="http://schemas.openxmlformats.org/drawingml/2006/main">
            <a:r>
              <a:t>https://docs.ultraleap.com/TouchFree/touchfree-user-manual/index.html</a:t>
            </a:r>
          </a:p>
          <a:p xmlns:a="http://schemas.openxmlformats.org/drawingml/2006/main">
            <a:r>
              <a:t>Research checked 17 October 2026. Commercial figures are proposals,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c9607d24ad4c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a458984b8042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0cf2a60c4e44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017a14f44242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3398aef56f43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053d535ec448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C5DC6-752C-44C5-B0E0-2815BAB298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475364-5B38-4365-85B7-388FA75FD8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3D15FC-7741-4D50-AA33-07E76E0096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EA7EFD-2119-4A07-99BD-D36A861FD6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E66B7E-4072-407C-8F29-331885AAAF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524F7C-FD4C-44EA-8657-A00E58284B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BA475F-8776-4148-86EC-E502C2E94C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800D23-A091-49F8-8D45-50119AC264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CE908B-C9FE-409C-AD0F-3B65D7DC78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DA6559-F2FA-4900-B6A4-292E59A37E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4721a7ff3c447c" /><Relationship Type="http://schemas.openxmlformats.org/officeDocument/2006/relationships/slideLayout" Target="/ppt/slideLayouts/slideLayout1.xml" Id="R54fd25a2b36446a0" /><Relationship Type="http://schemas.openxmlformats.org/officeDocument/2006/relationships/slideLayout" Target="/ppt/slideLayouts/slideLayout2.xml" Id="R3aea4d43b74c4525" /><Relationship Type="http://schemas.openxmlformats.org/officeDocument/2006/relationships/slideLayout" Target="/ppt/slideLayouts/slideLayout3.xml" Id="R9eaee1915fed4f1e" /><Relationship Type="http://schemas.openxmlformats.org/officeDocument/2006/relationships/slideLayout" Target="/ppt/slideLayouts/slideLayout4.xml" Id="R3190804989414116" /><Relationship Type="http://schemas.openxmlformats.org/officeDocument/2006/relationships/slideLayout" Target="/ppt/slideLayouts/slideLayout5.xml" Id="R6cafc103323949c0" /><Relationship Type="http://schemas.openxmlformats.org/officeDocument/2006/relationships/slideLayout" Target="/ppt/slideLayouts/slideLayout6.xml" Id="R7cf7a816ee0945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fd25a2b36446a0"/>
    <p:sldLayoutId xmlns:r="http://schemas.openxmlformats.org/officeDocument/2006/relationships" id="2147483650" r:id="R3aea4d43b74c4525"/>
    <p:sldLayoutId xmlns:r="http://schemas.openxmlformats.org/officeDocument/2006/relationships" id="2147483651" r:id="R9eaee1915fed4f1e"/>
    <p:sldLayoutId xmlns:r="http://schemas.openxmlformats.org/officeDocument/2006/relationships" id="2147483652" r:id="R3190804989414116"/>
    <p:sldLayoutId xmlns:r="http://schemas.openxmlformats.org/officeDocument/2006/relationships" id="2147483653" r:id="R6cafc103323949c0"/>
    <p:sldLayoutId xmlns:r="http://schemas.openxmlformats.org/officeDocument/2006/relationships" id="2147483654" r:id="R7cf7a816ee0945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140de5f7d74b26" /><Relationship Type="http://schemas.openxmlformats.org/officeDocument/2006/relationships/image" Target="/ppt/media/image.png" Id="R15b89d0c220f43af" /><Relationship Type="http://schemas.openxmlformats.org/officeDocument/2006/relationships/notesSlide" Target="/ppt/notesSlides/notesSlide1.xml" Id="R7de6500f5e6d4c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8b89f15b024419" /><Relationship Type="http://schemas.openxmlformats.org/officeDocument/2006/relationships/notesSlide" Target="/ppt/notesSlides/notesSlide2.xml" Id="Ra43ba5165bc24c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f9e6754294e82" /><Relationship Type="http://schemas.openxmlformats.org/officeDocument/2006/relationships/notesSlide" Target="/ppt/notesSlides/notesSlide3.xml" Id="Rb7824126e4e040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ce675a018d4212" /><Relationship Type="http://schemas.openxmlformats.org/officeDocument/2006/relationships/notesSlide" Target="/ppt/notesSlides/notesSlide4.xml" Id="Rf5e899e054a44d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7c52c8c90b4c2b" /><Relationship Type="http://schemas.openxmlformats.org/officeDocument/2006/relationships/notesSlide" Target="/ppt/notesSlides/notesSlide5.xml" Id="Re0322328680b4a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846b5527f34d21" /><Relationship Type="http://schemas.openxmlformats.org/officeDocument/2006/relationships/notesSlide" Target="/ppt/notesSlides/notesSlide6.xml" Id="R7875cee2ad414d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fcbae5201042d2" /><Relationship Type="http://schemas.openxmlformats.org/officeDocument/2006/relationships/notesSlide" Target="/ppt/notesSlides/notesSlide7.xml" Id="R431ada31dd6a48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20e3f2f06f4405" /><Relationship Type="http://schemas.openxmlformats.org/officeDocument/2006/relationships/notesSlide" Target="/ppt/notesSlides/notesSlide8.xml" Id="Ra3787ee5eba24a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f785dc35054103" /><Relationship Type="http://schemas.openxmlformats.org/officeDocument/2006/relationships/image" Target="/ppt/media/image2.png" Id="R10ab907cda2246ba" /><Relationship Type="http://schemas.openxmlformats.org/officeDocument/2006/relationships/notesSlide" Target="/ppt/notesSlides/notesSlide9.xml" Id="Rc86d17c82a0a48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6505e464ca4175" /><Relationship Type="http://schemas.openxmlformats.org/officeDocument/2006/relationships/notesSlide" Target="/ppt/notesSlides/notesSlide10.xml" Id="Rf769e95719b443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a8ffe747164143" /><Relationship Type="http://schemas.openxmlformats.org/officeDocument/2006/relationships/notesSlide" Target="/ppt/notesSlides/notesSlide11.xml" Id="Reedc732e4ba644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3875beeb4146e2" /><Relationship Type="http://schemas.openxmlformats.org/officeDocument/2006/relationships/notesSlide" Target="/ppt/notesSlides/notesSlide12.xml" Id="Rb00b741bb18942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16e90205774176" /><Relationship Type="http://schemas.openxmlformats.org/officeDocument/2006/relationships/hyperlink" Target="https://www.ofcom.org.uk/siteassets/resources/documents/research-and-data/multi-sector/media-nations/2025/media-nations-2025-uk-report.pdf" TargetMode="External" Id="R2c483ad6ef404b87" /><Relationship Type="http://schemas.openxmlformats.org/officeDocument/2006/relationships/hyperlink" Target="https://www.ofcom.org.uk/tv-radio-and-on-demand/digital-radio/top-trends-uk-listening-habits-2025" TargetMode="External" Id="Rbc9dfb8edf6843ce" /><Relationship Type="http://schemas.openxmlformats.org/officeDocument/2006/relationships/hyperlink" Target="https://www.ons.gov.uk/peoplepopulationandcommunity/birthsdeathsandmarriages/families/bulletins/familiesandhouseholds/2025" TargetMode="External" Id="R54a277cff11a491f" /><Relationship Type="http://schemas.openxmlformats.org/officeDocument/2006/relationships/hyperlink" Target="https://www.mynewsdesk.com/flic/pressreleases/flic-duo-pre-orders-are-open-now-exclusive-offers-and-limited-bundles-available-today-3365357" TargetMode="External" Id="R6a4fd3662e43468b" /><Relationship Type="http://schemas.openxmlformats.org/officeDocument/2006/relationships/notesSlide" Target="/ppt/notesSlides/notesSlide13.xml" Id="R10d370b6fe1e469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D4557A4-8440-436D-A93A-F180D487323A}"/>
              </a:ext>
            </a:extLst>
          </p:cNvPr>
          <p:cNvPicPr>
            <a:picLocks xmlns:a="http://schemas.openxmlformats.org/drawingml/2006/main" noChangeAspect="1"/>
          </p:cNvPicPr>
          <p:nvPr/>
        </p:nvPicPr>
        <p:blipFill>
          <a:blip xmlns:r="http://schemas.openxmlformats.org/officeDocument/2006/relationships" xmlns:a="http://schemas.openxmlformats.org/drawingml/2006/main" r:embed="R15b89d0c220f43af"/>
          <a:srcRect xmlns:a="http://schemas.openxmlformats.org/drawingml/2006/main" l="0" t="752" r="0" b="75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pellcast">
            <a:extLst xmlns:a="http://schemas.openxmlformats.org/drawingml/2006/main">
              <a:ext uri="{FF2B5EF4-FFF2-40B4-BE49-F238E27FC236}">
                <a16:creationId xmlns:a16="http://schemas.microsoft.com/office/drawing/2014/main" id="{C9F83502-7819-438E-9D0D-42D755EEC0A0}"/>
              </a:ext>
            </a:extLst>
          </p:cNvPr>
          <p:cNvSpPr>
            <a:spLocks xmlns:a="http://schemas.openxmlformats.org/drawingml/2006/main" noGrp="1"/>
          </p:cNvSpPr>
          <p:nvPr/>
        </p:nvSpPr>
        <p:spPr>
          <a:xfrm xmlns:a="http://schemas.openxmlformats.org/drawingml/2006/main">
            <a:off x="609600" y="657225"/>
            <a:ext cx="704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F3F5F6"/>
                </a:solidFill>
                <a:latin typeface="Helvetica Neue"/>
                <a:ea typeface="Helvetica Neue"/>
                <a:cs typeface="Helvetica Neue"/>
              </a:defRPr>
            </a:defPPr>
            <a:lvl1pPr>
              <a:defRPr sz="6750" b="1">
                <a:solidFill>
                  <a:srgbClr val="F3F5F6"/>
                </a:solidFill>
                <a:latin typeface="Helvetica Neue"/>
                <a:ea typeface="Helvetica Neue"/>
                <a:cs typeface="Helvetica Neue"/>
              </a:defRPr>
            </a:lvl1pPr>
            <a:lvl2pPr>
              <a:defRPr sz="6750" b="1">
                <a:solidFill>
                  <a:srgbClr val="F3F5F6"/>
                </a:solidFill>
                <a:latin typeface="Helvetica Neue"/>
                <a:ea typeface="Helvetica Neue"/>
                <a:cs typeface="Helvetica Neue"/>
              </a:defRPr>
            </a:lvl2pPr>
            <a:lvl3pPr>
              <a:defRPr sz="6750" b="1">
                <a:solidFill>
                  <a:srgbClr val="F3F5F6"/>
                </a:solidFill>
                <a:latin typeface="Helvetica Neue"/>
                <a:ea typeface="Helvetica Neue"/>
                <a:cs typeface="Helvetica Neue"/>
              </a:defRPr>
            </a:lvl3pPr>
            <a:lvl4pPr>
              <a:defRPr sz="6750" b="1">
                <a:solidFill>
                  <a:srgbClr val="F3F5F6"/>
                </a:solidFill>
                <a:latin typeface="Helvetica Neue"/>
                <a:ea typeface="Helvetica Neue"/>
                <a:cs typeface="Helvetica Neue"/>
              </a:defRPr>
            </a:lvl4pPr>
            <a:lvl5pPr>
              <a:defRPr sz="6750" b="1">
                <a:solidFill>
                  <a:srgbClr val="F3F5F6"/>
                </a:solidFill>
                <a:latin typeface="Helvetica Neue"/>
                <a:ea typeface="Helvetica Neue"/>
                <a:cs typeface="Helvetica Neue"/>
              </a:defRPr>
            </a:lvl5pPr>
            <a:lvl6pPr>
              <a:defRPr sz="6750" b="1">
                <a:solidFill>
                  <a:srgbClr val="F3F5F6"/>
                </a:solidFill>
                <a:latin typeface="Helvetica Neue"/>
                <a:ea typeface="Helvetica Neue"/>
                <a:cs typeface="Helvetica Neue"/>
              </a:defRPr>
            </a:lvl6pPr>
            <a:lvl7pPr>
              <a:defRPr sz="6750" b="1">
                <a:solidFill>
                  <a:srgbClr val="F3F5F6"/>
                </a:solidFill>
                <a:latin typeface="Helvetica Neue"/>
                <a:ea typeface="Helvetica Neue"/>
                <a:cs typeface="Helvetica Neue"/>
              </a:defRPr>
            </a:lvl7pPr>
            <a:lvl8pPr>
              <a:defRPr sz="6750" b="1">
                <a:solidFill>
                  <a:srgbClr val="F3F5F6"/>
                </a:solidFill>
                <a:latin typeface="Helvetica Neue"/>
                <a:ea typeface="Helvetica Neue"/>
                <a:cs typeface="Helvetica Neue"/>
              </a:defRPr>
            </a:lvl8pPr>
            <a:lvl9pPr>
              <a:defRPr sz="6750" b="1">
                <a:solidFill>
                  <a:srgbClr val="F3F5F6"/>
                </a:solidFill>
                <a:latin typeface="Helvetica Neue"/>
                <a:ea typeface="Helvetica Neue"/>
                <a:cs typeface="Helvetica Neue"/>
              </a:defRPr>
            </a:lvl9pPr>
          </a:lstStyle>
          <a:p xmlns:a="http://schemas.openxmlformats.org/drawingml/2006/main">
            <a:pPr>
              <a:defRPr sz="6750" b="1">
                <a:solidFill>
                  <a:srgbClr val="F3F5F6"/>
                </a:solidFill>
                <a:latin typeface="Helvetica Neue"/>
                <a:ea typeface="Helvetica Neue"/>
                <a:cs typeface="Helvetica Neue"/>
              </a:defRPr>
            </a:pPr>
            <a:r>
              <a:rPr sz="6750" b="1">
                <a:solidFill>
                  <a:srgbClr val="F3F5F6"/>
                </a:solidFill>
                <a:latin typeface="Helvetica Neue"/>
                <a:ea typeface="Helvetica Neue"/>
                <a:cs typeface="Helvetica Neue"/>
              </a:rPr>
              <a:t>Spellcast</a:t>
            </a:r>
          </a:p>
        </p:txBody>
      </p:sp>
      <p:sp>
        <p:nvSpPr>
          <p:cNvPr id="3" name="Your room,&#10;within reach.">
            <a:extLst xmlns:a="http://schemas.openxmlformats.org/drawingml/2006/main">
              <a:ext uri="{FF2B5EF4-FFF2-40B4-BE49-F238E27FC236}">
                <a16:creationId xmlns:a16="http://schemas.microsoft.com/office/drawing/2014/main" id="{04933E98-E7E4-4635-B6EF-721F499AF1E3}"/>
              </a:ext>
            </a:extLst>
          </p:cNvPr>
          <p:cNvSpPr>
            <a:spLocks xmlns:a="http://schemas.openxmlformats.org/drawingml/2006/main" noGrp="1"/>
          </p:cNvSpPr>
          <p:nvPr/>
        </p:nvSpPr>
        <p:spPr>
          <a:xfrm xmlns:a="http://schemas.openxmlformats.org/drawingml/2006/main">
            <a:off x="647700" y="2133600"/>
            <a:ext cx="5953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F3F5F6"/>
                </a:solidFill>
                <a:latin typeface="Helvetica Neue"/>
                <a:ea typeface="Helvetica Neue"/>
                <a:cs typeface="Helvetica Neue"/>
              </a:defRPr>
            </a:defPPr>
            <a:lvl1pPr>
              <a:defRPr sz="4500" b="1">
                <a:solidFill>
                  <a:srgbClr val="F3F5F6"/>
                </a:solidFill>
                <a:latin typeface="Helvetica Neue"/>
                <a:ea typeface="Helvetica Neue"/>
                <a:cs typeface="Helvetica Neue"/>
              </a:defRPr>
            </a:lvl1pPr>
            <a:lvl2pPr>
              <a:defRPr sz="4500" b="1">
                <a:solidFill>
                  <a:srgbClr val="F3F5F6"/>
                </a:solidFill>
                <a:latin typeface="Helvetica Neue"/>
                <a:ea typeface="Helvetica Neue"/>
                <a:cs typeface="Helvetica Neue"/>
              </a:defRPr>
            </a:lvl2pPr>
            <a:lvl3pPr>
              <a:defRPr sz="4500" b="1">
                <a:solidFill>
                  <a:srgbClr val="F3F5F6"/>
                </a:solidFill>
                <a:latin typeface="Helvetica Neue"/>
                <a:ea typeface="Helvetica Neue"/>
                <a:cs typeface="Helvetica Neue"/>
              </a:defRPr>
            </a:lvl3pPr>
            <a:lvl4pPr>
              <a:defRPr sz="4500" b="1">
                <a:solidFill>
                  <a:srgbClr val="F3F5F6"/>
                </a:solidFill>
                <a:latin typeface="Helvetica Neue"/>
                <a:ea typeface="Helvetica Neue"/>
                <a:cs typeface="Helvetica Neue"/>
              </a:defRPr>
            </a:lvl4pPr>
            <a:lvl5pPr>
              <a:defRPr sz="4500" b="1">
                <a:solidFill>
                  <a:srgbClr val="F3F5F6"/>
                </a:solidFill>
                <a:latin typeface="Helvetica Neue"/>
                <a:ea typeface="Helvetica Neue"/>
                <a:cs typeface="Helvetica Neue"/>
              </a:defRPr>
            </a:lvl5pPr>
            <a:lvl6pPr>
              <a:defRPr sz="4500" b="1">
                <a:solidFill>
                  <a:srgbClr val="F3F5F6"/>
                </a:solidFill>
                <a:latin typeface="Helvetica Neue"/>
                <a:ea typeface="Helvetica Neue"/>
                <a:cs typeface="Helvetica Neue"/>
              </a:defRPr>
            </a:lvl6pPr>
            <a:lvl7pPr>
              <a:defRPr sz="4500" b="1">
                <a:solidFill>
                  <a:srgbClr val="F3F5F6"/>
                </a:solidFill>
                <a:latin typeface="Helvetica Neue"/>
                <a:ea typeface="Helvetica Neue"/>
                <a:cs typeface="Helvetica Neue"/>
              </a:defRPr>
            </a:lvl7pPr>
            <a:lvl8pPr>
              <a:defRPr sz="4500" b="1">
                <a:solidFill>
                  <a:srgbClr val="F3F5F6"/>
                </a:solidFill>
                <a:latin typeface="Helvetica Neue"/>
                <a:ea typeface="Helvetica Neue"/>
                <a:cs typeface="Helvetica Neue"/>
              </a:defRPr>
            </a:lvl8pPr>
            <a:lvl9pPr>
              <a:defRPr sz="4500" b="1">
                <a:solidFill>
                  <a:srgbClr val="F3F5F6"/>
                </a:solidFill>
                <a:latin typeface="Helvetica Neue"/>
                <a:ea typeface="Helvetica Neue"/>
                <a:cs typeface="Helvetica Neue"/>
              </a:defRPr>
            </a:lvl9pPr>
          </a:lstStyle>
          <a:p xmlns:a="http://schemas.openxmlformats.org/drawingml/2006/main">
            <a:pPr>
              <a:defRPr sz="4500" b="1">
                <a:solidFill>
                  <a:srgbClr val="F3F5F6"/>
                </a:solidFill>
                <a:latin typeface="Helvetica Neue"/>
                <a:ea typeface="Helvetica Neue"/>
                <a:cs typeface="Helvetica Neue"/>
              </a:defRPr>
            </a:pPr>
            <a:r>
              <a:rPr sz="4500" b="1">
                <a:solidFill>
                  <a:srgbClr val="F3F5F6"/>
                </a:solidFill>
                <a:latin typeface="Helvetica Neue"/>
                <a:ea typeface="Helvetica Neue"/>
                <a:cs typeface="Helvetica Neue"/>
              </a:rPr>
              <a:t>Your room,</a:t>
            </a:r>
          </a:p>
          <a:p xmlns:a="http://schemas.openxmlformats.org/drawingml/2006/main">
            <a:pPr>
              <a:defRPr sz="4500" b="1">
                <a:solidFill>
                  <a:srgbClr val="F3F5F6"/>
                </a:solidFill>
                <a:latin typeface="Helvetica Neue"/>
                <a:ea typeface="Helvetica Neue"/>
                <a:cs typeface="Helvetica Neue"/>
              </a:defRPr>
            </a:pPr>
            <a:r>
              <a:rPr sz="4500" b="1">
                <a:solidFill>
                  <a:srgbClr val="F3F5F6"/>
                </a:solidFill>
                <a:latin typeface="Helvetica Neue"/>
                <a:ea typeface="Helvetica Neue"/>
                <a:cs typeface="Helvetica Neue"/>
              </a:rPr>
              <a:t>within reach.</a:t>
            </a:r>
          </a:p>
        </p:txBody>
      </p:sp>
      <p:sp>
        <p:nvSpPr>
          <p:cNvPr id="4" name="Gesture control for lights and music">
            <a:extLst xmlns:a="http://schemas.openxmlformats.org/drawingml/2006/main">
              <a:ext uri="{FF2B5EF4-FFF2-40B4-BE49-F238E27FC236}">
                <a16:creationId xmlns:a16="http://schemas.microsoft.com/office/drawing/2014/main" id="{957B15AA-9D6C-419C-9786-B92BA60485B4}"/>
              </a:ext>
            </a:extLst>
          </p:cNvPr>
          <p:cNvSpPr>
            <a:spLocks xmlns:a="http://schemas.openxmlformats.org/drawingml/2006/main" noGrp="1"/>
          </p:cNvSpPr>
          <p:nvPr/>
        </p:nvSpPr>
        <p:spPr>
          <a:xfrm xmlns:a="http://schemas.openxmlformats.org/drawingml/2006/main">
            <a:off x="657225" y="418147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CB7C7"/>
                </a:solidFill>
                <a:latin typeface="Helvetica Neue"/>
                <a:ea typeface="Helvetica Neue"/>
                <a:cs typeface="Helvetica Neue"/>
              </a:defRPr>
            </a:defPPr>
            <a:lvl1pPr>
              <a:defRPr sz="2175" b="0">
                <a:solidFill>
                  <a:srgbClr val="ACB7C7"/>
                </a:solidFill>
                <a:latin typeface="Helvetica Neue"/>
                <a:ea typeface="Helvetica Neue"/>
                <a:cs typeface="Helvetica Neue"/>
              </a:defRPr>
            </a:lvl1pPr>
            <a:lvl2pPr>
              <a:defRPr sz="2175" b="0">
                <a:solidFill>
                  <a:srgbClr val="ACB7C7"/>
                </a:solidFill>
                <a:latin typeface="Helvetica Neue"/>
                <a:ea typeface="Helvetica Neue"/>
                <a:cs typeface="Helvetica Neue"/>
              </a:defRPr>
            </a:lvl2pPr>
            <a:lvl3pPr>
              <a:defRPr sz="2175" b="0">
                <a:solidFill>
                  <a:srgbClr val="ACB7C7"/>
                </a:solidFill>
                <a:latin typeface="Helvetica Neue"/>
                <a:ea typeface="Helvetica Neue"/>
                <a:cs typeface="Helvetica Neue"/>
              </a:defRPr>
            </a:lvl3pPr>
            <a:lvl4pPr>
              <a:defRPr sz="2175" b="0">
                <a:solidFill>
                  <a:srgbClr val="ACB7C7"/>
                </a:solidFill>
                <a:latin typeface="Helvetica Neue"/>
                <a:ea typeface="Helvetica Neue"/>
                <a:cs typeface="Helvetica Neue"/>
              </a:defRPr>
            </a:lvl4pPr>
            <a:lvl5pPr>
              <a:defRPr sz="2175" b="0">
                <a:solidFill>
                  <a:srgbClr val="ACB7C7"/>
                </a:solidFill>
                <a:latin typeface="Helvetica Neue"/>
                <a:ea typeface="Helvetica Neue"/>
                <a:cs typeface="Helvetica Neue"/>
              </a:defRPr>
            </a:lvl5pPr>
            <a:lvl6pPr>
              <a:defRPr sz="2175" b="0">
                <a:solidFill>
                  <a:srgbClr val="ACB7C7"/>
                </a:solidFill>
                <a:latin typeface="Helvetica Neue"/>
                <a:ea typeface="Helvetica Neue"/>
                <a:cs typeface="Helvetica Neue"/>
              </a:defRPr>
            </a:lvl6pPr>
            <a:lvl7pPr>
              <a:defRPr sz="2175" b="0">
                <a:solidFill>
                  <a:srgbClr val="ACB7C7"/>
                </a:solidFill>
                <a:latin typeface="Helvetica Neue"/>
                <a:ea typeface="Helvetica Neue"/>
                <a:cs typeface="Helvetica Neue"/>
              </a:defRPr>
            </a:lvl7pPr>
            <a:lvl8pPr>
              <a:defRPr sz="2175" b="0">
                <a:solidFill>
                  <a:srgbClr val="ACB7C7"/>
                </a:solidFill>
                <a:latin typeface="Helvetica Neue"/>
                <a:ea typeface="Helvetica Neue"/>
                <a:cs typeface="Helvetica Neue"/>
              </a:defRPr>
            </a:lvl8pPr>
            <a:lvl9pPr>
              <a:defRPr sz="2175" b="0">
                <a:solidFill>
                  <a:srgbClr val="ACB7C7"/>
                </a:solidFill>
                <a:latin typeface="Helvetica Neue"/>
                <a:ea typeface="Helvetica Neue"/>
                <a:cs typeface="Helvetica Neue"/>
              </a:defRPr>
            </a:lvl9pPr>
          </a:lstStyle>
          <a:p xmlns:a="http://schemas.openxmlformats.org/drawingml/2006/main">
            <a:pPr>
              <a:defRPr sz="2175" b="0">
                <a:solidFill>
                  <a:srgbClr val="ACB7C7"/>
                </a:solidFill>
                <a:latin typeface="Helvetica Neue"/>
                <a:ea typeface="Helvetica Neue"/>
                <a:cs typeface="Helvetica Neue"/>
              </a:defRPr>
            </a:pPr>
            <a:r>
              <a:rPr sz="2175" b="0">
                <a:solidFill>
                  <a:srgbClr val="ACB7C7"/>
                </a:solidFill>
                <a:latin typeface="Helvetica Neue"/>
                <a:ea typeface="Helvetica Neue"/>
                <a:cs typeface="Helvetica Neue"/>
              </a:rPr>
              <a:t>Gesture control for lights and music</a:t>
            </a:r>
          </a:p>
        </p:txBody>
      </p:sp>
      <p:sp>
        <p:nvSpPr>
          <p:cNvPr id="5" name="Build Day / Durham / 17 October 2026">
            <a:extLst xmlns:a="http://schemas.openxmlformats.org/drawingml/2006/main">
              <a:ext uri="{FF2B5EF4-FFF2-40B4-BE49-F238E27FC236}">
                <a16:creationId xmlns:a16="http://schemas.microsoft.com/office/drawing/2014/main" id="{4E190AFB-2712-46A9-8458-5CB235FD130C}"/>
              </a:ext>
            </a:extLst>
          </p:cNvPr>
          <p:cNvSpPr>
            <a:spLocks xmlns:a="http://schemas.openxmlformats.org/drawingml/2006/main" noGrp="1"/>
          </p:cNvSpPr>
          <p:nvPr/>
        </p:nvSpPr>
        <p:spPr>
          <a:xfrm xmlns:a="http://schemas.openxmlformats.org/drawingml/2006/main">
            <a:off x="647700" y="6086475"/>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CB7C7"/>
                </a:solidFill>
                <a:latin typeface="Helvetica Neue"/>
                <a:ea typeface="Helvetica Neue"/>
                <a:cs typeface="Helvetica Neue"/>
              </a:defRPr>
            </a:defPPr>
            <a:lvl1pPr>
              <a:defRPr sz="1275" b="0">
                <a:solidFill>
                  <a:srgbClr val="ACB7C7"/>
                </a:solidFill>
                <a:latin typeface="Helvetica Neue"/>
                <a:ea typeface="Helvetica Neue"/>
                <a:cs typeface="Helvetica Neue"/>
              </a:defRPr>
            </a:lvl1pPr>
            <a:lvl2pPr>
              <a:defRPr sz="1275" b="0">
                <a:solidFill>
                  <a:srgbClr val="ACB7C7"/>
                </a:solidFill>
                <a:latin typeface="Helvetica Neue"/>
                <a:ea typeface="Helvetica Neue"/>
                <a:cs typeface="Helvetica Neue"/>
              </a:defRPr>
            </a:lvl2pPr>
            <a:lvl3pPr>
              <a:defRPr sz="1275" b="0">
                <a:solidFill>
                  <a:srgbClr val="ACB7C7"/>
                </a:solidFill>
                <a:latin typeface="Helvetica Neue"/>
                <a:ea typeface="Helvetica Neue"/>
                <a:cs typeface="Helvetica Neue"/>
              </a:defRPr>
            </a:lvl3pPr>
            <a:lvl4pPr>
              <a:defRPr sz="1275" b="0">
                <a:solidFill>
                  <a:srgbClr val="ACB7C7"/>
                </a:solidFill>
                <a:latin typeface="Helvetica Neue"/>
                <a:ea typeface="Helvetica Neue"/>
                <a:cs typeface="Helvetica Neue"/>
              </a:defRPr>
            </a:lvl4pPr>
            <a:lvl5pPr>
              <a:defRPr sz="1275" b="0">
                <a:solidFill>
                  <a:srgbClr val="ACB7C7"/>
                </a:solidFill>
                <a:latin typeface="Helvetica Neue"/>
                <a:ea typeface="Helvetica Neue"/>
                <a:cs typeface="Helvetica Neue"/>
              </a:defRPr>
            </a:lvl5pPr>
            <a:lvl6pPr>
              <a:defRPr sz="1275" b="0">
                <a:solidFill>
                  <a:srgbClr val="ACB7C7"/>
                </a:solidFill>
                <a:latin typeface="Helvetica Neue"/>
                <a:ea typeface="Helvetica Neue"/>
                <a:cs typeface="Helvetica Neue"/>
              </a:defRPr>
            </a:lvl6pPr>
            <a:lvl7pPr>
              <a:defRPr sz="1275" b="0">
                <a:solidFill>
                  <a:srgbClr val="ACB7C7"/>
                </a:solidFill>
                <a:latin typeface="Helvetica Neue"/>
                <a:ea typeface="Helvetica Neue"/>
                <a:cs typeface="Helvetica Neue"/>
              </a:defRPr>
            </a:lvl7pPr>
            <a:lvl8pPr>
              <a:defRPr sz="1275" b="0">
                <a:solidFill>
                  <a:srgbClr val="ACB7C7"/>
                </a:solidFill>
                <a:latin typeface="Helvetica Neue"/>
                <a:ea typeface="Helvetica Neue"/>
                <a:cs typeface="Helvetica Neue"/>
              </a:defRPr>
            </a:lvl8pPr>
            <a:lvl9pPr>
              <a:defRPr sz="1275" b="0">
                <a:solidFill>
                  <a:srgbClr val="ACB7C7"/>
                </a:solidFill>
                <a:latin typeface="Helvetica Neue"/>
                <a:ea typeface="Helvetica Neue"/>
                <a:cs typeface="Helvetica Neue"/>
              </a:defRPr>
            </a:lvl9pPr>
          </a:lstStyle>
          <a:p xmlns:a="http://schemas.openxmlformats.org/drawingml/2006/main">
            <a:pPr>
              <a:defRPr sz="1275" b="0">
                <a:solidFill>
                  <a:srgbClr val="ACB7C7"/>
                </a:solidFill>
                <a:latin typeface="Helvetica Neue"/>
                <a:ea typeface="Helvetica Neue"/>
                <a:cs typeface="Helvetica Neue"/>
              </a:defRPr>
            </a:pPr>
            <a:r>
              <a:rPr sz="1275" b="0">
                <a:solidFill>
                  <a:srgbClr val="ACB7C7"/>
                </a:solidFill>
                <a:latin typeface="Helvetica Neue"/>
                <a:ea typeface="Helvetica Neue"/>
                <a:cs typeface="Helvetica Neue"/>
              </a:rPr>
              <a:t>Build Day / Durham / 17 October 2026</a:t>
            </a:r>
          </a:p>
        </p:txBody>
      </p:sp>
      <p:sp>
        <p:nvSpPr>
          <p:cNvPr id="6" name="Concept illustration">
            <a:extLst xmlns:a="http://schemas.openxmlformats.org/drawingml/2006/main">
              <a:ext uri="{FF2B5EF4-FFF2-40B4-BE49-F238E27FC236}">
                <a16:creationId xmlns:a16="http://schemas.microsoft.com/office/drawing/2014/main" id="{5C2C7A66-BE28-45EE-BE67-708B66846B6C}"/>
              </a:ext>
            </a:extLst>
          </p:cNvPr>
          <p:cNvSpPr>
            <a:spLocks xmlns:a="http://schemas.openxmlformats.org/drawingml/2006/main" noGrp="1"/>
          </p:cNvSpPr>
          <p:nvPr/>
        </p:nvSpPr>
        <p:spPr>
          <a:xfrm xmlns:a="http://schemas.openxmlformats.org/drawingml/2006/main">
            <a:off x="9715500" y="62388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ACB7C7"/>
                </a:solidFill>
                <a:latin typeface="Helvetica Neue"/>
                <a:ea typeface="Helvetica Neue"/>
                <a:cs typeface="Helvetica Neue"/>
              </a:defRPr>
            </a:defPPr>
            <a:lvl1pPr>
              <a:defRPr sz="975" b="0">
                <a:solidFill>
                  <a:srgbClr val="ACB7C7"/>
                </a:solidFill>
                <a:latin typeface="Helvetica Neue"/>
                <a:ea typeface="Helvetica Neue"/>
                <a:cs typeface="Helvetica Neue"/>
              </a:defRPr>
            </a:lvl1pPr>
            <a:lvl2pPr>
              <a:defRPr sz="975" b="0">
                <a:solidFill>
                  <a:srgbClr val="ACB7C7"/>
                </a:solidFill>
                <a:latin typeface="Helvetica Neue"/>
                <a:ea typeface="Helvetica Neue"/>
                <a:cs typeface="Helvetica Neue"/>
              </a:defRPr>
            </a:lvl2pPr>
            <a:lvl3pPr>
              <a:defRPr sz="975" b="0">
                <a:solidFill>
                  <a:srgbClr val="ACB7C7"/>
                </a:solidFill>
                <a:latin typeface="Helvetica Neue"/>
                <a:ea typeface="Helvetica Neue"/>
                <a:cs typeface="Helvetica Neue"/>
              </a:defRPr>
            </a:lvl3pPr>
            <a:lvl4pPr>
              <a:defRPr sz="975" b="0">
                <a:solidFill>
                  <a:srgbClr val="ACB7C7"/>
                </a:solidFill>
                <a:latin typeface="Helvetica Neue"/>
                <a:ea typeface="Helvetica Neue"/>
                <a:cs typeface="Helvetica Neue"/>
              </a:defRPr>
            </a:lvl4pPr>
            <a:lvl5pPr>
              <a:defRPr sz="975" b="0">
                <a:solidFill>
                  <a:srgbClr val="ACB7C7"/>
                </a:solidFill>
                <a:latin typeface="Helvetica Neue"/>
                <a:ea typeface="Helvetica Neue"/>
                <a:cs typeface="Helvetica Neue"/>
              </a:defRPr>
            </a:lvl5pPr>
            <a:lvl6pPr>
              <a:defRPr sz="975" b="0">
                <a:solidFill>
                  <a:srgbClr val="ACB7C7"/>
                </a:solidFill>
                <a:latin typeface="Helvetica Neue"/>
                <a:ea typeface="Helvetica Neue"/>
                <a:cs typeface="Helvetica Neue"/>
              </a:defRPr>
            </a:lvl6pPr>
            <a:lvl7pPr>
              <a:defRPr sz="975" b="0">
                <a:solidFill>
                  <a:srgbClr val="ACB7C7"/>
                </a:solidFill>
                <a:latin typeface="Helvetica Neue"/>
                <a:ea typeface="Helvetica Neue"/>
                <a:cs typeface="Helvetica Neue"/>
              </a:defRPr>
            </a:lvl7pPr>
            <a:lvl8pPr>
              <a:defRPr sz="975" b="0">
                <a:solidFill>
                  <a:srgbClr val="ACB7C7"/>
                </a:solidFill>
                <a:latin typeface="Helvetica Neue"/>
                <a:ea typeface="Helvetica Neue"/>
                <a:cs typeface="Helvetica Neue"/>
              </a:defRPr>
            </a:lvl8pPr>
            <a:lvl9pPr>
              <a:defRPr sz="975" b="0">
                <a:solidFill>
                  <a:srgbClr val="ACB7C7"/>
                </a:solidFill>
                <a:latin typeface="Helvetica Neue"/>
                <a:ea typeface="Helvetica Neue"/>
                <a:cs typeface="Helvetica Neue"/>
              </a:defRPr>
            </a:lvl9pPr>
          </a:lstStyle>
          <a:p xmlns:a="http://schemas.openxmlformats.org/drawingml/2006/main">
            <a:pPr>
              <a:defRPr sz="975" b="0">
                <a:solidFill>
                  <a:srgbClr val="ACB7C7"/>
                </a:solidFill>
                <a:latin typeface="Helvetica Neue"/>
                <a:ea typeface="Helvetica Neue"/>
                <a:cs typeface="Helvetica Neue"/>
              </a:defRPr>
            </a:pPr>
            <a:r>
              <a:rPr sz="975" b="0">
                <a:solidFill>
                  <a:srgbClr val="ACB7C7"/>
                </a:solidFill>
                <a:latin typeface="Helvetica Neue"/>
                <a:ea typeface="Helvetica Neue"/>
                <a:cs typeface="Helvetica Neue"/>
              </a:rPr>
              <a:t>Concept illustration</a:t>
            </a:r>
          </a:p>
        </p:txBody>
      </p:sp>
    </p:spTree>
    <p:extLst>
      <p:ext uri="{BB962C8B-B14F-4D97-AF65-F5344CB8AC3E}">
        <p14:creationId xmlns:p14="http://schemas.microsoft.com/office/powerpoint/2010/main" val="972936272"/>
      </p:ext>
    </p:extLst>
  </p:cSld>
</p:sld>
</file>

<file path=ppt/slides/slide2.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0" name="SPELLCAST">
            <a:extLst xmlns:a="http://schemas.openxmlformats.org/drawingml/2006/main">
              <a:ext uri="{FF2B5EF4-FFF2-40B4-BE49-F238E27FC236}">
                <a16:creationId xmlns:a16="http://schemas.microsoft.com/office/drawing/2014/main" id="{3AE213A4-22B9-40F2-BB65-CF59B01CDE10}"/>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a:t>
            </a:r>
          </a:p>
        </p:txBody>
      </p:sp>
      <p:sp>
        <p:nvSpPr>
          <p:cNvPr id="2" name="02">
            <a:extLst xmlns:a="http://schemas.openxmlformats.org/drawingml/2006/main">
              <a:ext uri="{FF2B5EF4-FFF2-40B4-BE49-F238E27FC236}">
                <a16:creationId xmlns:a16="http://schemas.microsoft.com/office/drawing/2014/main" id="{5800FBEC-3013-441F-ABD4-B9F8A181A2B9}"/>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02</a:t>
            </a:r>
          </a:p>
        </p:txBody>
      </p:sp>
      <p:sp>
        <p:nvSpPr>
          <p:cNvPr id="3" name="Smart rooms still interrupt us">
            <a:extLst xmlns:a="http://schemas.openxmlformats.org/drawingml/2006/main">
              <a:ext uri="{FF2B5EF4-FFF2-40B4-BE49-F238E27FC236}">
                <a16:creationId xmlns:a16="http://schemas.microsoft.com/office/drawing/2014/main" id="{BD0D41E9-9018-4B8B-A85E-4C7403D26A2B}"/>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Smart rooms still interrupt us</a:t>
            </a:r>
          </a:p>
        </p:txBody>
      </p:sp>
      <p:sp>
        <p:nvSpPr>
          <p:cNvPr id="4" name="Students with smart desk setups interrupt study&#10;to">
            <a:extLst xmlns:a="http://schemas.openxmlformats.org/drawingml/2006/main">
              <a:ext uri="{FF2B5EF4-FFF2-40B4-BE49-F238E27FC236}">
                <a16:creationId xmlns:a16="http://schemas.microsoft.com/office/drawing/2014/main" id="{B7D775BB-3317-4626-A9E0-EEC816E0DD26}"/>
              </a:ext>
            </a:extLst>
          </p:cNvPr>
          <p:cNvSpPr>
            <a:spLocks xmlns:a="http://schemas.openxmlformats.org/drawingml/2006/main" noGrp="1"/>
          </p:cNvSpPr>
          <p:nvPr/>
        </p:nvSpPr>
        <p:spPr>
          <a:xfrm xmlns:a="http://schemas.openxmlformats.org/drawingml/2006/main">
            <a:off x="609600" y="2171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ACB7C7"/>
                </a:solidFill>
                <a:latin typeface="Helvetica Neue"/>
                <a:ea typeface="Helvetica Neue"/>
                <a:cs typeface="Helvetica Neue"/>
              </a:defRPr>
            </a:defPPr>
            <a:lvl1pPr>
              <a:defRPr sz="2250" b="0">
                <a:solidFill>
                  <a:srgbClr val="ACB7C7"/>
                </a:solidFill>
                <a:latin typeface="Helvetica Neue"/>
                <a:ea typeface="Helvetica Neue"/>
                <a:cs typeface="Helvetica Neue"/>
              </a:defRPr>
            </a:lvl1pPr>
            <a:lvl2pPr>
              <a:defRPr sz="2250" b="0">
                <a:solidFill>
                  <a:srgbClr val="ACB7C7"/>
                </a:solidFill>
                <a:latin typeface="Helvetica Neue"/>
                <a:ea typeface="Helvetica Neue"/>
                <a:cs typeface="Helvetica Neue"/>
              </a:defRPr>
            </a:lvl2pPr>
            <a:lvl3pPr>
              <a:defRPr sz="2250" b="0">
                <a:solidFill>
                  <a:srgbClr val="ACB7C7"/>
                </a:solidFill>
                <a:latin typeface="Helvetica Neue"/>
                <a:ea typeface="Helvetica Neue"/>
                <a:cs typeface="Helvetica Neue"/>
              </a:defRPr>
            </a:lvl3pPr>
            <a:lvl4pPr>
              <a:defRPr sz="2250" b="0">
                <a:solidFill>
                  <a:srgbClr val="ACB7C7"/>
                </a:solidFill>
                <a:latin typeface="Helvetica Neue"/>
                <a:ea typeface="Helvetica Neue"/>
                <a:cs typeface="Helvetica Neue"/>
              </a:defRPr>
            </a:lvl4pPr>
            <a:lvl5pPr>
              <a:defRPr sz="2250" b="0">
                <a:solidFill>
                  <a:srgbClr val="ACB7C7"/>
                </a:solidFill>
                <a:latin typeface="Helvetica Neue"/>
                <a:ea typeface="Helvetica Neue"/>
                <a:cs typeface="Helvetica Neue"/>
              </a:defRPr>
            </a:lvl5pPr>
            <a:lvl6pPr>
              <a:defRPr sz="2250" b="0">
                <a:solidFill>
                  <a:srgbClr val="ACB7C7"/>
                </a:solidFill>
                <a:latin typeface="Helvetica Neue"/>
                <a:ea typeface="Helvetica Neue"/>
                <a:cs typeface="Helvetica Neue"/>
              </a:defRPr>
            </a:lvl6pPr>
            <a:lvl7pPr>
              <a:defRPr sz="2250" b="0">
                <a:solidFill>
                  <a:srgbClr val="ACB7C7"/>
                </a:solidFill>
                <a:latin typeface="Helvetica Neue"/>
                <a:ea typeface="Helvetica Neue"/>
                <a:cs typeface="Helvetica Neue"/>
              </a:defRPr>
            </a:lvl7pPr>
            <a:lvl8pPr>
              <a:defRPr sz="2250" b="0">
                <a:solidFill>
                  <a:srgbClr val="ACB7C7"/>
                </a:solidFill>
                <a:latin typeface="Helvetica Neue"/>
                <a:ea typeface="Helvetica Neue"/>
                <a:cs typeface="Helvetica Neue"/>
              </a:defRPr>
            </a:lvl8pPr>
            <a:lvl9pPr>
              <a:defRPr sz="2250" b="0">
                <a:solidFill>
                  <a:srgbClr val="ACB7C7"/>
                </a:solidFill>
                <a:latin typeface="Helvetica Neue"/>
                <a:ea typeface="Helvetica Neue"/>
                <a:cs typeface="Helvetica Neue"/>
              </a:defRPr>
            </a:lvl9pPr>
          </a:lstStyle>
          <a:p xmlns:a="http://schemas.openxmlformats.org/drawingml/2006/main">
            <a:pPr>
              <a:defRPr sz="2250" b="0">
                <a:solidFill>
                  <a:srgbClr val="ACB7C7"/>
                </a:solidFill>
                <a:latin typeface="Helvetica Neue"/>
                <a:ea typeface="Helvetica Neue"/>
                <a:cs typeface="Helvetica Neue"/>
              </a:defRPr>
            </a:pPr>
            <a:r>
              <a:rPr sz="2250" b="0">
                <a:solidFill>
                  <a:srgbClr val="ACB7C7"/>
                </a:solidFill>
                <a:latin typeface="Helvetica Neue"/>
                <a:ea typeface="Helvetica Neue"/>
                <a:cs typeface="Helvetica Neue"/>
              </a:rPr>
              <a:t>Students with smart desk setups interrupt study</a:t>
            </a:r>
          </a:p>
          <a:p xmlns:a="http://schemas.openxmlformats.org/drawingml/2006/main">
            <a:pPr>
              <a:defRPr sz="2250" b="0">
                <a:solidFill>
                  <a:srgbClr val="ACB7C7"/>
                </a:solidFill>
                <a:latin typeface="Helvetica Neue"/>
                <a:ea typeface="Helvetica Neue"/>
                <a:cs typeface="Helvetica Neue"/>
              </a:defRPr>
            </a:pPr>
            <a:r>
              <a:rPr sz="2250" b="0">
                <a:solidFill>
                  <a:srgbClr val="ACB7C7"/>
                </a:solidFill>
                <a:latin typeface="Helvetica Neue"/>
                <a:ea typeface="Helvetica Neue"/>
                <a:cs typeface="Helvetica Neue"/>
              </a:rPr>
              <a:t>to adjust lights and music through separate controls.</a:t>
            </a:r>
          </a:p>
        </p:txBody>
      </p:sp>
      <p:sp>
        <p:nvSpPr>
          <p:cNvPr id="5" name="40%">
            <a:extLst xmlns:a="http://schemas.openxmlformats.org/drawingml/2006/main">
              <a:ext uri="{FF2B5EF4-FFF2-40B4-BE49-F238E27FC236}">
                <a16:creationId xmlns:a16="http://schemas.microsoft.com/office/drawing/2014/main" id="{AEBE2A10-0589-4376-87EF-B13A4E278DC8}"/>
              </a:ext>
            </a:extLst>
          </p:cNvPr>
          <p:cNvSpPr>
            <a:spLocks xmlns:a="http://schemas.openxmlformats.org/drawingml/2006/main" noGrp="1"/>
          </p:cNvSpPr>
          <p:nvPr/>
        </p:nvSpPr>
        <p:spPr>
          <a:xfrm xmlns:a="http://schemas.openxmlformats.org/drawingml/2006/main">
            <a:off x="609600" y="3581400"/>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83C9FA"/>
                </a:solidFill>
                <a:latin typeface="Helvetica Neue"/>
                <a:ea typeface="Helvetica Neue"/>
                <a:cs typeface="Helvetica Neue"/>
              </a:defRPr>
            </a:defPPr>
            <a:lvl1pPr>
              <a:defRPr sz="7050" b="1">
                <a:solidFill>
                  <a:srgbClr val="83C9FA"/>
                </a:solidFill>
                <a:latin typeface="Helvetica Neue"/>
                <a:ea typeface="Helvetica Neue"/>
                <a:cs typeface="Helvetica Neue"/>
              </a:defRPr>
            </a:lvl1pPr>
            <a:lvl2pPr>
              <a:defRPr sz="7050" b="1">
                <a:solidFill>
                  <a:srgbClr val="83C9FA"/>
                </a:solidFill>
                <a:latin typeface="Helvetica Neue"/>
                <a:ea typeface="Helvetica Neue"/>
                <a:cs typeface="Helvetica Neue"/>
              </a:defRPr>
            </a:lvl2pPr>
            <a:lvl3pPr>
              <a:defRPr sz="7050" b="1">
                <a:solidFill>
                  <a:srgbClr val="83C9FA"/>
                </a:solidFill>
                <a:latin typeface="Helvetica Neue"/>
                <a:ea typeface="Helvetica Neue"/>
                <a:cs typeface="Helvetica Neue"/>
              </a:defRPr>
            </a:lvl3pPr>
            <a:lvl4pPr>
              <a:defRPr sz="7050" b="1">
                <a:solidFill>
                  <a:srgbClr val="83C9FA"/>
                </a:solidFill>
                <a:latin typeface="Helvetica Neue"/>
                <a:ea typeface="Helvetica Neue"/>
                <a:cs typeface="Helvetica Neue"/>
              </a:defRPr>
            </a:lvl4pPr>
            <a:lvl5pPr>
              <a:defRPr sz="7050" b="1">
                <a:solidFill>
                  <a:srgbClr val="83C9FA"/>
                </a:solidFill>
                <a:latin typeface="Helvetica Neue"/>
                <a:ea typeface="Helvetica Neue"/>
                <a:cs typeface="Helvetica Neue"/>
              </a:defRPr>
            </a:lvl5pPr>
            <a:lvl6pPr>
              <a:defRPr sz="7050" b="1">
                <a:solidFill>
                  <a:srgbClr val="83C9FA"/>
                </a:solidFill>
                <a:latin typeface="Helvetica Neue"/>
                <a:ea typeface="Helvetica Neue"/>
                <a:cs typeface="Helvetica Neue"/>
              </a:defRPr>
            </a:lvl6pPr>
            <a:lvl7pPr>
              <a:defRPr sz="7050" b="1">
                <a:solidFill>
                  <a:srgbClr val="83C9FA"/>
                </a:solidFill>
                <a:latin typeface="Helvetica Neue"/>
                <a:ea typeface="Helvetica Neue"/>
                <a:cs typeface="Helvetica Neue"/>
              </a:defRPr>
            </a:lvl7pPr>
            <a:lvl8pPr>
              <a:defRPr sz="7050" b="1">
                <a:solidFill>
                  <a:srgbClr val="83C9FA"/>
                </a:solidFill>
                <a:latin typeface="Helvetica Neue"/>
                <a:ea typeface="Helvetica Neue"/>
                <a:cs typeface="Helvetica Neue"/>
              </a:defRPr>
            </a:lvl8pPr>
            <a:lvl9pPr>
              <a:defRPr sz="7050" b="1">
                <a:solidFill>
                  <a:srgbClr val="83C9FA"/>
                </a:solidFill>
                <a:latin typeface="Helvetica Neue"/>
                <a:ea typeface="Helvetica Neue"/>
                <a:cs typeface="Helvetica Neue"/>
              </a:defRPr>
            </a:lvl9pPr>
          </a:lstStyle>
          <a:p xmlns:a="http://schemas.openxmlformats.org/drawingml/2006/main">
            <a:pPr>
              <a:defRPr sz="7050" b="1">
                <a:solidFill>
                  <a:srgbClr val="83C9FA"/>
                </a:solidFill>
                <a:latin typeface="Helvetica Neue"/>
                <a:ea typeface="Helvetica Neue"/>
                <a:cs typeface="Helvetica Neue"/>
              </a:defRPr>
            </a:pPr>
            <a:r>
              <a:rPr sz="7050" b="1">
                <a:solidFill>
                  <a:srgbClr val="83C9FA"/>
                </a:solidFill>
                <a:latin typeface="Helvetica Neue"/>
                <a:ea typeface="Helvetica Neue"/>
                <a:cs typeface="Helvetica Neue"/>
              </a:rPr>
              <a:t>40%</a:t>
            </a:r>
          </a:p>
        </p:txBody>
      </p:sp>
      <p:sp>
        <p:nvSpPr>
          <p:cNvPr id="6" name="of UK households had a smart speaker">
            <a:extLst xmlns:a="http://schemas.openxmlformats.org/drawingml/2006/main">
              <a:ext uri="{FF2B5EF4-FFF2-40B4-BE49-F238E27FC236}">
                <a16:creationId xmlns:a16="http://schemas.microsoft.com/office/drawing/2014/main" id="{C099BD5E-957B-4540-A6A9-78DD2718A754}"/>
              </a:ext>
            </a:extLst>
          </p:cNvPr>
          <p:cNvSpPr>
            <a:spLocks xmlns:a="http://schemas.openxmlformats.org/drawingml/2006/main" noGrp="1"/>
          </p:cNvSpPr>
          <p:nvPr/>
        </p:nvSpPr>
        <p:spPr>
          <a:xfrm xmlns:a="http://schemas.openxmlformats.org/drawingml/2006/main">
            <a:off x="647700" y="4791075"/>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6"/>
                </a:solidFill>
                <a:latin typeface="Helvetica Neue"/>
                <a:ea typeface="Helvetica Neue"/>
                <a:cs typeface="Helvetica Neue"/>
              </a:defRPr>
            </a:defPPr>
            <a:lvl1pPr>
              <a:defRPr sz="2025" b="0">
                <a:solidFill>
                  <a:srgbClr val="F3F5F6"/>
                </a:solidFill>
                <a:latin typeface="Helvetica Neue"/>
                <a:ea typeface="Helvetica Neue"/>
                <a:cs typeface="Helvetica Neue"/>
              </a:defRPr>
            </a:lvl1pPr>
            <a:lvl2pPr>
              <a:defRPr sz="2025" b="0">
                <a:solidFill>
                  <a:srgbClr val="F3F5F6"/>
                </a:solidFill>
                <a:latin typeface="Helvetica Neue"/>
                <a:ea typeface="Helvetica Neue"/>
                <a:cs typeface="Helvetica Neue"/>
              </a:defRPr>
            </a:lvl2pPr>
            <a:lvl3pPr>
              <a:defRPr sz="2025" b="0">
                <a:solidFill>
                  <a:srgbClr val="F3F5F6"/>
                </a:solidFill>
                <a:latin typeface="Helvetica Neue"/>
                <a:ea typeface="Helvetica Neue"/>
                <a:cs typeface="Helvetica Neue"/>
              </a:defRPr>
            </a:lvl3pPr>
            <a:lvl4pPr>
              <a:defRPr sz="2025" b="0">
                <a:solidFill>
                  <a:srgbClr val="F3F5F6"/>
                </a:solidFill>
                <a:latin typeface="Helvetica Neue"/>
                <a:ea typeface="Helvetica Neue"/>
                <a:cs typeface="Helvetica Neue"/>
              </a:defRPr>
            </a:lvl4pPr>
            <a:lvl5pPr>
              <a:defRPr sz="2025" b="0">
                <a:solidFill>
                  <a:srgbClr val="F3F5F6"/>
                </a:solidFill>
                <a:latin typeface="Helvetica Neue"/>
                <a:ea typeface="Helvetica Neue"/>
                <a:cs typeface="Helvetica Neue"/>
              </a:defRPr>
            </a:lvl5pPr>
            <a:lvl6pPr>
              <a:defRPr sz="2025" b="0">
                <a:solidFill>
                  <a:srgbClr val="F3F5F6"/>
                </a:solidFill>
                <a:latin typeface="Helvetica Neue"/>
                <a:ea typeface="Helvetica Neue"/>
                <a:cs typeface="Helvetica Neue"/>
              </a:defRPr>
            </a:lvl6pPr>
            <a:lvl7pPr>
              <a:defRPr sz="2025" b="0">
                <a:solidFill>
                  <a:srgbClr val="F3F5F6"/>
                </a:solidFill>
                <a:latin typeface="Helvetica Neue"/>
                <a:ea typeface="Helvetica Neue"/>
                <a:cs typeface="Helvetica Neue"/>
              </a:defRPr>
            </a:lvl7pPr>
            <a:lvl8pPr>
              <a:defRPr sz="2025" b="0">
                <a:solidFill>
                  <a:srgbClr val="F3F5F6"/>
                </a:solidFill>
                <a:latin typeface="Helvetica Neue"/>
                <a:ea typeface="Helvetica Neue"/>
                <a:cs typeface="Helvetica Neue"/>
              </a:defRPr>
            </a:lvl8pPr>
            <a:lvl9pPr>
              <a:defRPr sz="2025" b="0">
                <a:solidFill>
                  <a:srgbClr val="F3F5F6"/>
                </a:solidFill>
                <a:latin typeface="Helvetica Neue"/>
                <a:ea typeface="Helvetica Neue"/>
                <a:cs typeface="Helvetica Neue"/>
              </a:defRPr>
            </a:lvl9pPr>
          </a:lstStyle>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of UK households had a smart speaker</a:t>
            </a:r>
          </a:p>
        </p:txBody>
      </p:sp>
      <p:sp>
        <p:nvSpPr>
          <p:cNvPr id="7" name="3 in 5">
            <a:extLst xmlns:a="http://schemas.openxmlformats.org/drawingml/2006/main">
              <a:ext uri="{FF2B5EF4-FFF2-40B4-BE49-F238E27FC236}">
                <a16:creationId xmlns:a16="http://schemas.microsoft.com/office/drawing/2014/main" id="{473F2CAC-8A65-4BAF-9365-CAB217CFF6DC}"/>
              </a:ext>
            </a:extLst>
          </p:cNvPr>
          <p:cNvSpPr>
            <a:spLocks xmlns:a="http://schemas.openxmlformats.org/drawingml/2006/main" noGrp="1"/>
          </p:cNvSpPr>
          <p:nvPr/>
        </p:nvSpPr>
        <p:spPr>
          <a:xfrm xmlns:a="http://schemas.openxmlformats.org/drawingml/2006/main">
            <a:off x="6372225" y="358140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F4C99D"/>
                </a:solidFill>
                <a:latin typeface="Helvetica Neue"/>
                <a:ea typeface="Helvetica Neue"/>
                <a:cs typeface="Helvetica Neue"/>
              </a:defRPr>
            </a:defPPr>
            <a:lvl1pPr>
              <a:defRPr sz="7050" b="1">
                <a:solidFill>
                  <a:srgbClr val="F4C99D"/>
                </a:solidFill>
                <a:latin typeface="Helvetica Neue"/>
                <a:ea typeface="Helvetica Neue"/>
                <a:cs typeface="Helvetica Neue"/>
              </a:defRPr>
            </a:lvl1pPr>
            <a:lvl2pPr>
              <a:defRPr sz="7050" b="1">
                <a:solidFill>
                  <a:srgbClr val="F4C99D"/>
                </a:solidFill>
                <a:latin typeface="Helvetica Neue"/>
                <a:ea typeface="Helvetica Neue"/>
                <a:cs typeface="Helvetica Neue"/>
              </a:defRPr>
            </a:lvl2pPr>
            <a:lvl3pPr>
              <a:defRPr sz="7050" b="1">
                <a:solidFill>
                  <a:srgbClr val="F4C99D"/>
                </a:solidFill>
                <a:latin typeface="Helvetica Neue"/>
                <a:ea typeface="Helvetica Neue"/>
                <a:cs typeface="Helvetica Neue"/>
              </a:defRPr>
            </a:lvl3pPr>
            <a:lvl4pPr>
              <a:defRPr sz="7050" b="1">
                <a:solidFill>
                  <a:srgbClr val="F4C99D"/>
                </a:solidFill>
                <a:latin typeface="Helvetica Neue"/>
                <a:ea typeface="Helvetica Neue"/>
                <a:cs typeface="Helvetica Neue"/>
              </a:defRPr>
            </a:lvl4pPr>
            <a:lvl5pPr>
              <a:defRPr sz="7050" b="1">
                <a:solidFill>
                  <a:srgbClr val="F4C99D"/>
                </a:solidFill>
                <a:latin typeface="Helvetica Neue"/>
                <a:ea typeface="Helvetica Neue"/>
                <a:cs typeface="Helvetica Neue"/>
              </a:defRPr>
            </a:lvl5pPr>
            <a:lvl6pPr>
              <a:defRPr sz="7050" b="1">
                <a:solidFill>
                  <a:srgbClr val="F4C99D"/>
                </a:solidFill>
                <a:latin typeface="Helvetica Neue"/>
                <a:ea typeface="Helvetica Neue"/>
                <a:cs typeface="Helvetica Neue"/>
              </a:defRPr>
            </a:lvl6pPr>
            <a:lvl7pPr>
              <a:defRPr sz="7050" b="1">
                <a:solidFill>
                  <a:srgbClr val="F4C99D"/>
                </a:solidFill>
                <a:latin typeface="Helvetica Neue"/>
                <a:ea typeface="Helvetica Neue"/>
                <a:cs typeface="Helvetica Neue"/>
              </a:defRPr>
            </a:lvl7pPr>
            <a:lvl8pPr>
              <a:defRPr sz="7050" b="1">
                <a:solidFill>
                  <a:srgbClr val="F4C99D"/>
                </a:solidFill>
                <a:latin typeface="Helvetica Neue"/>
                <a:ea typeface="Helvetica Neue"/>
                <a:cs typeface="Helvetica Neue"/>
              </a:defRPr>
            </a:lvl8pPr>
            <a:lvl9pPr>
              <a:defRPr sz="7050" b="1">
                <a:solidFill>
                  <a:srgbClr val="F4C99D"/>
                </a:solidFill>
                <a:latin typeface="Helvetica Neue"/>
                <a:ea typeface="Helvetica Neue"/>
                <a:cs typeface="Helvetica Neue"/>
              </a:defRPr>
            </a:lvl9pPr>
          </a:lstStyle>
          <a:p xmlns:a="http://schemas.openxmlformats.org/drawingml/2006/main">
            <a:pPr>
              <a:defRPr sz="7050" b="1">
                <a:solidFill>
                  <a:srgbClr val="F4C99D"/>
                </a:solidFill>
                <a:latin typeface="Helvetica Neue"/>
                <a:ea typeface="Helvetica Neue"/>
                <a:cs typeface="Helvetica Neue"/>
              </a:defRPr>
            </a:pPr>
            <a:r>
              <a:rPr sz="7050" b="1">
                <a:solidFill>
                  <a:srgbClr val="F4C99D"/>
                </a:solidFill>
                <a:latin typeface="Helvetica Neue"/>
                <a:ea typeface="Helvetica Neue"/>
                <a:cs typeface="Helvetica Neue"/>
              </a:rPr>
              <a:t>3 in 5</a:t>
            </a:r>
          </a:p>
        </p:txBody>
      </p:sp>
      <p:sp>
        <p:nvSpPr>
          <p:cNvPr id="8" name="smart-speaker users have had the wrong&#10;radio stati">
            <a:extLst xmlns:a="http://schemas.openxmlformats.org/drawingml/2006/main">
              <a:ext uri="{FF2B5EF4-FFF2-40B4-BE49-F238E27FC236}">
                <a16:creationId xmlns:a16="http://schemas.microsoft.com/office/drawing/2014/main" id="{2B47F556-E542-4F60-A936-2D6D8A2A0BC2}"/>
              </a:ext>
            </a:extLst>
          </p:cNvPr>
          <p:cNvSpPr>
            <a:spLocks xmlns:a="http://schemas.openxmlformats.org/drawingml/2006/main" noGrp="1"/>
          </p:cNvSpPr>
          <p:nvPr/>
        </p:nvSpPr>
        <p:spPr>
          <a:xfrm xmlns:a="http://schemas.openxmlformats.org/drawingml/2006/main">
            <a:off x="6419850" y="4791075"/>
            <a:ext cx="5029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6"/>
                </a:solidFill>
                <a:latin typeface="Helvetica Neue"/>
                <a:ea typeface="Helvetica Neue"/>
                <a:cs typeface="Helvetica Neue"/>
              </a:defRPr>
            </a:defPPr>
            <a:lvl1pPr>
              <a:defRPr sz="2025" b="0">
                <a:solidFill>
                  <a:srgbClr val="F3F5F6"/>
                </a:solidFill>
                <a:latin typeface="Helvetica Neue"/>
                <a:ea typeface="Helvetica Neue"/>
                <a:cs typeface="Helvetica Neue"/>
              </a:defRPr>
            </a:lvl1pPr>
            <a:lvl2pPr>
              <a:defRPr sz="2025" b="0">
                <a:solidFill>
                  <a:srgbClr val="F3F5F6"/>
                </a:solidFill>
                <a:latin typeface="Helvetica Neue"/>
                <a:ea typeface="Helvetica Neue"/>
                <a:cs typeface="Helvetica Neue"/>
              </a:defRPr>
            </a:lvl2pPr>
            <a:lvl3pPr>
              <a:defRPr sz="2025" b="0">
                <a:solidFill>
                  <a:srgbClr val="F3F5F6"/>
                </a:solidFill>
                <a:latin typeface="Helvetica Neue"/>
                <a:ea typeface="Helvetica Neue"/>
                <a:cs typeface="Helvetica Neue"/>
              </a:defRPr>
            </a:lvl3pPr>
            <a:lvl4pPr>
              <a:defRPr sz="2025" b="0">
                <a:solidFill>
                  <a:srgbClr val="F3F5F6"/>
                </a:solidFill>
                <a:latin typeface="Helvetica Neue"/>
                <a:ea typeface="Helvetica Neue"/>
                <a:cs typeface="Helvetica Neue"/>
              </a:defRPr>
            </a:lvl4pPr>
            <a:lvl5pPr>
              <a:defRPr sz="2025" b="0">
                <a:solidFill>
                  <a:srgbClr val="F3F5F6"/>
                </a:solidFill>
                <a:latin typeface="Helvetica Neue"/>
                <a:ea typeface="Helvetica Neue"/>
                <a:cs typeface="Helvetica Neue"/>
              </a:defRPr>
            </a:lvl5pPr>
            <a:lvl6pPr>
              <a:defRPr sz="2025" b="0">
                <a:solidFill>
                  <a:srgbClr val="F3F5F6"/>
                </a:solidFill>
                <a:latin typeface="Helvetica Neue"/>
                <a:ea typeface="Helvetica Neue"/>
                <a:cs typeface="Helvetica Neue"/>
              </a:defRPr>
            </a:lvl6pPr>
            <a:lvl7pPr>
              <a:defRPr sz="2025" b="0">
                <a:solidFill>
                  <a:srgbClr val="F3F5F6"/>
                </a:solidFill>
                <a:latin typeface="Helvetica Neue"/>
                <a:ea typeface="Helvetica Neue"/>
                <a:cs typeface="Helvetica Neue"/>
              </a:defRPr>
            </a:lvl7pPr>
            <a:lvl8pPr>
              <a:defRPr sz="2025" b="0">
                <a:solidFill>
                  <a:srgbClr val="F3F5F6"/>
                </a:solidFill>
                <a:latin typeface="Helvetica Neue"/>
                <a:ea typeface="Helvetica Neue"/>
                <a:cs typeface="Helvetica Neue"/>
              </a:defRPr>
            </a:lvl8pPr>
            <a:lvl9pPr>
              <a:defRPr sz="2025" b="0">
                <a:solidFill>
                  <a:srgbClr val="F3F5F6"/>
                </a:solidFill>
                <a:latin typeface="Helvetica Neue"/>
                <a:ea typeface="Helvetica Neue"/>
                <a:cs typeface="Helvetica Neue"/>
              </a:defRPr>
            </a:lvl9pPr>
          </a:lstStyle>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smart-speaker users have had the wrong</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radio station play after a request</a:t>
            </a:r>
          </a:p>
        </p:txBody>
      </p:sp>
      <p:sp>
        <p:nvSpPr>
          <p:cNvPr id="9" name="Sources: Ofcom, Media Nations 2025 and Audio Liste">
            <a:extLst xmlns:a="http://schemas.openxmlformats.org/drawingml/2006/main">
              <a:ext uri="{FF2B5EF4-FFF2-40B4-BE49-F238E27FC236}">
                <a16:creationId xmlns:a16="http://schemas.microsoft.com/office/drawing/2014/main" id="{27AF077D-F791-42D9-9294-2718F8CACF95}"/>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Sources: Ofcom, Media Nations 2025 and Audio Listening 2025. Demand for gestures remains a hypothesis.</a:t>
            </a:r>
          </a:p>
        </p:txBody>
      </p:sp>
    </p:spTree>
    <p:extLst>
      <p:ext uri="{BB962C8B-B14F-4D97-AF65-F5344CB8AC3E}">
        <p14:creationId xmlns:p14="http://schemas.microsoft.com/office/powerpoint/2010/main" val="628025638"/>
      </p:ext>
    </p:extLst>
  </p:cSld>
</p:sld>
</file>

<file path=ppt/slides/slide3.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4" name="SPELLCAST">
            <a:extLst xmlns:a="http://schemas.openxmlformats.org/drawingml/2006/main">
              <a:ext uri="{FF2B5EF4-FFF2-40B4-BE49-F238E27FC236}">
                <a16:creationId xmlns:a16="http://schemas.microsoft.com/office/drawing/2014/main" id="{658353B9-2A9D-41AB-A6BB-E28BE284ACED}"/>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a:t>
            </a:r>
          </a:p>
        </p:txBody>
      </p:sp>
      <p:sp>
        <p:nvSpPr>
          <p:cNvPr id="2" name="03">
            <a:extLst xmlns:a="http://schemas.openxmlformats.org/drawingml/2006/main">
              <a:ext uri="{FF2B5EF4-FFF2-40B4-BE49-F238E27FC236}">
                <a16:creationId xmlns:a16="http://schemas.microsoft.com/office/drawing/2014/main" id="{171E799F-594B-4CD3-8665-116E1B104F34}"/>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03</a:t>
            </a:r>
          </a:p>
        </p:txBody>
      </p:sp>
      <p:sp>
        <p:nvSpPr>
          <p:cNvPr id="3" name="Gesture control for lights and music">
            <a:extLst xmlns:a="http://schemas.openxmlformats.org/drawingml/2006/main">
              <a:ext uri="{FF2B5EF4-FFF2-40B4-BE49-F238E27FC236}">
                <a16:creationId xmlns:a16="http://schemas.microsoft.com/office/drawing/2014/main" id="{CD0585BC-7593-4F11-9689-CF6072144E81}"/>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Gesture control for lights and music</a:t>
            </a:r>
          </a:p>
        </p:txBody>
      </p:sp>
      <p:sp>
        <p:nvSpPr>
          <p:cNvPr id="4" name="01">
            <a:extLst xmlns:a="http://schemas.openxmlformats.org/drawingml/2006/main">
              <a:ext uri="{FF2B5EF4-FFF2-40B4-BE49-F238E27FC236}">
                <a16:creationId xmlns:a16="http://schemas.microsoft.com/office/drawing/2014/main" id="{4C6E007A-47B6-4087-9C2B-2AE0FCB3C101}"/>
              </a:ext>
            </a:extLst>
          </p:cNvPr>
          <p:cNvSpPr>
            <a:spLocks xmlns:a="http://schemas.openxmlformats.org/drawingml/2006/main" noGrp="1"/>
          </p:cNvSpPr>
          <p:nvPr/>
        </p:nvSpPr>
        <p:spPr>
          <a:xfrm xmlns:a="http://schemas.openxmlformats.org/drawingml/2006/main">
            <a:off x="609600" y="2466975"/>
            <a:ext cx="109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a:solidFill>
                  <a:srgbClr val="83C9FA"/>
                </a:solidFill>
                <a:latin typeface="Helvetica Neue"/>
                <a:ea typeface="Helvetica Neue"/>
                <a:cs typeface="Helvetica Neue"/>
              </a:defRPr>
            </a:defPPr>
            <a:lvl1pPr>
              <a:defRPr sz="4350" b="0">
                <a:solidFill>
                  <a:srgbClr val="83C9FA"/>
                </a:solidFill>
                <a:latin typeface="Helvetica Neue"/>
                <a:ea typeface="Helvetica Neue"/>
                <a:cs typeface="Helvetica Neue"/>
              </a:defRPr>
            </a:lvl1pPr>
            <a:lvl2pPr>
              <a:defRPr sz="4350" b="0">
                <a:solidFill>
                  <a:srgbClr val="83C9FA"/>
                </a:solidFill>
                <a:latin typeface="Helvetica Neue"/>
                <a:ea typeface="Helvetica Neue"/>
                <a:cs typeface="Helvetica Neue"/>
              </a:defRPr>
            </a:lvl2pPr>
            <a:lvl3pPr>
              <a:defRPr sz="4350" b="0">
                <a:solidFill>
                  <a:srgbClr val="83C9FA"/>
                </a:solidFill>
                <a:latin typeface="Helvetica Neue"/>
                <a:ea typeface="Helvetica Neue"/>
                <a:cs typeface="Helvetica Neue"/>
              </a:defRPr>
            </a:lvl3pPr>
            <a:lvl4pPr>
              <a:defRPr sz="4350" b="0">
                <a:solidFill>
                  <a:srgbClr val="83C9FA"/>
                </a:solidFill>
                <a:latin typeface="Helvetica Neue"/>
                <a:ea typeface="Helvetica Neue"/>
                <a:cs typeface="Helvetica Neue"/>
              </a:defRPr>
            </a:lvl4pPr>
            <a:lvl5pPr>
              <a:defRPr sz="4350" b="0">
                <a:solidFill>
                  <a:srgbClr val="83C9FA"/>
                </a:solidFill>
                <a:latin typeface="Helvetica Neue"/>
                <a:ea typeface="Helvetica Neue"/>
                <a:cs typeface="Helvetica Neue"/>
              </a:defRPr>
            </a:lvl5pPr>
            <a:lvl6pPr>
              <a:defRPr sz="4350" b="0">
                <a:solidFill>
                  <a:srgbClr val="83C9FA"/>
                </a:solidFill>
                <a:latin typeface="Helvetica Neue"/>
                <a:ea typeface="Helvetica Neue"/>
                <a:cs typeface="Helvetica Neue"/>
              </a:defRPr>
            </a:lvl6pPr>
            <a:lvl7pPr>
              <a:defRPr sz="4350" b="0">
                <a:solidFill>
                  <a:srgbClr val="83C9FA"/>
                </a:solidFill>
                <a:latin typeface="Helvetica Neue"/>
                <a:ea typeface="Helvetica Neue"/>
                <a:cs typeface="Helvetica Neue"/>
              </a:defRPr>
            </a:lvl7pPr>
            <a:lvl8pPr>
              <a:defRPr sz="4350" b="0">
                <a:solidFill>
                  <a:srgbClr val="83C9FA"/>
                </a:solidFill>
                <a:latin typeface="Helvetica Neue"/>
                <a:ea typeface="Helvetica Neue"/>
                <a:cs typeface="Helvetica Neue"/>
              </a:defRPr>
            </a:lvl8pPr>
            <a:lvl9pPr>
              <a:defRPr sz="4350" b="0">
                <a:solidFill>
                  <a:srgbClr val="83C9FA"/>
                </a:solidFill>
                <a:latin typeface="Helvetica Neue"/>
                <a:ea typeface="Helvetica Neue"/>
                <a:cs typeface="Helvetica Neue"/>
              </a:defRPr>
            </a:lvl9pPr>
          </a:lstStyle>
          <a:p xmlns:a="http://schemas.openxmlformats.org/drawingml/2006/main">
            <a:pPr>
              <a:defRPr sz="4350" b="0">
                <a:solidFill>
                  <a:srgbClr val="83C9FA"/>
                </a:solidFill>
                <a:latin typeface="Helvetica Neue"/>
                <a:ea typeface="Helvetica Neue"/>
                <a:cs typeface="Helvetica Neue"/>
              </a:defRPr>
            </a:pPr>
            <a:r>
              <a:rPr sz="4350" b="0">
                <a:solidFill>
                  <a:srgbClr val="83C9FA"/>
                </a:solidFill>
                <a:latin typeface="Helvetica Neue"/>
                <a:ea typeface="Helvetica Neue"/>
                <a:cs typeface="Helvetica Neue"/>
              </a:rPr>
              <a:t>01</a:t>
            </a:r>
          </a:p>
        </p:txBody>
      </p:sp>
      <p:sp>
        <p:nvSpPr>
          <p:cNvPr id="5" name="Lighting">
            <a:extLst xmlns:a="http://schemas.openxmlformats.org/drawingml/2006/main">
              <a:ext uri="{FF2B5EF4-FFF2-40B4-BE49-F238E27FC236}">
                <a16:creationId xmlns:a16="http://schemas.microsoft.com/office/drawing/2014/main" id="{0F3C8987-A23F-4354-BF72-06BD3AC15041}"/>
              </a:ext>
            </a:extLst>
          </p:cNvPr>
          <p:cNvSpPr>
            <a:spLocks xmlns:a="http://schemas.openxmlformats.org/drawingml/2006/main" noGrp="1"/>
          </p:cNvSpPr>
          <p:nvPr/>
        </p:nvSpPr>
        <p:spPr>
          <a:xfrm xmlns:a="http://schemas.openxmlformats.org/drawingml/2006/main">
            <a:off x="2076450" y="25431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3F5F6"/>
                </a:solidFill>
                <a:latin typeface="Helvetica Neue"/>
                <a:ea typeface="Helvetica Neue"/>
                <a:cs typeface="Helvetica Neue"/>
              </a:defRPr>
            </a:defPPr>
            <a:lvl1pPr>
              <a:defRPr sz="2550" b="1">
                <a:solidFill>
                  <a:srgbClr val="F3F5F6"/>
                </a:solidFill>
                <a:latin typeface="Helvetica Neue"/>
                <a:ea typeface="Helvetica Neue"/>
                <a:cs typeface="Helvetica Neue"/>
              </a:defRPr>
            </a:lvl1pPr>
            <a:lvl2pPr>
              <a:defRPr sz="2550" b="1">
                <a:solidFill>
                  <a:srgbClr val="F3F5F6"/>
                </a:solidFill>
                <a:latin typeface="Helvetica Neue"/>
                <a:ea typeface="Helvetica Neue"/>
                <a:cs typeface="Helvetica Neue"/>
              </a:defRPr>
            </a:lvl2pPr>
            <a:lvl3pPr>
              <a:defRPr sz="2550" b="1">
                <a:solidFill>
                  <a:srgbClr val="F3F5F6"/>
                </a:solidFill>
                <a:latin typeface="Helvetica Neue"/>
                <a:ea typeface="Helvetica Neue"/>
                <a:cs typeface="Helvetica Neue"/>
              </a:defRPr>
            </a:lvl3pPr>
            <a:lvl4pPr>
              <a:defRPr sz="2550" b="1">
                <a:solidFill>
                  <a:srgbClr val="F3F5F6"/>
                </a:solidFill>
                <a:latin typeface="Helvetica Neue"/>
                <a:ea typeface="Helvetica Neue"/>
                <a:cs typeface="Helvetica Neue"/>
              </a:defRPr>
            </a:lvl4pPr>
            <a:lvl5pPr>
              <a:defRPr sz="2550" b="1">
                <a:solidFill>
                  <a:srgbClr val="F3F5F6"/>
                </a:solidFill>
                <a:latin typeface="Helvetica Neue"/>
                <a:ea typeface="Helvetica Neue"/>
                <a:cs typeface="Helvetica Neue"/>
              </a:defRPr>
            </a:lvl5pPr>
            <a:lvl6pPr>
              <a:defRPr sz="2550" b="1">
                <a:solidFill>
                  <a:srgbClr val="F3F5F6"/>
                </a:solidFill>
                <a:latin typeface="Helvetica Neue"/>
                <a:ea typeface="Helvetica Neue"/>
                <a:cs typeface="Helvetica Neue"/>
              </a:defRPr>
            </a:lvl6pPr>
            <a:lvl7pPr>
              <a:defRPr sz="2550" b="1">
                <a:solidFill>
                  <a:srgbClr val="F3F5F6"/>
                </a:solidFill>
                <a:latin typeface="Helvetica Neue"/>
                <a:ea typeface="Helvetica Neue"/>
                <a:cs typeface="Helvetica Neue"/>
              </a:defRPr>
            </a:lvl7pPr>
            <a:lvl8pPr>
              <a:defRPr sz="2550" b="1">
                <a:solidFill>
                  <a:srgbClr val="F3F5F6"/>
                </a:solidFill>
                <a:latin typeface="Helvetica Neue"/>
                <a:ea typeface="Helvetica Neue"/>
                <a:cs typeface="Helvetica Neue"/>
              </a:defRPr>
            </a:lvl8pPr>
            <a:lvl9pPr>
              <a:defRPr sz="2550" b="1">
                <a:solidFill>
                  <a:srgbClr val="F3F5F6"/>
                </a:solidFill>
                <a:latin typeface="Helvetica Neue"/>
                <a:ea typeface="Helvetica Neue"/>
                <a:cs typeface="Helvetica Neue"/>
              </a:defRPr>
            </a:lvl9pPr>
          </a:lstStyle>
          <a:p xmlns:a="http://schemas.openxmlformats.org/drawingml/2006/main">
            <a:pPr>
              <a:defRPr sz="2550" b="1">
                <a:solidFill>
                  <a:srgbClr val="F3F5F6"/>
                </a:solidFill>
                <a:latin typeface="Helvetica Neue"/>
                <a:ea typeface="Helvetica Neue"/>
                <a:cs typeface="Helvetica Neue"/>
              </a:defRPr>
            </a:pPr>
            <a:r>
              <a:rPr sz="2550" b="1">
                <a:solidFill>
                  <a:srgbClr val="F3F5F6"/>
                </a:solidFill>
                <a:latin typeface="Helvetica Neue"/>
                <a:ea typeface="Helvetica Neue"/>
                <a:cs typeface="Helvetica Neue"/>
              </a:rPr>
              <a:t>Lighting</a:t>
            </a:r>
          </a:p>
        </p:txBody>
      </p:sp>
      <p:sp>
        <p:nvSpPr>
          <p:cNvPr id="6" name="Power, brightness and colour&#10;on the paired Zigbee ">
            <a:extLst xmlns:a="http://schemas.openxmlformats.org/drawingml/2006/main">
              <a:ext uri="{FF2B5EF4-FFF2-40B4-BE49-F238E27FC236}">
                <a16:creationId xmlns:a16="http://schemas.microsoft.com/office/drawing/2014/main" id="{67117983-4891-4910-9D63-2947C3F94FD8}"/>
              </a:ext>
            </a:extLst>
          </p:cNvPr>
          <p:cNvSpPr>
            <a:spLocks xmlns:a="http://schemas.openxmlformats.org/drawingml/2006/main" noGrp="1"/>
          </p:cNvSpPr>
          <p:nvPr/>
        </p:nvSpPr>
        <p:spPr>
          <a:xfrm xmlns:a="http://schemas.openxmlformats.org/drawingml/2006/main">
            <a:off x="5534025" y="2552700"/>
            <a:ext cx="5981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B7C7"/>
                </a:solidFill>
                <a:latin typeface="Helvetica Neue"/>
                <a:ea typeface="Helvetica Neue"/>
                <a:cs typeface="Helvetica Neue"/>
              </a:defRPr>
            </a:defPPr>
            <a:lvl1pPr>
              <a:defRPr sz="2100" b="0">
                <a:solidFill>
                  <a:srgbClr val="ACB7C7"/>
                </a:solidFill>
                <a:latin typeface="Helvetica Neue"/>
                <a:ea typeface="Helvetica Neue"/>
                <a:cs typeface="Helvetica Neue"/>
              </a:defRPr>
            </a:lvl1pPr>
            <a:lvl2pPr>
              <a:defRPr sz="2100" b="0">
                <a:solidFill>
                  <a:srgbClr val="ACB7C7"/>
                </a:solidFill>
                <a:latin typeface="Helvetica Neue"/>
                <a:ea typeface="Helvetica Neue"/>
                <a:cs typeface="Helvetica Neue"/>
              </a:defRPr>
            </a:lvl2pPr>
            <a:lvl3pPr>
              <a:defRPr sz="2100" b="0">
                <a:solidFill>
                  <a:srgbClr val="ACB7C7"/>
                </a:solidFill>
                <a:latin typeface="Helvetica Neue"/>
                <a:ea typeface="Helvetica Neue"/>
                <a:cs typeface="Helvetica Neue"/>
              </a:defRPr>
            </a:lvl3pPr>
            <a:lvl4pPr>
              <a:defRPr sz="2100" b="0">
                <a:solidFill>
                  <a:srgbClr val="ACB7C7"/>
                </a:solidFill>
                <a:latin typeface="Helvetica Neue"/>
                <a:ea typeface="Helvetica Neue"/>
                <a:cs typeface="Helvetica Neue"/>
              </a:defRPr>
            </a:lvl4pPr>
            <a:lvl5pPr>
              <a:defRPr sz="2100" b="0">
                <a:solidFill>
                  <a:srgbClr val="ACB7C7"/>
                </a:solidFill>
                <a:latin typeface="Helvetica Neue"/>
                <a:ea typeface="Helvetica Neue"/>
                <a:cs typeface="Helvetica Neue"/>
              </a:defRPr>
            </a:lvl5pPr>
            <a:lvl6pPr>
              <a:defRPr sz="2100" b="0">
                <a:solidFill>
                  <a:srgbClr val="ACB7C7"/>
                </a:solidFill>
                <a:latin typeface="Helvetica Neue"/>
                <a:ea typeface="Helvetica Neue"/>
                <a:cs typeface="Helvetica Neue"/>
              </a:defRPr>
            </a:lvl6pPr>
            <a:lvl7pPr>
              <a:defRPr sz="2100" b="0">
                <a:solidFill>
                  <a:srgbClr val="ACB7C7"/>
                </a:solidFill>
                <a:latin typeface="Helvetica Neue"/>
                <a:ea typeface="Helvetica Neue"/>
                <a:cs typeface="Helvetica Neue"/>
              </a:defRPr>
            </a:lvl7pPr>
            <a:lvl8pPr>
              <a:defRPr sz="2100" b="0">
                <a:solidFill>
                  <a:srgbClr val="ACB7C7"/>
                </a:solidFill>
                <a:latin typeface="Helvetica Neue"/>
                <a:ea typeface="Helvetica Neue"/>
                <a:cs typeface="Helvetica Neue"/>
              </a:defRPr>
            </a:lvl8pPr>
            <a:lvl9pPr>
              <a:defRPr sz="2100" b="0">
                <a:solidFill>
                  <a:srgbClr val="ACB7C7"/>
                </a:solidFill>
                <a:latin typeface="Helvetica Neue"/>
                <a:ea typeface="Helvetica Neue"/>
                <a:cs typeface="Helvetica Neue"/>
              </a:defRPr>
            </a:lvl9pPr>
          </a:lstStyle>
          <a:p xmlns:a="http://schemas.openxmlformats.org/drawingml/2006/main">
            <a:pPr>
              <a:defRPr sz="2100" b="0">
                <a:solidFill>
                  <a:srgbClr val="ACB7C7"/>
                </a:solidFill>
                <a:latin typeface="Helvetica Neue"/>
                <a:ea typeface="Helvetica Neue"/>
                <a:cs typeface="Helvetica Neue"/>
              </a:defRPr>
            </a:pPr>
            <a:r>
              <a:rPr sz="2100" b="0">
                <a:solidFill>
                  <a:srgbClr val="ACB7C7"/>
                </a:solidFill>
                <a:latin typeface="Helvetica Neue"/>
                <a:ea typeface="Helvetica Neue"/>
                <a:cs typeface="Helvetica Neue"/>
              </a:rPr>
              <a:t>Power, brightness and colour</a:t>
            </a:r>
          </a:p>
          <a:p xmlns:a="http://schemas.openxmlformats.org/drawingml/2006/main">
            <a:pPr>
              <a:defRPr sz="2100" b="0">
                <a:solidFill>
                  <a:srgbClr val="ACB7C7"/>
                </a:solidFill>
                <a:latin typeface="Helvetica Neue"/>
                <a:ea typeface="Helvetica Neue"/>
                <a:cs typeface="Helvetica Neue"/>
              </a:defRPr>
            </a:pPr>
            <a:r>
              <a:rPr sz="2100" b="0">
                <a:solidFill>
                  <a:srgbClr val="ACB7C7"/>
                </a:solidFill>
                <a:latin typeface="Helvetica Neue"/>
                <a:ea typeface="Helvetica Neue"/>
                <a:cs typeface="Helvetica Neue"/>
              </a:rPr>
              <a:t>on the paired Zigbee lamp</a:t>
            </a:r>
          </a:p>
        </p:txBody>
      </p:sp>
      <p:sp>
        <p:nvSpPr>
          <p:cNvPr id="7" name="02">
            <a:extLst xmlns:a="http://schemas.openxmlformats.org/drawingml/2006/main">
              <a:ext uri="{FF2B5EF4-FFF2-40B4-BE49-F238E27FC236}">
                <a16:creationId xmlns:a16="http://schemas.microsoft.com/office/drawing/2014/main" id="{3745D14A-4338-4D4D-A0FF-C001F02F9172}"/>
              </a:ext>
            </a:extLst>
          </p:cNvPr>
          <p:cNvSpPr>
            <a:spLocks xmlns:a="http://schemas.openxmlformats.org/drawingml/2006/main" noGrp="1"/>
          </p:cNvSpPr>
          <p:nvPr/>
        </p:nvSpPr>
        <p:spPr>
          <a:xfrm xmlns:a="http://schemas.openxmlformats.org/drawingml/2006/main">
            <a:off x="609600" y="3648075"/>
            <a:ext cx="109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a:solidFill>
                  <a:srgbClr val="83C9FA"/>
                </a:solidFill>
                <a:latin typeface="Helvetica Neue"/>
                <a:ea typeface="Helvetica Neue"/>
                <a:cs typeface="Helvetica Neue"/>
              </a:defRPr>
            </a:defPPr>
            <a:lvl1pPr>
              <a:defRPr sz="4350" b="0">
                <a:solidFill>
                  <a:srgbClr val="83C9FA"/>
                </a:solidFill>
                <a:latin typeface="Helvetica Neue"/>
                <a:ea typeface="Helvetica Neue"/>
                <a:cs typeface="Helvetica Neue"/>
              </a:defRPr>
            </a:lvl1pPr>
            <a:lvl2pPr>
              <a:defRPr sz="4350" b="0">
                <a:solidFill>
                  <a:srgbClr val="83C9FA"/>
                </a:solidFill>
                <a:latin typeface="Helvetica Neue"/>
                <a:ea typeface="Helvetica Neue"/>
                <a:cs typeface="Helvetica Neue"/>
              </a:defRPr>
            </a:lvl2pPr>
            <a:lvl3pPr>
              <a:defRPr sz="4350" b="0">
                <a:solidFill>
                  <a:srgbClr val="83C9FA"/>
                </a:solidFill>
                <a:latin typeface="Helvetica Neue"/>
                <a:ea typeface="Helvetica Neue"/>
                <a:cs typeface="Helvetica Neue"/>
              </a:defRPr>
            </a:lvl3pPr>
            <a:lvl4pPr>
              <a:defRPr sz="4350" b="0">
                <a:solidFill>
                  <a:srgbClr val="83C9FA"/>
                </a:solidFill>
                <a:latin typeface="Helvetica Neue"/>
                <a:ea typeface="Helvetica Neue"/>
                <a:cs typeface="Helvetica Neue"/>
              </a:defRPr>
            </a:lvl4pPr>
            <a:lvl5pPr>
              <a:defRPr sz="4350" b="0">
                <a:solidFill>
                  <a:srgbClr val="83C9FA"/>
                </a:solidFill>
                <a:latin typeface="Helvetica Neue"/>
                <a:ea typeface="Helvetica Neue"/>
                <a:cs typeface="Helvetica Neue"/>
              </a:defRPr>
            </a:lvl5pPr>
            <a:lvl6pPr>
              <a:defRPr sz="4350" b="0">
                <a:solidFill>
                  <a:srgbClr val="83C9FA"/>
                </a:solidFill>
                <a:latin typeface="Helvetica Neue"/>
                <a:ea typeface="Helvetica Neue"/>
                <a:cs typeface="Helvetica Neue"/>
              </a:defRPr>
            </a:lvl6pPr>
            <a:lvl7pPr>
              <a:defRPr sz="4350" b="0">
                <a:solidFill>
                  <a:srgbClr val="83C9FA"/>
                </a:solidFill>
                <a:latin typeface="Helvetica Neue"/>
                <a:ea typeface="Helvetica Neue"/>
                <a:cs typeface="Helvetica Neue"/>
              </a:defRPr>
            </a:lvl7pPr>
            <a:lvl8pPr>
              <a:defRPr sz="4350" b="0">
                <a:solidFill>
                  <a:srgbClr val="83C9FA"/>
                </a:solidFill>
                <a:latin typeface="Helvetica Neue"/>
                <a:ea typeface="Helvetica Neue"/>
                <a:cs typeface="Helvetica Neue"/>
              </a:defRPr>
            </a:lvl8pPr>
            <a:lvl9pPr>
              <a:defRPr sz="4350" b="0">
                <a:solidFill>
                  <a:srgbClr val="83C9FA"/>
                </a:solidFill>
                <a:latin typeface="Helvetica Neue"/>
                <a:ea typeface="Helvetica Neue"/>
                <a:cs typeface="Helvetica Neue"/>
              </a:defRPr>
            </a:lvl9pPr>
          </a:lstStyle>
          <a:p xmlns:a="http://schemas.openxmlformats.org/drawingml/2006/main">
            <a:pPr>
              <a:defRPr sz="4350" b="0">
                <a:solidFill>
                  <a:srgbClr val="83C9FA"/>
                </a:solidFill>
                <a:latin typeface="Helvetica Neue"/>
                <a:ea typeface="Helvetica Neue"/>
                <a:cs typeface="Helvetica Neue"/>
              </a:defRPr>
            </a:pPr>
            <a:r>
              <a:rPr sz="4350" b="0">
                <a:solidFill>
                  <a:srgbClr val="83C9FA"/>
                </a:solidFill>
                <a:latin typeface="Helvetica Neue"/>
                <a:ea typeface="Helvetica Neue"/>
                <a:cs typeface="Helvetica Neue"/>
              </a:rPr>
              <a:t>02</a:t>
            </a:r>
          </a:p>
        </p:txBody>
      </p:sp>
      <p:sp>
        <p:nvSpPr>
          <p:cNvPr id="8" name="Music">
            <a:extLst xmlns:a="http://schemas.openxmlformats.org/drawingml/2006/main">
              <a:ext uri="{FF2B5EF4-FFF2-40B4-BE49-F238E27FC236}">
                <a16:creationId xmlns:a16="http://schemas.microsoft.com/office/drawing/2014/main" id="{CA7A935B-233F-4D9E-BB4C-F9DAD6FA5A4A}"/>
              </a:ext>
            </a:extLst>
          </p:cNvPr>
          <p:cNvSpPr>
            <a:spLocks xmlns:a="http://schemas.openxmlformats.org/drawingml/2006/main" noGrp="1"/>
          </p:cNvSpPr>
          <p:nvPr/>
        </p:nvSpPr>
        <p:spPr>
          <a:xfrm xmlns:a="http://schemas.openxmlformats.org/drawingml/2006/main">
            <a:off x="2076450" y="37242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3F5F6"/>
                </a:solidFill>
                <a:latin typeface="Helvetica Neue"/>
                <a:ea typeface="Helvetica Neue"/>
                <a:cs typeface="Helvetica Neue"/>
              </a:defRPr>
            </a:defPPr>
            <a:lvl1pPr>
              <a:defRPr sz="2550" b="1">
                <a:solidFill>
                  <a:srgbClr val="F3F5F6"/>
                </a:solidFill>
                <a:latin typeface="Helvetica Neue"/>
                <a:ea typeface="Helvetica Neue"/>
                <a:cs typeface="Helvetica Neue"/>
              </a:defRPr>
            </a:lvl1pPr>
            <a:lvl2pPr>
              <a:defRPr sz="2550" b="1">
                <a:solidFill>
                  <a:srgbClr val="F3F5F6"/>
                </a:solidFill>
                <a:latin typeface="Helvetica Neue"/>
                <a:ea typeface="Helvetica Neue"/>
                <a:cs typeface="Helvetica Neue"/>
              </a:defRPr>
            </a:lvl2pPr>
            <a:lvl3pPr>
              <a:defRPr sz="2550" b="1">
                <a:solidFill>
                  <a:srgbClr val="F3F5F6"/>
                </a:solidFill>
                <a:latin typeface="Helvetica Neue"/>
                <a:ea typeface="Helvetica Neue"/>
                <a:cs typeface="Helvetica Neue"/>
              </a:defRPr>
            </a:lvl3pPr>
            <a:lvl4pPr>
              <a:defRPr sz="2550" b="1">
                <a:solidFill>
                  <a:srgbClr val="F3F5F6"/>
                </a:solidFill>
                <a:latin typeface="Helvetica Neue"/>
                <a:ea typeface="Helvetica Neue"/>
                <a:cs typeface="Helvetica Neue"/>
              </a:defRPr>
            </a:lvl4pPr>
            <a:lvl5pPr>
              <a:defRPr sz="2550" b="1">
                <a:solidFill>
                  <a:srgbClr val="F3F5F6"/>
                </a:solidFill>
                <a:latin typeface="Helvetica Neue"/>
                <a:ea typeface="Helvetica Neue"/>
                <a:cs typeface="Helvetica Neue"/>
              </a:defRPr>
            </a:lvl5pPr>
            <a:lvl6pPr>
              <a:defRPr sz="2550" b="1">
                <a:solidFill>
                  <a:srgbClr val="F3F5F6"/>
                </a:solidFill>
                <a:latin typeface="Helvetica Neue"/>
                <a:ea typeface="Helvetica Neue"/>
                <a:cs typeface="Helvetica Neue"/>
              </a:defRPr>
            </a:lvl6pPr>
            <a:lvl7pPr>
              <a:defRPr sz="2550" b="1">
                <a:solidFill>
                  <a:srgbClr val="F3F5F6"/>
                </a:solidFill>
                <a:latin typeface="Helvetica Neue"/>
                <a:ea typeface="Helvetica Neue"/>
                <a:cs typeface="Helvetica Neue"/>
              </a:defRPr>
            </a:lvl7pPr>
            <a:lvl8pPr>
              <a:defRPr sz="2550" b="1">
                <a:solidFill>
                  <a:srgbClr val="F3F5F6"/>
                </a:solidFill>
                <a:latin typeface="Helvetica Neue"/>
                <a:ea typeface="Helvetica Neue"/>
                <a:cs typeface="Helvetica Neue"/>
              </a:defRPr>
            </a:lvl8pPr>
            <a:lvl9pPr>
              <a:defRPr sz="2550" b="1">
                <a:solidFill>
                  <a:srgbClr val="F3F5F6"/>
                </a:solidFill>
                <a:latin typeface="Helvetica Neue"/>
                <a:ea typeface="Helvetica Neue"/>
                <a:cs typeface="Helvetica Neue"/>
              </a:defRPr>
            </a:lvl9pPr>
          </a:lstStyle>
          <a:p xmlns:a="http://schemas.openxmlformats.org/drawingml/2006/main">
            <a:pPr>
              <a:defRPr sz="2550" b="1">
                <a:solidFill>
                  <a:srgbClr val="F3F5F6"/>
                </a:solidFill>
                <a:latin typeface="Helvetica Neue"/>
                <a:ea typeface="Helvetica Neue"/>
                <a:cs typeface="Helvetica Neue"/>
              </a:defRPr>
            </a:pPr>
            <a:r>
              <a:rPr sz="2550" b="1">
                <a:solidFill>
                  <a:srgbClr val="F3F5F6"/>
                </a:solidFill>
                <a:latin typeface="Helvetica Neue"/>
                <a:ea typeface="Helvetica Neue"/>
                <a:cs typeface="Helvetica Neue"/>
              </a:rPr>
              <a:t>Music</a:t>
            </a:r>
          </a:p>
        </p:txBody>
      </p:sp>
      <p:sp>
        <p:nvSpPr>
          <p:cNvPr id="9" name="Spotify playback, volume and next track">
            <a:extLst xmlns:a="http://schemas.openxmlformats.org/drawingml/2006/main">
              <a:ext uri="{FF2B5EF4-FFF2-40B4-BE49-F238E27FC236}">
                <a16:creationId xmlns:a16="http://schemas.microsoft.com/office/drawing/2014/main" id="{0FBB0B53-F3AC-4417-9A6F-6C9BEDD18746}"/>
              </a:ext>
            </a:extLst>
          </p:cNvPr>
          <p:cNvSpPr>
            <a:spLocks xmlns:a="http://schemas.openxmlformats.org/drawingml/2006/main" noGrp="1"/>
          </p:cNvSpPr>
          <p:nvPr/>
        </p:nvSpPr>
        <p:spPr>
          <a:xfrm xmlns:a="http://schemas.openxmlformats.org/drawingml/2006/main">
            <a:off x="5534025" y="3733800"/>
            <a:ext cx="5981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B7C7"/>
                </a:solidFill>
                <a:latin typeface="Helvetica Neue"/>
                <a:ea typeface="Helvetica Neue"/>
                <a:cs typeface="Helvetica Neue"/>
              </a:defRPr>
            </a:defPPr>
            <a:lvl1pPr>
              <a:defRPr sz="2100" b="0">
                <a:solidFill>
                  <a:srgbClr val="ACB7C7"/>
                </a:solidFill>
                <a:latin typeface="Helvetica Neue"/>
                <a:ea typeface="Helvetica Neue"/>
                <a:cs typeface="Helvetica Neue"/>
              </a:defRPr>
            </a:lvl1pPr>
            <a:lvl2pPr>
              <a:defRPr sz="2100" b="0">
                <a:solidFill>
                  <a:srgbClr val="ACB7C7"/>
                </a:solidFill>
                <a:latin typeface="Helvetica Neue"/>
                <a:ea typeface="Helvetica Neue"/>
                <a:cs typeface="Helvetica Neue"/>
              </a:defRPr>
            </a:lvl2pPr>
            <a:lvl3pPr>
              <a:defRPr sz="2100" b="0">
                <a:solidFill>
                  <a:srgbClr val="ACB7C7"/>
                </a:solidFill>
                <a:latin typeface="Helvetica Neue"/>
                <a:ea typeface="Helvetica Neue"/>
                <a:cs typeface="Helvetica Neue"/>
              </a:defRPr>
            </a:lvl3pPr>
            <a:lvl4pPr>
              <a:defRPr sz="2100" b="0">
                <a:solidFill>
                  <a:srgbClr val="ACB7C7"/>
                </a:solidFill>
                <a:latin typeface="Helvetica Neue"/>
                <a:ea typeface="Helvetica Neue"/>
                <a:cs typeface="Helvetica Neue"/>
              </a:defRPr>
            </a:lvl4pPr>
            <a:lvl5pPr>
              <a:defRPr sz="2100" b="0">
                <a:solidFill>
                  <a:srgbClr val="ACB7C7"/>
                </a:solidFill>
                <a:latin typeface="Helvetica Neue"/>
                <a:ea typeface="Helvetica Neue"/>
                <a:cs typeface="Helvetica Neue"/>
              </a:defRPr>
            </a:lvl5pPr>
            <a:lvl6pPr>
              <a:defRPr sz="2100" b="0">
                <a:solidFill>
                  <a:srgbClr val="ACB7C7"/>
                </a:solidFill>
                <a:latin typeface="Helvetica Neue"/>
                <a:ea typeface="Helvetica Neue"/>
                <a:cs typeface="Helvetica Neue"/>
              </a:defRPr>
            </a:lvl6pPr>
            <a:lvl7pPr>
              <a:defRPr sz="2100" b="0">
                <a:solidFill>
                  <a:srgbClr val="ACB7C7"/>
                </a:solidFill>
                <a:latin typeface="Helvetica Neue"/>
                <a:ea typeface="Helvetica Neue"/>
                <a:cs typeface="Helvetica Neue"/>
              </a:defRPr>
            </a:lvl7pPr>
            <a:lvl8pPr>
              <a:defRPr sz="2100" b="0">
                <a:solidFill>
                  <a:srgbClr val="ACB7C7"/>
                </a:solidFill>
                <a:latin typeface="Helvetica Neue"/>
                <a:ea typeface="Helvetica Neue"/>
                <a:cs typeface="Helvetica Neue"/>
              </a:defRPr>
            </a:lvl8pPr>
            <a:lvl9pPr>
              <a:defRPr sz="2100" b="0">
                <a:solidFill>
                  <a:srgbClr val="ACB7C7"/>
                </a:solidFill>
                <a:latin typeface="Helvetica Neue"/>
                <a:ea typeface="Helvetica Neue"/>
                <a:cs typeface="Helvetica Neue"/>
              </a:defRPr>
            </a:lvl9pPr>
          </a:lstStyle>
          <a:p xmlns:a="http://schemas.openxmlformats.org/drawingml/2006/main">
            <a:pPr>
              <a:defRPr sz="2100" b="0">
                <a:solidFill>
                  <a:srgbClr val="ACB7C7"/>
                </a:solidFill>
                <a:latin typeface="Helvetica Neue"/>
                <a:ea typeface="Helvetica Neue"/>
                <a:cs typeface="Helvetica Neue"/>
              </a:defRPr>
            </a:pPr>
            <a:r>
              <a:rPr sz="2100" b="0">
                <a:solidFill>
                  <a:srgbClr val="ACB7C7"/>
                </a:solidFill>
                <a:latin typeface="Helvetica Neue"/>
                <a:ea typeface="Helvetica Neue"/>
                <a:cs typeface="Helvetica Neue"/>
              </a:rPr>
              <a:t>Spotify playback, volume and next track</a:t>
            </a:r>
          </a:p>
        </p:txBody>
      </p:sp>
      <p:sp>
        <p:nvSpPr>
          <p:cNvPr id="10" name="03">
            <a:extLst xmlns:a="http://schemas.openxmlformats.org/drawingml/2006/main">
              <a:ext uri="{FF2B5EF4-FFF2-40B4-BE49-F238E27FC236}">
                <a16:creationId xmlns:a16="http://schemas.microsoft.com/office/drawing/2014/main" id="{53CF0332-1B28-44A7-9A55-B5D5BEF75F0C}"/>
              </a:ext>
            </a:extLst>
          </p:cNvPr>
          <p:cNvSpPr>
            <a:spLocks xmlns:a="http://schemas.openxmlformats.org/drawingml/2006/main" noGrp="1"/>
          </p:cNvSpPr>
          <p:nvPr/>
        </p:nvSpPr>
        <p:spPr>
          <a:xfrm xmlns:a="http://schemas.openxmlformats.org/drawingml/2006/main">
            <a:off x="609600" y="4829175"/>
            <a:ext cx="109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a:solidFill>
                  <a:srgbClr val="83C9FA"/>
                </a:solidFill>
                <a:latin typeface="Helvetica Neue"/>
                <a:ea typeface="Helvetica Neue"/>
                <a:cs typeface="Helvetica Neue"/>
              </a:defRPr>
            </a:defPPr>
            <a:lvl1pPr>
              <a:defRPr sz="4350" b="0">
                <a:solidFill>
                  <a:srgbClr val="83C9FA"/>
                </a:solidFill>
                <a:latin typeface="Helvetica Neue"/>
                <a:ea typeface="Helvetica Neue"/>
                <a:cs typeface="Helvetica Neue"/>
              </a:defRPr>
            </a:lvl1pPr>
            <a:lvl2pPr>
              <a:defRPr sz="4350" b="0">
                <a:solidFill>
                  <a:srgbClr val="83C9FA"/>
                </a:solidFill>
                <a:latin typeface="Helvetica Neue"/>
                <a:ea typeface="Helvetica Neue"/>
                <a:cs typeface="Helvetica Neue"/>
              </a:defRPr>
            </a:lvl2pPr>
            <a:lvl3pPr>
              <a:defRPr sz="4350" b="0">
                <a:solidFill>
                  <a:srgbClr val="83C9FA"/>
                </a:solidFill>
                <a:latin typeface="Helvetica Neue"/>
                <a:ea typeface="Helvetica Neue"/>
                <a:cs typeface="Helvetica Neue"/>
              </a:defRPr>
            </a:lvl3pPr>
            <a:lvl4pPr>
              <a:defRPr sz="4350" b="0">
                <a:solidFill>
                  <a:srgbClr val="83C9FA"/>
                </a:solidFill>
                <a:latin typeface="Helvetica Neue"/>
                <a:ea typeface="Helvetica Neue"/>
                <a:cs typeface="Helvetica Neue"/>
              </a:defRPr>
            </a:lvl4pPr>
            <a:lvl5pPr>
              <a:defRPr sz="4350" b="0">
                <a:solidFill>
                  <a:srgbClr val="83C9FA"/>
                </a:solidFill>
                <a:latin typeface="Helvetica Neue"/>
                <a:ea typeface="Helvetica Neue"/>
                <a:cs typeface="Helvetica Neue"/>
              </a:defRPr>
            </a:lvl5pPr>
            <a:lvl6pPr>
              <a:defRPr sz="4350" b="0">
                <a:solidFill>
                  <a:srgbClr val="83C9FA"/>
                </a:solidFill>
                <a:latin typeface="Helvetica Neue"/>
                <a:ea typeface="Helvetica Neue"/>
                <a:cs typeface="Helvetica Neue"/>
              </a:defRPr>
            </a:lvl6pPr>
            <a:lvl7pPr>
              <a:defRPr sz="4350" b="0">
                <a:solidFill>
                  <a:srgbClr val="83C9FA"/>
                </a:solidFill>
                <a:latin typeface="Helvetica Neue"/>
                <a:ea typeface="Helvetica Neue"/>
                <a:cs typeface="Helvetica Neue"/>
              </a:defRPr>
            </a:lvl7pPr>
            <a:lvl8pPr>
              <a:defRPr sz="4350" b="0">
                <a:solidFill>
                  <a:srgbClr val="83C9FA"/>
                </a:solidFill>
                <a:latin typeface="Helvetica Neue"/>
                <a:ea typeface="Helvetica Neue"/>
                <a:cs typeface="Helvetica Neue"/>
              </a:defRPr>
            </a:lvl8pPr>
            <a:lvl9pPr>
              <a:defRPr sz="4350" b="0">
                <a:solidFill>
                  <a:srgbClr val="83C9FA"/>
                </a:solidFill>
                <a:latin typeface="Helvetica Neue"/>
                <a:ea typeface="Helvetica Neue"/>
                <a:cs typeface="Helvetica Neue"/>
              </a:defRPr>
            </a:lvl9pPr>
          </a:lstStyle>
          <a:p xmlns:a="http://schemas.openxmlformats.org/drawingml/2006/main">
            <a:pPr>
              <a:defRPr sz="4350" b="0">
                <a:solidFill>
                  <a:srgbClr val="83C9FA"/>
                </a:solidFill>
                <a:latin typeface="Helvetica Neue"/>
                <a:ea typeface="Helvetica Neue"/>
                <a:cs typeface="Helvetica Neue"/>
              </a:defRPr>
            </a:pPr>
            <a:r>
              <a:rPr sz="4350" b="0">
                <a:solidFill>
                  <a:srgbClr val="83C9FA"/>
                </a:solidFill>
                <a:latin typeface="Helvetica Neue"/>
                <a:ea typeface="Helvetica Neue"/>
                <a:cs typeface="Helvetica Neue"/>
              </a:rPr>
              <a:t>03</a:t>
            </a:r>
          </a:p>
        </p:txBody>
      </p:sp>
      <p:sp>
        <p:nvSpPr>
          <p:cNvPr id="11" name="Room scenes">
            <a:extLst xmlns:a="http://schemas.openxmlformats.org/drawingml/2006/main">
              <a:ext uri="{FF2B5EF4-FFF2-40B4-BE49-F238E27FC236}">
                <a16:creationId xmlns:a16="http://schemas.microsoft.com/office/drawing/2014/main" id="{AC9A0194-BED8-4176-B40C-7881CDFD762B}"/>
              </a:ext>
            </a:extLst>
          </p:cNvPr>
          <p:cNvSpPr>
            <a:spLocks xmlns:a="http://schemas.openxmlformats.org/drawingml/2006/main" noGrp="1"/>
          </p:cNvSpPr>
          <p:nvPr/>
        </p:nvSpPr>
        <p:spPr>
          <a:xfrm xmlns:a="http://schemas.openxmlformats.org/drawingml/2006/main">
            <a:off x="2076450" y="4905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3F5F6"/>
                </a:solidFill>
                <a:latin typeface="Helvetica Neue"/>
                <a:ea typeface="Helvetica Neue"/>
                <a:cs typeface="Helvetica Neue"/>
              </a:defRPr>
            </a:defPPr>
            <a:lvl1pPr>
              <a:defRPr sz="2550" b="1">
                <a:solidFill>
                  <a:srgbClr val="F3F5F6"/>
                </a:solidFill>
                <a:latin typeface="Helvetica Neue"/>
                <a:ea typeface="Helvetica Neue"/>
                <a:cs typeface="Helvetica Neue"/>
              </a:defRPr>
            </a:lvl1pPr>
            <a:lvl2pPr>
              <a:defRPr sz="2550" b="1">
                <a:solidFill>
                  <a:srgbClr val="F3F5F6"/>
                </a:solidFill>
                <a:latin typeface="Helvetica Neue"/>
                <a:ea typeface="Helvetica Neue"/>
                <a:cs typeface="Helvetica Neue"/>
              </a:defRPr>
            </a:lvl2pPr>
            <a:lvl3pPr>
              <a:defRPr sz="2550" b="1">
                <a:solidFill>
                  <a:srgbClr val="F3F5F6"/>
                </a:solidFill>
                <a:latin typeface="Helvetica Neue"/>
                <a:ea typeface="Helvetica Neue"/>
                <a:cs typeface="Helvetica Neue"/>
              </a:defRPr>
            </a:lvl3pPr>
            <a:lvl4pPr>
              <a:defRPr sz="2550" b="1">
                <a:solidFill>
                  <a:srgbClr val="F3F5F6"/>
                </a:solidFill>
                <a:latin typeface="Helvetica Neue"/>
                <a:ea typeface="Helvetica Neue"/>
                <a:cs typeface="Helvetica Neue"/>
              </a:defRPr>
            </a:lvl4pPr>
            <a:lvl5pPr>
              <a:defRPr sz="2550" b="1">
                <a:solidFill>
                  <a:srgbClr val="F3F5F6"/>
                </a:solidFill>
                <a:latin typeface="Helvetica Neue"/>
                <a:ea typeface="Helvetica Neue"/>
                <a:cs typeface="Helvetica Neue"/>
              </a:defRPr>
            </a:lvl5pPr>
            <a:lvl6pPr>
              <a:defRPr sz="2550" b="1">
                <a:solidFill>
                  <a:srgbClr val="F3F5F6"/>
                </a:solidFill>
                <a:latin typeface="Helvetica Neue"/>
                <a:ea typeface="Helvetica Neue"/>
                <a:cs typeface="Helvetica Neue"/>
              </a:defRPr>
            </a:lvl6pPr>
            <a:lvl7pPr>
              <a:defRPr sz="2550" b="1">
                <a:solidFill>
                  <a:srgbClr val="F3F5F6"/>
                </a:solidFill>
                <a:latin typeface="Helvetica Neue"/>
                <a:ea typeface="Helvetica Neue"/>
                <a:cs typeface="Helvetica Neue"/>
              </a:defRPr>
            </a:lvl7pPr>
            <a:lvl8pPr>
              <a:defRPr sz="2550" b="1">
                <a:solidFill>
                  <a:srgbClr val="F3F5F6"/>
                </a:solidFill>
                <a:latin typeface="Helvetica Neue"/>
                <a:ea typeface="Helvetica Neue"/>
                <a:cs typeface="Helvetica Neue"/>
              </a:defRPr>
            </a:lvl8pPr>
            <a:lvl9pPr>
              <a:defRPr sz="2550" b="1">
                <a:solidFill>
                  <a:srgbClr val="F3F5F6"/>
                </a:solidFill>
                <a:latin typeface="Helvetica Neue"/>
                <a:ea typeface="Helvetica Neue"/>
                <a:cs typeface="Helvetica Neue"/>
              </a:defRPr>
            </a:lvl9pPr>
          </a:lstStyle>
          <a:p xmlns:a="http://schemas.openxmlformats.org/drawingml/2006/main">
            <a:pPr>
              <a:defRPr sz="2550" b="1">
                <a:solidFill>
                  <a:srgbClr val="F3F5F6"/>
                </a:solidFill>
                <a:latin typeface="Helvetica Neue"/>
                <a:ea typeface="Helvetica Neue"/>
                <a:cs typeface="Helvetica Neue"/>
              </a:defRPr>
            </a:pPr>
            <a:r>
              <a:rPr sz="2550" b="1">
                <a:solidFill>
                  <a:srgbClr val="F3F5F6"/>
                </a:solidFill>
                <a:latin typeface="Helvetica Neue"/>
                <a:ea typeface="Helvetica Neue"/>
                <a:cs typeface="Helvetica Neue"/>
              </a:rPr>
              <a:t>Room scenes</a:t>
            </a:r>
          </a:p>
        </p:txBody>
      </p:sp>
      <p:sp>
        <p:nvSpPr>
          <p:cNvPr id="12" name="Calm, Study and Party&#10;coordinate light and music">
            <a:extLst xmlns:a="http://schemas.openxmlformats.org/drawingml/2006/main">
              <a:ext uri="{FF2B5EF4-FFF2-40B4-BE49-F238E27FC236}">
                <a16:creationId xmlns:a16="http://schemas.microsoft.com/office/drawing/2014/main" id="{8F68D965-7CDD-40EA-B6DD-54A3D32723EC}"/>
              </a:ext>
            </a:extLst>
          </p:cNvPr>
          <p:cNvSpPr>
            <a:spLocks xmlns:a="http://schemas.openxmlformats.org/drawingml/2006/main" noGrp="1"/>
          </p:cNvSpPr>
          <p:nvPr/>
        </p:nvSpPr>
        <p:spPr>
          <a:xfrm xmlns:a="http://schemas.openxmlformats.org/drawingml/2006/main">
            <a:off x="5534025" y="4914900"/>
            <a:ext cx="5981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B7C7"/>
                </a:solidFill>
                <a:latin typeface="Helvetica Neue"/>
                <a:ea typeface="Helvetica Neue"/>
                <a:cs typeface="Helvetica Neue"/>
              </a:defRPr>
            </a:defPPr>
            <a:lvl1pPr>
              <a:defRPr sz="2100" b="0">
                <a:solidFill>
                  <a:srgbClr val="ACB7C7"/>
                </a:solidFill>
                <a:latin typeface="Helvetica Neue"/>
                <a:ea typeface="Helvetica Neue"/>
                <a:cs typeface="Helvetica Neue"/>
              </a:defRPr>
            </a:lvl1pPr>
            <a:lvl2pPr>
              <a:defRPr sz="2100" b="0">
                <a:solidFill>
                  <a:srgbClr val="ACB7C7"/>
                </a:solidFill>
                <a:latin typeface="Helvetica Neue"/>
                <a:ea typeface="Helvetica Neue"/>
                <a:cs typeface="Helvetica Neue"/>
              </a:defRPr>
            </a:lvl2pPr>
            <a:lvl3pPr>
              <a:defRPr sz="2100" b="0">
                <a:solidFill>
                  <a:srgbClr val="ACB7C7"/>
                </a:solidFill>
                <a:latin typeface="Helvetica Neue"/>
                <a:ea typeface="Helvetica Neue"/>
                <a:cs typeface="Helvetica Neue"/>
              </a:defRPr>
            </a:lvl3pPr>
            <a:lvl4pPr>
              <a:defRPr sz="2100" b="0">
                <a:solidFill>
                  <a:srgbClr val="ACB7C7"/>
                </a:solidFill>
                <a:latin typeface="Helvetica Neue"/>
                <a:ea typeface="Helvetica Neue"/>
                <a:cs typeface="Helvetica Neue"/>
              </a:defRPr>
            </a:lvl4pPr>
            <a:lvl5pPr>
              <a:defRPr sz="2100" b="0">
                <a:solidFill>
                  <a:srgbClr val="ACB7C7"/>
                </a:solidFill>
                <a:latin typeface="Helvetica Neue"/>
                <a:ea typeface="Helvetica Neue"/>
                <a:cs typeface="Helvetica Neue"/>
              </a:defRPr>
            </a:lvl5pPr>
            <a:lvl6pPr>
              <a:defRPr sz="2100" b="0">
                <a:solidFill>
                  <a:srgbClr val="ACB7C7"/>
                </a:solidFill>
                <a:latin typeface="Helvetica Neue"/>
                <a:ea typeface="Helvetica Neue"/>
                <a:cs typeface="Helvetica Neue"/>
              </a:defRPr>
            </a:lvl6pPr>
            <a:lvl7pPr>
              <a:defRPr sz="2100" b="0">
                <a:solidFill>
                  <a:srgbClr val="ACB7C7"/>
                </a:solidFill>
                <a:latin typeface="Helvetica Neue"/>
                <a:ea typeface="Helvetica Neue"/>
                <a:cs typeface="Helvetica Neue"/>
              </a:defRPr>
            </a:lvl7pPr>
            <a:lvl8pPr>
              <a:defRPr sz="2100" b="0">
                <a:solidFill>
                  <a:srgbClr val="ACB7C7"/>
                </a:solidFill>
                <a:latin typeface="Helvetica Neue"/>
                <a:ea typeface="Helvetica Neue"/>
                <a:cs typeface="Helvetica Neue"/>
              </a:defRPr>
            </a:lvl8pPr>
            <a:lvl9pPr>
              <a:defRPr sz="2100" b="0">
                <a:solidFill>
                  <a:srgbClr val="ACB7C7"/>
                </a:solidFill>
                <a:latin typeface="Helvetica Neue"/>
                <a:ea typeface="Helvetica Neue"/>
                <a:cs typeface="Helvetica Neue"/>
              </a:defRPr>
            </a:lvl9pPr>
          </a:lstStyle>
          <a:p xmlns:a="http://schemas.openxmlformats.org/drawingml/2006/main">
            <a:pPr>
              <a:defRPr sz="2100" b="0">
                <a:solidFill>
                  <a:srgbClr val="ACB7C7"/>
                </a:solidFill>
                <a:latin typeface="Helvetica Neue"/>
                <a:ea typeface="Helvetica Neue"/>
                <a:cs typeface="Helvetica Neue"/>
              </a:defRPr>
            </a:pPr>
            <a:r>
              <a:rPr sz="2100" b="0">
                <a:solidFill>
                  <a:srgbClr val="ACB7C7"/>
                </a:solidFill>
                <a:latin typeface="Helvetica Neue"/>
                <a:ea typeface="Helvetica Neue"/>
                <a:cs typeface="Helvetica Neue"/>
              </a:rPr>
              <a:t>Calm, Study and Party</a:t>
            </a:r>
          </a:p>
          <a:p xmlns:a="http://schemas.openxmlformats.org/drawingml/2006/main">
            <a:pPr>
              <a:defRPr sz="2100" b="0">
                <a:solidFill>
                  <a:srgbClr val="ACB7C7"/>
                </a:solidFill>
                <a:latin typeface="Helvetica Neue"/>
                <a:ea typeface="Helvetica Neue"/>
                <a:cs typeface="Helvetica Neue"/>
              </a:defRPr>
            </a:pPr>
            <a:r>
              <a:rPr sz="2100" b="0">
                <a:solidFill>
                  <a:srgbClr val="ACB7C7"/>
                </a:solidFill>
                <a:latin typeface="Helvetica Neue"/>
                <a:ea typeface="Helvetica Neue"/>
                <a:cs typeface="Helvetica Neue"/>
              </a:rPr>
              <a:t>coordinate light and music</a:t>
            </a:r>
          </a:p>
        </p:txBody>
      </p:sp>
      <p:sp>
        <p:nvSpPr>
          <p:cNvPr id="13" name="Current scope: macOS, webcam, calibrated targets, ">
            <a:extLst xmlns:a="http://schemas.openxmlformats.org/drawingml/2006/main">
              <a:ext uri="{FF2B5EF4-FFF2-40B4-BE49-F238E27FC236}">
                <a16:creationId xmlns:a16="http://schemas.microsoft.com/office/drawing/2014/main" id="{499D0547-D8D3-4F8B-B205-38A1102AF1D8}"/>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Current scope: macOS, webcam, calibrated targets, paired Zigbee lamp and the Spotify desktop app.</a:t>
            </a:r>
          </a:p>
        </p:txBody>
      </p:sp>
    </p:spTree>
    <p:extLst>
      <p:ext uri="{BB962C8B-B14F-4D97-AF65-F5344CB8AC3E}">
        <p14:creationId xmlns:p14="http://schemas.microsoft.com/office/powerpoint/2010/main" val="1292052642"/>
      </p:ext>
    </p:extLst>
  </p:cSld>
</p:sld>
</file>

<file path=ppt/slides/slide4.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2" name="SPELLCAST">
            <a:extLst xmlns:a="http://schemas.openxmlformats.org/drawingml/2006/main">
              <a:ext uri="{FF2B5EF4-FFF2-40B4-BE49-F238E27FC236}">
                <a16:creationId xmlns:a16="http://schemas.microsoft.com/office/drawing/2014/main" id="{92883890-3826-4598-82EB-6BF6DB43385C}"/>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a:t>
            </a:r>
          </a:p>
        </p:txBody>
      </p:sp>
      <p:sp>
        <p:nvSpPr>
          <p:cNvPr id="2" name="04">
            <a:extLst xmlns:a="http://schemas.openxmlformats.org/drawingml/2006/main">
              <a:ext uri="{FF2B5EF4-FFF2-40B4-BE49-F238E27FC236}">
                <a16:creationId xmlns:a16="http://schemas.microsoft.com/office/drawing/2014/main" id="{D772463A-236A-448F-88F9-A4E0A9945414}"/>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04</a:t>
            </a:r>
          </a:p>
        </p:txBody>
      </p:sp>
      <p:sp>
        <p:nvSpPr>
          <p:cNvPr id="3" name="Watch the room respond">
            <a:extLst xmlns:a="http://schemas.openxmlformats.org/drawingml/2006/main">
              <a:ext uri="{FF2B5EF4-FFF2-40B4-BE49-F238E27FC236}">
                <a16:creationId xmlns:a16="http://schemas.microsoft.com/office/drawing/2014/main" id="{E8747761-D3EB-4B3C-AF01-E172E7FABD45}"/>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Watch the room respond</a:t>
            </a:r>
          </a:p>
        </p:txBody>
      </p:sp>
      <p:sp>
        <p:nvSpPr>
          <p:cNvPr id="4" name="LIVE DEMO">
            <a:extLst xmlns:a="http://schemas.openxmlformats.org/drawingml/2006/main">
              <a:ext uri="{FF2B5EF4-FFF2-40B4-BE49-F238E27FC236}">
                <a16:creationId xmlns:a16="http://schemas.microsoft.com/office/drawing/2014/main" id="{5AC1044C-DC15-4FA6-966B-F768F92FDC4B}"/>
              </a:ext>
            </a:extLst>
          </p:cNvPr>
          <p:cNvSpPr>
            <a:spLocks xmlns:a="http://schemas.openxmlformats.org/drawingml/2006/main" noGrp="1"/>
          </p:cNvSpPr>
          <p:nvPr/>
        </p:nvSpPr>
        <p:spPr>
          <a:xfrm xmlns:a="http://schemas.openxmlformats.org/drawingml/2006/main">
            <a:off x="628650" y="2276475"/>
            <a:ext cx="762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83C9FA"/>
                </a:solidFill>
                <a:latin typeface="Helvetica Neue"/>
                <a:ea typeface="Helvetica Neue"/>
                <a:cs typeface="Helvetica Neue"/>
              </a:defRPr>
            </a:defPPr>
            <a:lvl1pPr>
              <a:defRPr sz="3000" b="1">
                <a:solidFill>
                  <a:srgbClr val="83C9FA"/>
                </a:solidFill>
                <a:latin typeface="Helvetica Neue"/>
                <a:ea typeface="Helvetica Neue"/>
                <a:cs typeface="Helvetica Neue"/>
              </a:defRPr>
            </a:lvl1pPr>
            <a:lvl2pPr>
              <a:defRPr sz="3000" b="1">
                <a:solidFill>
                  <a:srgbClr val="83C9FA"/>
                </a:solidFill>
                <a:latin typeface="Helvetica Neue"/>
                <a:ea typeface="Helvetica Neue"/>
                <a:cs typeface="Helvetica Neue"/>
              </a:defRPr>
            </a:lvl2pPr>
            <a:lvl3pPr>
              <a:defRPr sz="3000" b="1">
                <a:solidFill>
                  <a:srgbClr val="83C9FA"/>
                </a:solidFill>
                <a:latin typeface="Helvetica Neue"/>
                <a:ea typeface="Helvetica Neue"/>
                <a:cs typeface="Helvetica Neue"/>
              </a:defRPr>
            </a:lvl3pPr>
            <a:lvl4pPr>
              <a:defRPr sz="3000" b="1">
                <a:solidFill>
                  <a:srgbClr val="83C9FA"/>
                </a:solidFill>
                <a:latin typeface="Helvetica Neue"/>
                <a:ea typeface="Helvetica Neue"/>
                <a:cs typeface="Helvetica Neue"/>
              </a:defRPr>
            </a:lvl4pPr>
            <a:lvl5pPr>
              <a:defRPr sz="3000" b="1">
                <a:solidFill>
                  <a:srgbClr val="83C9FA"/>
                </a:solidFill>
                <a:latin typeface="Helvetica Neue"/>
                <a:ea typeface="Helvetica Neue"/>
                <a:cs typeface="Helvetica Neue"/>
              </a:defRPr>
            </a:lvl5pPr>
            <a:lvl6pPr>
              <a:defRPr sz="3000" b="1">
                <a:solidFill>
                  <a:srgbClr val="83C9FA"/>
                </a:solidFill>
                <a:latin typeface="Helvetica Neue"/>
                <a:ea typeface="Helvetica Neue"/>
                <a:cs typeface="Helvetica Neue"/>
              </a:defRPr>
            </a:lvl6pPr>
            <a:lvl7pPr>
              <a:defRPr sz="3000" b="1">
                <a:solidFill>
                  <a:srgbClr val="83C9FA"/>
                </a:solidFill>
                <a:latin typeface="Helvetica Neue"/>
                <a:ea typeface="Helvetica Neue"/>
                <a:cs typeface="Helvetica Neue"/>
              </a:defRPr>
            </a:lvl7pPr>
            <a:lvl8pPr>
              <a:defRPr sz="3000" b="1">
                <a:solidFill>
                  <a:srgbClr val="83C9FA"/>
                </a:solidFill>
                <a:latin typeface="Helvetica Neue"/>
                <a:ea typeface="Helvetica Neue"/>
                <a:cs typeface="Helvetica Neue"/>
              </a:defRPr>
            </a:lvl8pPr>
            <a:lvl9pPr>
              <a:defRPr sz="3000" b="1">
                <a:solidFill>
                  <a:srgbClr val="83C9FA"/>
                </a:solidFill>
                <a:latin typeface="Helvetica Neue"/>
                <a:ea typeface="Helvetica Neue"/>
                <a:cs typeface="Helvetica Neue"/>
              </a:defRPr>
            </a:lvl9pPr>
          </a:lstStyle>
          <a:p xmlns:a="http://schemas.openxmlformats.org/drawingml/2006/main">
            <a:pPr>
              <a:defRPr sz="3000" b="1">
                <a:solidFill>
                  <a:srgbClr val="83C9FA"/>
                </a:solidFill>
                <a:latin typeface="Helvetica Neue"/>
                <a:ea typeface="Helvetica Neue"/>
                <a:cs typeface="Helvetica Neue"/>
              </a:defRPr>
            </a:pPr>
            <a:r>
              <a:rPr sz="3000" b="1">
                <a:solidFill>
                  <a:srgbClr val="83C9FA"/>
                </a:solidFill>
                <a:latin typeface="Helvetica Neue"/>
                <a:ea typeface="Helvetica Neue"/>
                <a:cs typeface="Helvetica Neue"/>
              </a:rPr>
              <a:t>LIVE DEMO</a:t>
            </a:r>
          </a:p>
        </p:txBody>
      </p:sp>
      <p:sp>
        <p:nvSpPr>
          <p:cNvPr id="5" name="Lamp">
            <a:extLst xmlns:a="http://schemas.openxmlformats.org/drawingml/2006/main">
              <a:ext uri="{FF2B5EF4-FFF2-40B4-BE49-F238E27FC236}">
                <a16:creationId xmlns:a16="http://schemas.microsoft.com/office/drawing/2014/main" id="{E9C743B6-2F47-4EB8-90A2-BE7EC3A56365}"/>
              </a:ext>
            </a:extLst>
          </p:cNvPr>
          <p:cNvSpPr>
            <a:spLocks xmlns:a="http://schemas.openxmlformats.org/drawingml/2006/main" noGrp="1"/>
          </p:cNvSpPr>
          <p:nvPr/>
        </p:nvSpPr>
        <p:spPr>
          <a:xfrm xmlns:a="http://schemas.openxmlformats.org/drawingml/2006/main">
            <a:off x="609600" y="3333750"/>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3F5F6"/>
                </a:solidFill>
                <a:latin typeface="Helvetica Neue"/>
                <a:ea typeface="Helvetica Neue"/>
                <a:cs typeface="Helvetica Neue"/>
              </a:defRPr>
            </a:defPPr>
            <a:lvl1pPr>
              <a:defRPr sz="3300" b="1">
                <a:solidFill>
                  <a:srgbClr val="F3F5F6"/>
                </a:solidFill>
                <a:latin typeface="Helvetica Neue"/>
                <a:ea typeface="Helvetica Neue"/>
                <a:cs typeface="Helvetica Neue"/>
              </a:defRPr>
            </a:lvl1pPr>
            <a:lvl2pPr>
              <a:defRPr sz="3300" b="1">
                <a:solidFill>
                  <a:srgbClr val="F3F5F6"/>
                </a:solidFill>
                <a:latin typeface="Helvetica Neue"/>
                <a:ea typeface="Helvetica Neue"/>
                <a:cs typeface="Helvetica Neue"/>
              </a:defRPr>
            </a:lvl2pPr>
            <a:lvl3pPr>
              <a:defRPr sz="3300" b="1">
                <a:solidFill>
                  <a:srgbClr val="F3F5F6"/>
                </a:solidFill>
                <a:latin typeface="Helvetica Neue"/>
                <a:ea typeface="Helvetica Neue"/>
                <a:cs typeface="Helvetica Neue"/>
              </a:defRPr>
            </a:lvl3pPr>
            <a:lvl4pPr>
              <a:defRPr sz="3300" b="1">
                <a:solidFill>
                  <a:srgbClr val="F3F5F6"/>
                </a:solidFill>
                <a:latin typeface="Helvetica Neue"/>
                <a:ea typeface="Helvetica Neue"/>
                <a:cs typeface="Helvetica Neue"/>
              </a:defRPr>
            </a:lvl4pPr>
            <a:lvl5pPr>
              <a:defRPr sz="3300" b="1">
                <a:solidFill>
                  <a:srgbClr val="F3F5F6"/>
                </a:solidFill>
                <a:latin typeface="Helvetica Neue"/>
                <a:ea typeface="Helvetica Neue"/>
                <a:cs typeface="Helvetica Neue"/>
              </a:defRPr>
            </a:lvl5pPr>
            <a:lvl6pPr>
              <a:defRPr sz="3300" b="1">
                <a:solidFill>
                  <a:srgbClr val="F3F5F6"/>
                </a:solidFill>
                <a:latin typeface="Helvetica Neue"/>
                <a:ea typeface="Helvetica Neue"/>
                <a:cs typeface="Helvetica Neue"/>
              </a:defRPr>
            </a:lvl6pPr>
            <a:lvl7pPr>
              <a:defRPr sz="3300" b="1">
                <a:solidFill>
                  <a:srgbClr val="F3F5F6"/>
                </a:solidFill>
                <a:latin typeface="Helvetica Neue"/>
                <a:ea typeface="Helvetica Neue"/>
                <a:cs typeface="Helvetica Neue"/>
              </a:defRPr>
            </a:lvl7pPr>
            <a:lvl8pPr>
              <a:defRPr sz="3300" b="1">
                <a:solidFill>
                  <a:srgbClr val="F3F5F6"/>
                </a:solidFill>
                <a:latin typeface="Helvetica Neue"/>
                <a:ea typeface="Helvetica Neue"/>
                <a:cs typeface="Helvetica Neue"/>
              </a:defRPr>
            </a:lvl8pPr>
            <a:lvl9pPr>
              <a:defRPr sz="3300" b="1">
                <a:solidFill>
                  <a:srgbClr val="F3F5F6"/>
                </a:solidFill>
                <a:latin typeface="Helvetica Neue"/>
                <a:ea typeface="Helvetica Neue"/>
                <a:cs typeface="Helvetica Neue"/>
              </a:defRPr>
            </a:lvl9pPr>
          </a:lstStyle>
          <a:p xmlns:a="http://schemas.openxmlformats.org/drawingml/2006/main">
            <a:pPr>
              <a:defRPr sz="3300" b="1">
                <a:solidFill>
                  <a:srgbClr val="F3F5F6"/>
                </a:solidFill>
                <a:latin typeface="Helvetica Neue"/>
                <a:ea typeface="Helvetica Neue"/>
                <a:cs typeface="Helvetica Neue"/>
              </a:defRPr>
            </a:pPr>
            <a:r>
              <a:rPr sz="3300" b="1">
                <a:solidFill>
                  <a:srgbClr val="F3F5F6"/>
                </a:solidFill>
                <a:latin typeface="Helvetica Neue"/>
                <a:ea typeface="Helvetica Neue"/>
                <a:cs typeface="Helvetica Neue"/>
              </a:rPr>
              <a:t>Lamp</a:t>
            </a:r>
          </a:p>
        </p:txBody>
      </p:sp>
      <p:sp>
        <p:nvSpPr>
          <p:cNvPr id="6" name="Point to select.&#10;Open or close your hand.&#10;Raise or">
            <a:extLst xmlns:a="http://schemas.openxmlformats.org/drawingml/2006/main">
              <a:ext uri="{FF2B5EF4-FFF2-40B4-BE49-F238E27FC236}">
                <a16:creationId xmlns:a16="http://schemas.microsoft.com/office/drawing/2014/main" id="{52CD97DC-9410-4B24-ABCC-32CC601ECA81}"/>
              </a:ext>
            </a:extLst>
          </p:cNvPr>
          <p:cNvSpPr>
            <a:spLocks xmlns:a="http://schemas.openxmlformats.org/drawingml/2006/main" noGrp="1"/>
          </p:cNvSpPr>
          <p:nvPr/>
        </p:nvSpPr>
        <p:spPr>
          <a:xfrm xmlns:a="http://schemas.openxmlformats.org/drawingml/2006/main">
            <a:off x="609600" y="4124325"/>
            <a:ext cx="3095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B7C7"/>
                </a:solidFill>
                <a:latin typeface="Helvetica Neue"/>
                <a:ea typeface="Helvetica Neue"/>
                <a:cs typeface="Helvetica Neue"/>
              </a:defRPr>
            </a:defPPr>
            <a:lvl1pPr>
              <a:defRPr sz="2025" b="0">
                <a:solidFill>
                  <a:srgbClr val="ACB7C7"/>
                </a:solidFill>
                <a:latin typeface="Helvetica Neue"/>
                <a:ea typeface="Helvetica Neue"/>
                <a:cs typeface="Helvetica Neue"/>
              </a:defRPr>
            </a:lvl1pPr>
            <a:lvl2pPr>
              <a:defRPr sz="2025" b="0">
                <a:solidFill>
                  <a:srgbClr val="ACB7C7"/>
                </a:solidFill>
                <a:latin typeface="Helvetica Neue"/>
                <a:ea typeface="Helvetica Neue"/>
                <a:cs typeface="Helvetica Neue"/>
              </a:defRPr>
            </a:lvl2pPr>
            <a:lvl3pPr>
              <a:defRPr sz="2025" b="0">
                <a:solidFill>
                  <a:srgbClr val="ACB7C7"/>
                </a:solidFill>
                <a:latin typeface="Helvetica Neue"/>
                <a:ea typeface="Helvetica Neue"/>
                <a:cs typeface="Helvetica Neue"/>
              </a:defRPr>
            </a:lvl3pPr>
            <a:lvl4pPr>
              <a:defRPr sz="2025" b="0">
                <a:solidFill>
                  <a:srgbClr val="ACB7C7"/>
                </a:solidFill>
                <a:latin typeface="Helvetica Neue"/>
                <a:ea typeface="Helvetica Neue"/>
                <a:cs typeface="Helvetica Neue"/>
              </a:defRPr>
            </a:lvl4pPr>
            <a:lvl5pPr>
              <a:defRPr sz="2025" b="0">
                <a:solidFill>
                  <a:srgbClr val="ACB7C7"/>
                </a:solidFill>
                <a:latin typeface="Helvetica Neue"/>
                <a:ea typeface="Helvetica Neue"/>
                <a:cs typeface="Helvetica Neue"/>
              </a:defRPr>
            </a:lvl5pPr>
            <a:lvl6pPr>
              <a:defRPr sz="2025" b="0">
                <a:solidFill>
                  <a:srgbClr val="ACB7C7"/>
                </a:solidFill>
                <a:latin typeface="Helvetica Neue"/>
                <a:ea typeface="Helvetica Neue"/>
                <a:cs typeface="Helvetica Neue"/>
              </a:defRPr>
            </a:lvl6pPr>
            <a:lvl7pPr>
              <a:defRPr sz="2025" b="0">
                <a:solidFill>
                  <a:srgbClr val="ACB7C7"/>
                </a:solidFill>
                <a:latin typeface="Helvetica Neue"/>
                <a:ea typeface="Helvetica Neue"/>
                <a:cs typeface="Helvetica Neue"/>
              </a:defRPr>
            </a:lvl7pPr>
            <a:lvl8pPr>
              <a:defRPr sz="2025" b="0">
                <a:solidFill>
                  <a:srgbClr val="ACB7C7"/>
                </a:solidFill>
                <a:latin typeface="Helvetica Neue"/>
                <a:ea typeface="Helvetica Neue"/>
                <a:cs typeface="Helvetica Neue"/>
              </a:defRPr>
            </a:lvl8pPr>
            <a:lvl9pPr>
              <a:defRPr sz="2025" b="0">
                <a:solidFill>
                  <a:srgbClr val="ACB7C7"/>
                </a:solidFill>
                <a:latin typeface="Helvetica Neue"/>
                <a:ea typeface="Helvetica Neue"/>
                <a:cs typeface="Helvetica Neue"/>
              </a:defRPr>
            </a:lvl9pPr>
          </a:lstStyle>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Point to select.</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Open or close your hand.</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Raise or lower brightness.</a:t>
            </a:r>
          </a:p>
        </p:txBody>
      </p:sp>
      <p:sp>
        <p:nvSpPr>
          <p:cNvPr id="7" name="Music">
            <a:extLst xmlns:a="http://schemas.openxmlformats.org/drawingml/2006/main">
              <a:ext uri="{FF2B5EF4-FFF2-40B4-BE49-F238E27FC236}">
                <a16:creationId xmlns:a16="http://schemas.microsoft.com/office/drawing/2014/main" id="{3462EE63-B80A-44DD-B04D-55AF9C9302EC}"/>
              </a:ext>
            </a:extLst>
          </p:cNvPr>
          <p:cNvSpPr>
            <a:spLocks xmlns:a="http://schemas.openxmlformats.org/drawingml/2006/main" noGrp="1"/>
          </p:cNvSpPr>
          <p:nvPr/>
        </p:nvSpPr>
        <p:spPr>
          <a:xfrm xmlns:a="http://schemas.openxmlformats.org/drawingml/2006/main">
            <a:off x="4457700" y="3333750"/>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3F5F6"/>
                </a:solidFill>
                <a:latin typeface="Helvetica Neue"/>
                <a:ea typeface="Helvetica Neue"/>
                <a:cs typeface="Helvetica Neue"/>
              </a:defRPr>
            </a:defPPr>
            <a:lvl1pPr>
              <a:defRPr sz="3300" b="1">
                <a:solidFill>
                  <a:srgbClr val="F3F5F6"/>
                </a:solidFill>
                <a:latin typeface="Helvetica Neue"/>
                <a:ea typeface="Helvetica Neue"/>
                <a:cs typeface="Helvetica Neue"/>
              </a:defRPr>
            </a:lvl1pPr>
            <a:lvl2pPr>
              <a:defRPr sz="3300" b="1">
                <a:solidFill>
                  <a:srgbClr val="F3F5F6"/>
                </a:solidFill>
                <a:latin typeface="Helvetica Neue"/>
                <a:ea typeface="Helvetica Neue"/>
                <a:cs typeface="Helvetica Neue"/>
              </a:defRPr>
            </a:lvl2pPr>
            <a:lvl3pPr>
              <a:defRPr sz="3300" b="1">
                <a:solidFill>
                  <a:srgbClr val="F3F5F6"/>
                </a:solidFill>
                <a:latin typeface="Helvetica Neue"/>
                <a:ea typeface="Helvetica Neue"/>
                <a:cs typeface="Helvetica Neue"/>
              </a:defRPr>
            </a:lvl3pPr>
            <a:lvl4pPr>
              <a:defRPr sz="3300" b="1">
                <a:solidFill>
                  <a:srgbClr val="F3F5F6"/>
                </a:solidFill>
                <a:latin typeface="Helvetica Neue"/>
                <a:ea typeface="Helvetica Neue"/>
                <a:cs typeface="Helvetica Neue"/>
              </a:defRPr>
            </a:lvl4pPr>
            <a:lvl5pPr>
              <a:defRPr sz="3300" b="1">
                <a:solidFill>
                  <a:srgbClr val="F3F5F6"/>
                </a:solidFill>
                <a:latin typeface="Helvetica Neue"/>
                <a:ea typeface="Helvetica Neue"/>
                <a:cs typeface="Helvetica Neue"/>
              </a:defRPr>
            </a:lvl5pPr>
            <a:lvl6pPr>
              <a:defRPr sz="3300" b="1">
                <a:solidFill>
                  <a:srgbClr val="F3F5F6"/>
                </a:solidFill>
                <a:latin typeface="Helvetica Neue"/>
                <a:ea typeface="Helvetica Neue"/>
                <a:cs typeface="Helvetica Neue"/>
              </a:defRPr>
            </a:lvl6pPr>
            <a:lvl7pPr>
              <a:defRPr sz="3300" b="1">
                <a:solidFill>
                  <a:srgbClr val="F3F5F6"/>
                </a:solidFill>
                <a:latin typeface="Helvetica Neue"/>
                <a:ea typeface="Helvetica Neue"/>
                <a:cs typeface="Helvetica Neue"/>
              </a:defRPr>
            </a:lvl7pPr>
            <a:lvl8pPr>
              <a:defRPr sz="3300" b="1">
                <a:solidFill>
                  <a:srgbClr val="F3F5F6"/>
                </a:solidFill>
                <a:latin typeface="Helvetica Neue"/>
                <a:ea typeface="Helvetica Neue"/>
                <a:cs typeface="Helvetica Neue"/>
              </a:defRPr>
            </a:lvl8pPr>
            <a:lvl9pPr>
              <a:defRPr sz="3300" b="1">
                <a:solidFill>
                  <a:srgbClr val="F3F5F6"/>
                </a:solidFill>
                <a:latin typeface="Helvetica Neue"/>
                <a:ea typeface="Helvetica Neue"/>
                <a:cs typeface="Helvetica Neue"/>
              </a:defRPr>
            </a:lvl9pPr>
          </a:lstStyle>
          <a:p xmlns:a="http://schemas.openxmlformats.org/drawingml/2006/main">
            <a:pPr>
              <a:defRPr sz="3300" b="1">
                <a:solidFill>
                  <a:srgbClr val="F3F5F6"/>
                </a:solidFill>
                <a:latin typeface="Helvetica Neue"/>
                <a:ea typeface="Helvetica Neue"/>
                <a:cs typeface="Helvetica Neue"/>
              </a:defRPr>
            </a:pPr>
            <a:r>
              <a:rPr sz="3300" b="1">
                <a:solidFill>
                  <a:srgbClr val="F3F5F6"/>
                </a:solidFill>
                <a:latin typeface="Helvetica Neue"/>
                <a:ea typeface="Helvetica Neue"/>
                <a:cs typeface="Helvetica Neue"/>
              </a:rPr>
              <a:t>Music</a:t>
            </a:r>
          </a:p>
        </p:txBody>
      </p:sp>
      <p:sp>
        <p:nvSpPr>
          <p:cNvPr id="8" name="Point at the speaker.&#10;Raise or lower the&#10;Spotify v">
            <a:extLst xmlns:a="http://schemas.openxmlformats.org/drawingml/2006/main">
              <a:ext uri="{FF2B5EF4-FFF2-40B4-BE49-F238E27FC236}">
                <a16:creationId xmlns:a16="http://schemas.microsoft.com/office/drawing/2014/main" id="{9119BA3A-98CC-4558-B900-9D683E29E3BB}"/>
              </a:ext>
            </a:extLst>
          </p:cNvPr>
          <p:cNvSpPr>
            <a:spLocks xmlns:a="http://schemas.openxmlformats.org/drawingml/2006/main" noGrp="1"/>
          </p:cNvSpPr>
          <p:nvPr/>
        </p:nvSpPr>
        <p:spPr>
          <a:xfrm xmlns:a="http://schemas.openxmlformats.org/drawingml/2006/main">
            <a:off x="4457700" y="4124325"/>
            <a:ext cx="3095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B7C7"/>
                </a:solidFill>
                <a:latin typeface="Helvetica Neue"/>
                <a:ea typeface="Helvetica Neue"/>
                <a:cs typeface="Helvetica Neue"/>
              </a:defRPr>
            </a:defPPr>
            <a:lvl1pPr>
              <a:defRPr sz="2025" b="0">
                <a:solidFill>
                  <a:srgbClr val="ACB7C7"/>
                </a:solidFill>
                <a:latin typeface="Helvetica Neue"/>
                <a:ea typeface="Helvetica Neue"/>
                <a:cs typeface="Helvetica Neue"/>
              </a:defRPr>
            </a:lvl1pPr>
            <a:lvl2pPr>
              <a:defRPr sz="2025" b="0">
                <a:solidFill>
                  <a:srgbClr val="ACB7C7"/>
                </a:solidFill>
                <a:latin typeface="Helvetica Neue"/>
                <a:ea typeface="Helvetica Neue"/>
                <a:cs typeface="Helvetica Neue"/>
              </a:defRPr>
            </a:lvl2pPr>
            <a:lvl3pPr>
              <a:defRPr sz="2025" b="0">
                <a:solidFill>
                  <a:srgbClr val="ACB7C7"/>
                </a:solidFill>
                <a:latin typeface="Helvetica Neue"/>
                <a:ea typeface="Helvetica Neue"/>
                <a:cs typeface="Helvetica Neue"/>
              </a:defRPr>
            </a:lvl3pPr>
            <a:lvl4pPr>
              <a:defRPr sz="2025" b="0">
                <a:solidFill>
                  <a:srgbClr val="ACB7C7"/>
                </a:solidFill>
                <a:latin typeface="Helvetica Neue"/>
                <a:ea typeface="Helvetica Neue"/>
                <a:cs typeface="Helvetica Neue"/>
              </a:defRPr>
            </a:lvl4pPr>
            <a:lvl5pPr>
              <a:defRPr sz="2025" b="0">
                <a:solidFill>
                  <a:srgbClr val="ACB7C7"/>
                </a:solidFill>
                <a:latin typeface="Helvetica Neue"/>
                <a:ea typeface="Helvetica Neue"/>
                <a:cs typeface="Helvetica Neue"/>
              </a:defRPr>
            </a:lvl5pPr>
            <a:lvl6pPr>
              <a:defRPr sz="2025" b="0">
                <a:solidFill>
                  <a:srgbClr val="ACB7C7"/>
                </a:solidFill>
                <a:latin typeface="Helvetica Neue"/>
                <a:ea typeface="Helvetica Neue"/>
                <a:cs typeface="Helvetica Neue"/>
              </a:defRPr>
            </a:lvl6pPr>
            <a:lvl7pPr>
              <a:defRPr sz="2025" b="0">
                <a:solidFill>
                  <a:srgbClr val="ACB7C7"/>
                </a:solidFill>
                <a:latin typeface="Helvetica Neue"/>
                <a:ea typeface="Helvetica Neue"/>
                <a:cs typeface="Helvetica Neue"/>
              </a:defRPr>
            </a:lvl7pPr>
            <a:lvl8pPr>
              <a:defRPr sz="2025" b="0">
                <a:solidFill>
                  <a:srgbClr val="ACB7C7"/>
                </a:solidFill>
                <a:latin typeface="Helvetica Neue"/>
                <a:ea typeface="Helvetica Neue"/>
                <a:cs typeface="Helvetica Neue"/>
              </a:defRPr>
            </a:lvl8pPr>
            <a:lvl9pPr>
              <a:defRPr sz="2025" b="0">
                <a:solidFill>
                  <a:srgbClr val="ACB7C7"/>
                </a:solidFill>
                <a:latin typeface="Helvetica Neue"/>
                <a:ea typeface="Helvetica Neue"/>
                <a:cs typeface="Helvetica Neue"/>
              </a:defRPr>
            </a:lvl9pPr>
          </a:lstStyle>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Point at the speaker.</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Raise or lower the</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Spotify volume.</a:t>
            </a:r>
          </a:p>
        </p:txBody>
      </p:sp>
      <p:sp>
        <p:nvSpPr>
          <p:cNvPr id="9" name="Scene">
            <a:extLst xmlns:a="http://schemas.openxmlformats.org/drawingml/2006/main">
              <a:ext uri="{FF2B5EF4-FFF2-40B4-BE49-F238E27FC236}">
                <a16:creationId xmlns:a16="http://schemas.microsoft.com/office/drawing/2014/main" id="{8188657E-7E0F-4E15-B612-D3067CF4BA72}"/>
              </a:ext>
            </a:extLst>
          </p:cNvPr>
          <p:cNvSpPr>
            <a:spLocks xmlns:a="http://schemas.openxmlformats.org/drawingml/2006/main" noGrp="1"/>
          </p:cNvSpPr>
          <p:nvPr/>
        </p:nvSpPr>
        <p:spPr>
          <a:xfrm xmlns:a="http://schemas.openxmlformats.org/drawingml/2006/main">
            <a:off x="8305800" y="33337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3F5F6"/>
                </a:solidFill>
                <a:latin typeface="Helvetica Neue"/>
                <a:ea typeface="Helvetica Neue"/>
                <a:cs typeface="Helvetica Neue"/>
              </a:defRPr>
            </a:defPPr>
            <a:lvl1pPr>
              <a:defRPr sz="3300" b="1">
                <a:solidFill>
                  <a:srgbClr val="F3F5F6"/>
                </a:solidFill>
                <a:latin typeface="Helvetica Neue"/>
                <a:ea typeface="Helvetica Neue"/>
                <a:cs typeface="Helvetica Neue"/>
              </a:defRPr>
            </a:lvl1pPr>
            <a:lvl2pPr>
              <a:defRPr sz="3300" b="1">
                <a:solidFill>
                  <a:srgbClr val="F3F5F6"/>
                </a:solidFill>
                <a:latin typeface="Helvetica Neue"/>
                <a:ea typeface="Helvetica Neue"/>
                <a:cs typeface="Helvetica Neue"/>
              </a:defRPr>
            </a:lvl2pPr>
            <a:lvl3pPr>
              <a:defRPr sz="3300" b="1">
                <a:solidFill>
                  <a:srgbClr val="F3F5F6"/>
                </a:solidFill>
                <a:latin typeface="Helvetica Neue"/>
                <a:ea typeface="Helvetica Neue"/>
                <a:cs typeface="Helvetica Neue"/>
              </a:defRPr>
            </a:lvl3pPr>
            <a:lvl4pPr>
              <a:defRPr sz="3300" b="1">
                <a:solidFill>
                  <a:srgbClr val="F3F5F6"/>
                </a:solidFill>
                <a:latin typeface="Helvetica Neue"/>
                <a:ea typeface="Helvetica Neue"/>
                <a:cs typeface="Helvetica Neue"/>
              </a:defRPr>
            </a:lvl4pPr>
            <a:lvl5pPr>
              <a:defRPr sz="3300" b="1">
                <a:solidFill>
                  <a:srgbClr val="F3F5F6"/>
                </a:solidFill>
                <a:latin typeface="Helvetica Neue"/>
                <a:ea typeface="Helvetica Neue"/>
                <a:cs typeface="Helvetica Neue"/>
              </a:defRPr>
            </a:lvl5pPr>
            <a:lvl6pPr>
              <a:defRPr sz="3300" b="1">
                <a:solidFill>
                  <a:srgbClr val="F3F5F6"/>
                </a:solidFill>
                <a:latin typeface="Helvetica Neue"/>
                <a:ea typeface="Helvetica Neue"/>
                <a:cs typeface="Helvetica Neue"/>
              </a:defRPr>
            </a:lvl6pPr>
            <a:lvl7pPr>
              <a:defRPr sz="3300" b="1">
                <a:solidFill>
                  <a:srgbClr val="F3F5F6"/>
                </a:solidFill>
                <a:latin typeface="Helvetica Neue"/>
                <a:ea typeface="Helvetica Neue"/>
                <a:cs typeface="Helvetica Neue"/>
              </a:defRPr>
            </a:lvl7pPr>
            <a:lvl8pPr>
              <a:defRPr sz="3300" b="1">
                <a:solidFill>
                  <a:srgbClr val="F3F5F6"/>
                </a:solidFill>
                <a:latin typeface="Helvetica Neue"/>
                <a:ea typeface="Helvetica Neue"/>
                <a:cs typeface="Helvetica Neue"/>
              </a:defRPr>
            </a:lvl8pPr>
            <a:lvl9pPr>
              <a:defRPr sz="3300" b="1">
                <a:solidFill>
                  <a:srgbClr val="F3F5F6"/>
                </a:solidFill>
                <a:latin typeface="Helvetica Neue"/>
                <a:ea typeface="Helvetica Neue"/>
                <a:cs typeface="Helvetica Neue"/>
              </a:defRPr>
            </a:lvl9pPr>
          </a:lstStyle>
          <a:p xmlns:a="http://schemas.openxmlformats.org/drawingml/2006/main">
            <a:pPr>
              <a:defRPr sz="3300" b="1">
                <a:solidFill>
                  <a:srgbClr val="F3F5F6"/>
                </a:solidFill>
                <a:latin typeface="Helvetica Neue"/>
                <a:ea typeface="Helvetica Neue"/>
                <a:cs typeface="Helvetica Neue"/>
              </a:defRPr>
            </a:pPr>
            <a:r>
              <a:rPr sz="3300" b="1">
                <a:solidFill>
                  <a:srgbClr val="F3F5F6"/>
                </a:solidFill>
                <a:latin typeface="Helvetica Neue"/>
                <a:ea typeface="Helvetica Neue"/>
                <a:cs typeface="Helvetica Neue"/>
              </a:rPr>
              <a:t>Scene</a:t>
            </a:r>
          </a:p>
        </p:txBody>
      </p:sp>
      <p:sp>
        <p:nvSpPr>
          <p:cNvPr id="10" name="Tap index fingertips&#10;together twice to change&#10;ligh">
            <a:extLst xmlns:a="http://schemas.openxmlformats.org/drawingml/2006/main">
              <a:ext uri="{FF2B5EF4-FFF2-40B4-BE49-F238E27FC236}">
                <a16:creationId xmlns:a16="http://schemas.microsoft.com/office/drawing/2014/main" id="{8D220807-A66E-4C3E-8AE6-8DDA69DB2255}"/>
              </a:ext>
            </a:extLst>
          </p:cNvPr>
          <p:cNvSpPr>
            <a:spLocks xmlns:a="http://schemas.openxmlformats.org/drawingml/2006/main" noGrp="1"/>
          </p:cNvSpPr>
          <p:nvPr/>
        </p:nvSpPr>
        <p:spPr>
          <a:xfrm xmlns:a="http://schemas.openxmlformats.org/drawingml/2006/main">
            <a:off x="8305800" y="4124325"/>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B7C7"/>
                </a:solidFill>
                <a:latin typeface="Helvetica Neue"/>
                <a:ea typeface="Helvetica Neue"/>
                <a:cs typeface="Helvetica Neue"/>
              </a:defRPr>
            </a:defPPr>
            <a:lvl1pPr>
              <a:defRPr sz="2025" b="0">
                <a:solidFill>
                  <a:srgbClr val="ACB7C7"/>
                </a:solidFill>
                <a:latin typeface="Helvetica Neue"/>
                <a:ea typeface="Helvetica Neue"/>
                <a:cs typeface="Helvetica Neue"/>
              </a:defRPr>
            </a:lvl1pPr>
            <a:lvl2pPr>
              <a:defRPr sz="2025" b="0">
                <a:solidFill>
                  <a:srgbClr val="ACB7C7"/>
                </a:solidFill>
                <a:latin typeface="Helvetica Neue"/>
                <a:ea typeface="Helvetica Neue"/>
                <a:cs typeface="Helvetica Neue"/>
              </a:defRPr>
            </a:lvl2pPr>
            <a:lvl3pPr>
              <a:defRPr sz="2025" b="0">
                <a:solidFill>
                  <a:srgbClr val="ACB7C7"/>
                </a:solidFill>
                <a:latin typeface="Helvetica Neue"/>
                <a:ea typeface="Helvetica Neue"/>
                <a:cs typeface="Helvetica Neue"/>
              </a:defRPr>
            </a:lvl3pPr>
            <a:lvl4pPr>
              <a:defRPr sz="2025" b="0">
                <a:solidFill>
                  <a:srgbClr val="ACB7C7"/>
                </a:solidFill>
                <a:latin typeface="Helvetica Neue"/>
                <a:ea typeface="Helvetica Neue"/>
                <a:cs typeface="Helvetica Neue"/>
              </a:defRPr>
            </a:lvl4pPr>
            <a:lvl5pPr>
              <a:defRPr sz="2025" b="0">
                <a:solidFill>
                  <a:srgbClr val="ACB7C7"/>
                </a:solidFill>
                <a:latin typeface="Helvetica Neue"/>
                <a:ea typeface="Helvetica Neue"/>
                <a:cs typeface="Helvetica Neue"/>
              </a:defRPr>
            </a:lvl5pPr>
            <a:lvl6pPr>
              <a:defRPr sz="2025" b="0">
                <a:solidFill>
                  <a:srgbClr val="ACB7C7"/>
                </a:solidFill>
                <a:latin typeface="Helvetica Neue"/>
                <a:ea typeface="Helvetica Neue"/>
                <a:cs typeface="Helvetica Neue"/>
              </a:defRPr>
            </a:lvl6pPr>
            <a:lvl7pPr>
              <a:defRPr sz="2025" b="0">
                <a:solidFill>
                  <a:srgbClr val="ACB7C7"/>
                </a:solidFill>
                <a:latin typeface="Helvetica Neue"/>
                <a:ea typeface="Helvetica Neue"/>
                <a:cs typeface="Helvetica Neue"/>
              </a:defRPr>
            </a:lvl7pPr>
            <a:lvl8pPr>
              <a:defRPr sz="2025" b="0">
                <a:solidFill>
                  <a:srgbClr val="ACB7C7"/>
                </a:solidFill>
                <a:latin typeface="Helvetica Neue"/>
                <a:ea typeface="Helvetica Neue"/>
                <a:cs typeface="Helvetica Neue"/>
              </a:defRPr>
            </a:lvl8pPr>
            <a:lvl9pPr>
              <a:defRPr sz="2025" b="0">
                <a:solidFill>
                  <a:srgbClr val="ACB7C7"/>
                </a:solidFill>
                <a:latin typeface="Helvetica Neue"/>
                <a:ea typeface="Helvetica Neue"/>
                <a:cs typeface="Helvetica Neue"/>
              </a:defRPr>
            </a:lvl9pPr>
          </a:lstStyle>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Tap index fingertips</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together twice to change</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light and music together.</a:t>
            </a:r>
          </a:p>
        </p:txBody>
      </p:sp>
      <p:sp>
        <p:nvSpPr>
          <p:cNvPr id="11" name="Webcam perception runs on the Mac. Lamp control ne">
            <a:extLst xmlns:a="http://schemas.openxmlformats.org/drawingml/2006/main">
              <a:ext uri="{FF2B5EF4-FFF2-40B4-BE49-F238E27FC236}">
                <a16:creationId xmlns:a16="http://schemas.microsoft.com/office/drawing/2014/main" id="{ECBE7184-934A-41B8-B42F-7D1888710B60}"/>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Webcam perception runs on the Mac. Lamp control needs the local Zigbee setup. Spotify remains its own service.</a:t>
            </a:r>
          </a:p>
        </p:txBody>
      </p:sp>
    </p:spTree>
    <p:extLst>
      <p:ext uri="{BB962C8B-B14F-4D97-AF65-F5344CB8AC3E}">
        <p14:creationId xmlns:p14="http://schemas.microsoft.com/office/powerpoint/2010/main" val="115776221"/>
      </p:ext>
    </p:extLst>
  </p:cSld>
</p:sld>
</file>

<file path=ppt/slides/slide5.xml><?xml version="1.0" encoding="utf-8"?>
<p:sld xmlns:p="http://schemas.openxmlformats.org/presentationml/2006/main">
  <p:cSld>
    <p:bg>
      <p:bgPr>
        <a:solidFill xmlns:a="http://schemas.openxmlformats.org/drawingml/2006/main">
          <a:srgbClr val="EBEDE9"/>
        </a:solidFill>
      </p:bgPr>
    </p:bg>
    <p:spTree>
      <p:nvGrpSpPr>
        <p:cNvPr id="1" name=""/>
        <p:cNvGrpSpPr/>
        <p:nvPr/>
      </p:nvGrpSpPr>
      <p:grpSpPr>
        <a:xfrm xmlns:a="http://schemas.openxmlformats.org/drawingml/2006/main"/>
      </p:grpSpPr>
      <p:sp>
        <p:nvSpPr>
          <p:cNvPr id="7" name="SPELLCAST">
            <a:extLst xmlns:a="http://schemas.openxmlformats.org/drawingml/2006/main">
              <a:ext uri="{FF2B5EF4-FFF2-40B4-BE49-F238E27FC236}">
                <a16:creationId xmlns:a16="http://schemas.microsoft.com/office/drawing/2014/main" id="{B939B84D-D5FC-48E7-B8AE-674A5B189D19}"/>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36073"/>
                </a:solidFill>
                <a:latin typeface="Helvetica Neue"/>
                <a:ea typeface="Helvetica Neue"/>
                <a:cs typeface="Helvetica Neue"/>
              </a:defRPr>
            </a:defPPr>
            <a:lvl1pPr>
              <a:defRPr sz="1125" b="1">
                <a:solidFill>
                  <a:srgbClr val="536073"/>
                </a:solidFill>
                <a:latin typeface="Helvetica Neue"/>
                <a:ea typeface="Helvetica Neue"/>
                <a:cs typeface="Helvetica Neue"/>
              </a:defRPr>
            </a:lvl1pPr>
            <a:lvl2pPr>
              <a:defRPr sz="1125" b="1">
                <a:solidFill>
                  <a:srgbClr val="536073"/>
                </a:solidFill>
                <a:latin typeface="Helvetica Neue"/>
                <a:ea typeface="Helvetica Neue"/>
                <a:cs typeface="Helvetica Neue"/>
              </a:defRPr>
            </a:lvl2pPr>
            <a:lvl3pPr>
              <a:defRPr sz="1125" b="1">
                <a:solidFill>
                  <a:srgbClr val="536073"/>
                </a:solidFill>
                <a:latin typeface="Helvetica Neue"/>
                <a:ea typeface="Helvetica Neue"/>
                <a:cs typeface="Helvetica Neue"/>
              </a:defRPr>
            </a:lvl3pPr>
            <a:lvl4pPr>
              <a:defRPr sz="1125" b="1">
                <a:solidFill>
                  <a:srgbClr val="536073"/>
                </a:solidFill>
                <a:latin typeface="Helvetica Neue"/>
                <a:ea typeface="Helvetica Neue"/>
                <a:cs typeface="Helvetica Neue"/>
              </a:defRPr>
            </a:lvl4pPr>
            <a:lvl5pPr>
              <a:defRPr sz="1125" b="1">
                <a:solidFill>
                  <a:srgbClr val="536073"/>
                </a:solidFill>
                <a:latin typeface="Helvetica Neue"/>
                <a:ea typeface="Helvetica Neue"/>
                <a:cs typeface="Helvetica Neue"/>
              </a:defRPr>
            </a:lvl5pPr>
            <a:lvl6pPr>
              <a:defRPr sz="1125" b="1">
                <a:solidFill>
                  <a:srgbClr val="536073"/>
                </a:solidFill>
                <a:latin typeface="Helvetica Neue"/>
                <a:ea typeface="Helvetica Neue"/>
                <a:cs typeface="Helvetica Neue"/>
              </a:defRPr>
            </a:lvl6pPr>
            <a:lvl7pPr>
              <a:defRPr sz="1125" b="1">
                <a:solidFill>
                  <a:srgbClr val="536073"/>
                </a:solidFill>
                <a:latin typeface="Helvetica Neue"/>
                <a:ea typeface="Helvetica Neue"/>
                <a:cs typeface="Helvetica Neue"/>
              </a:defRPr>
            </a:lvl7pPr>
            <a:lvl8pPr>
              <a:defRPr sz="1125" b="1">
                <a:solidFill>
                  <a:srgbClr val="536073"/>
                </a:solidFill>
                <a:latin typeface="Helvetica Neue"/>
                <a:ea typeface="Helvetica Neue"/>
                <a:cs typeface="Helvetica Neue"/>
              </a:defRPr>
            </a:lvl8pPr>
            <a:lvl9pPr>
              <a:defRPr sz="1125" b="1">
                <a:solidFill>
                  <a:srgbClr val="536073"/>
                </a:solidFill>
                <a:latin typeface="Helvetica Neue"/>
                <a:ea typeface="Helvetica Neue"/>
                <a:cs typeface="Helvetica Neue"/>
              </a:defRPr>
            </a:lvl9pPr>
          </a:lstStyle>
          <a:p xmlns:a="http://schemas.openxmlformats.org/drawingml/2006/main">
            <a:pPr>
              <a:defRPr sz="1125" b="1">
                <a:solidFill>
                  <a:srgbClr val="536073"/>
                </a:solidFill>
                <a:latin typeface="Helvetica Neue"/>
                <a:ea typeface="Helvetica Neue"/>
                <a:cs typeface="Helvetica Neue"/>
              </a:defRPr>
            </a:pPr>
            <a:r>
              <a:rPr sz="1125" b="1">
                <a:solidFill>
                  <a:srgbClr val="536073"/>
                </a:solidFill>
                <a:latin typeface="Helvetica Neue"/>
                <a:ea typeface="Helvetica Neue"/>
                <a:cs typeface="Helvetica Neue"/>
              </a:rPr>
              <a:t>SPELLCAST</a:t>
            </a:r>
          </a:p>
        </p:txBody>
      </p:sp>
      <p:sp>
        <p:nvSpPr>
          <p:cNvPr id="2" name="05">
            <a:extLst xmlns:a="http://schemas.openxmlformats.org/drawingml/2006/main">
              <a:ext uri="{FF2B5EF4-FFF2-40B4-BE49-F238E27FC236}">
                <a16:creationId xmlns:a16="http://schemas.microsoft.com/office/drawing/2014/main" id="{6E4F2421-3A77-4D63-9F1C-F894253C7819}"/>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05</a:t>
            </a:r>
          </a:p>
        </p:txBody>
      </p:sp>
      <p:sp>
        <p:nvSpPr>
          <p:cNvPr id="3" name="A different way to choose the device">
            <a:extLst xmlns:a="http://schemas.openxmlformats.org/drawingml/2006/main">
              <a:ext uri="{FF2B5EF4-FFF2-40B4-BE49-F238E27FC236}">
                <a16:creationId xmlns:a16="http://schemas.microsoft.com/office/drawing/2014/main" id="{37D83CD4-8C97-4176-A2BB-3AAFCD24BA95}"/>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52133"/>
                </a:solidFill>
                <a:latin typeface="Helvetica Neue"/>
                <a:ea typeface="Helvetica Neue"/>
                <a:cs typeface="Helvetica Neue"/>
              </a:defRPr>
            </a:defPPr>
            <a:lvl1pPr>
              <a:defRPr sz="3675" b="1">
                <a:solidFill>
                  <a:srgbClr val="152133"/>
                </a:solidFill>
                <a:latin typeface="Helvetica Neue"/>
                <a:ea typeface="Helvetica Neue"/>
                <a:cs typeface="Helvetica Neue"/>
              </a:defRPr>
            </a:lvl1pPr>
            <a:lvl2pPr>
              <a:defRPr sz="3675" b="1">
                <a:solidFill>
                  <a:srgbClr val="152133"/>
                </a:solidFill>
                <a:latin typeface="Helvetica Neue"/>
                <a:ea typeface="Helvetica Neue"/>
                <a:cs typeface="Helvetica Neue"/>
              </a:defRPr>
            </a:lvl2pPr>
            <a:lvl3pPr>
              <a:defRPr sz="3675" b="1">
                <a:solidFill>
                  <a:srgbClr val="152133"/>
                </a:solidFill>
                <a:latin typeface="Helvetica Neue"/>
                <a:ea typeface="Helvetica Neue"/>
                <a:cs typeface="Helvetica Neue"/>
              </a:defRPr>
            </a:lvl3pPr>
            <a:lvl4pPr>
              <a:defRPr sz="3675" b="1">
                <a:solidFill>
                  <a:srgbClr val="152133"/>
                </a:solidFill>
                <a:latin typeface="Helvetica Neue"/>
                <a:ea typeface="Helvetica Neue"/>
                <a:cs typeface="Helvetica Neue"/>
              </a:defRPr>
            </a:lvl4pPr>
            <a:lvl5pPr>
              <a:defRPr sz="3675" b="1">
                <a:solidFill>
                  <a:srgbClr val="152133"/>
                </a:solidFill>
                <a:latin typeface="Helvetica Neue"/>
                <a:ea typeface="Helvetica Neue"/>
                <a:cs typeface="Helvetica Neue"/>
              </a:defRPr>
            </a:lvl5pPr>
            <a:lvl6pPr>
              <a:defRPr sz="3675" b="1">
                <a:solidFill>
                  <a:srgbClr val="152133"/>
                </a:solidFill>
                <a:latin typeface="Helvetica Neue"/>
                <a:ea typeface="Helvetica Neue"/>
                <a:cs typeface="Helvetica Neue"/>
              </a:defRPr>
            </a:lvl6pPr>
            <a:lvl7pPr>
              <a:defRPr sz="3675" b="1">
                <a:solidFill>
                  <a:srgbClr val="152133"/>
                </a:solidFill>
                <a:latin typeface="Helvetica Neue"/>
                <a:ea typeface="Helvetica Neue"/>
                <a:cs typeface="Helvetica Neue"/>
              </a:defRPr>
            </a:lvl7pPr>
            <a:lvl8pPr>
              <a:defRPr sz="3675" b="1">
                <a:solidFill>
                  <a:srgbClr val="152133"/>
                </a:solidFill>
                <a:latin typeface="Helvetica Neue"/>
                <a:ea typeface="Helvetica Neue"/>
                <a:cs typeface="Helvetica Neue"/>
              </a:defRPr>
            </a:lvl8pPr>
            <a:lvl9pPr>
              <a:defRPr sz="3675" b="1">
                <a:solidFill>
                  <a:srgbClr val="152133"/>
                </a:solidFill>
                <a:latin typeface="Helvetica Neue"/>
                <a:ea typeface="Helvetica Neue"/>
                <a:cs typeface="Helvetica Neue"/>
              </a:defRPr>
            </a:lvl9pPr>
          </a:lstStyle>
          <a:p xmlns:a="http://schemas.openxmlformats.org/drawingml/2006/main">
            <a:pPr>
              <a:defRPr sz="3675" b="1">
                <a:solidFill>
                  <a:srgbClr val="152133"/>
                </a:solidFill>
                <a:latin typeface="Helvetica Neue"/>
                <a:ea typeface="Helvetica Neue"/>
                <a:cs typeface="Helvetica Neue"/>
              </a:defRPr>
            </a:pPr>
            <a:r>
              <a:rPr sz="3675" b="1">
                <a:solidFill>
                  <a:srgbClr val="152133"/>
                </a:solidFill>
                <a:latin typeface="Helvetica Neue"/>
                <a:ea typeface="Helvetica Neue"/>
                <a:cs typeface="Helvetica Neue"/>
              </a:rPr>
              <a:t>A different way to choose the device</a:t>
            </a:r>
          </a:p>
        </p:txBody>
      </p:sp>
      <p:graphicFrame>
        <p:nvGraphicFramePr>
          <p:cNvPr id="4" name="">
            <a:extLst xmlns:a="http://schemas.openxmlformats.org/drawingml/2006/main">
              <a:ext uri="{FF2B5EF4-FFF2-40B4-BE49-F238E27FC236}">
                <a16:creationId xmlns:a16="http://schemas.microsoft.com/office/drawing/2014/main" id="{1508E811-2DDF-4FA9-8827-7FFAFB01C989}"/>
              </a:ext>
            </a:extLst>
          </p:cNvPr>
          <p:cNvGraphicFramePr/>
          <p:nvPr/>
        </p:nvGraphicFramePr>
        <p:xfrm>
          <a:off xmlns:a="http://schemas.openxmlformats.org/drawingml/2006/main" x="609600" y="2219325"/>
          <a:ext xmlns:a="http://schemas.openxmlformats.org/drawingml/2006/main" cx="10953750" cy="3143250"/>
        </p:xfrm>
        <a:graphic xmlns:a="http://schemas.openxmlformats.org/drawingml/2006/main">
          <a:graphicData uri="http://schemas.openxmlformats.org/drawingml/2006/table">
            <a:tbl>
              <a:tblPr/>
              <a:tblGrid>
                <a:gridCol w="2714625"/>
                <a:gridCol w="4095750"/>
                <a:gridCol w="4143375"/>
              </a:tblGrid>
              <a:tr h="628650">
                <a:tc>
                  <a:txBody>
                    <a:bodyPr lIns="133350" tIns="133350" rIns="133350" bIns="133350">
                      <a:noAutofit/>
                    </a:bodyPr>
                    <a:lstStyle/>
                    <a:p>
                      <a:r>
                        <a:rPr sz="1875" b="1">
                          <a:solidFill>
                            <a:srgbClr val="152133"/>
                          </a:solidFill>
                          <a:latin typeface="Helvetica Neue"/>
                          <a:ea typeface="Helvetica Neue"/>
                          <a:cs typeface="Helvetica Neue"/>
                        </a:rPr>
                        <a:t>Approach</a:t>
                      </a:r>
                    </a:p>
                  </a:txBody>
                  <a:tcPr marL="91440" marR="91440" marT="45720" marB="45720">
                    <a:lnL w="6668">
                      <a:solidFill>
                        <a:srgbClr val="CBD1D0"/>
                      </a:solidFill>
                      <a:prstDash val="solid"/>
                    </a:lnL>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c>
                  <a:txBody>
                    <a:bodyPr lIns="133350" tIns="133350" rIns="133350" bIns="133350">
                      <a:noAutofit/>
                    </a:bodyPr>
                    <a:lstStyle/>
                    <a:p>
                      <a:r>
                        <a:rPr sz="1875" b="1">
                          <a:solidFill>
                            <a:srgbClr val="152133"/>
                          </a:solidFill>
                          <a:latin typeface="Helvetica Neue"/>
                          <a:ea typeface="Helvetica Neue"/>
                          <a:cs typeface="Helvetica Neue"/>
                        </a:rPr>
                        <a:t>Device selection</a:t>
                      </a:r>
                    </a:p>
                  </a:txBody>
                  <a:tcPr marL="91440" marR="91440" marT="45720" marB="45720">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c>
                  <a:txBody>
                    <a:bodyPr lIns="133350" tIns="133350" rIns="133350" bIns="133350">
                      <a:noAutofit/>
                    </a:bodyPr>
                    <a:lstStyle/>
                    <a:p>
                      <a:r>
                        <a:rPr sz="1875" b="1">
                          <a:solidFill>
                            <a:srgbClr val="152133"/>
                          </a:solidFill>
                          <a:latin typeface="Helvetica Neue"/>
                          <a:ea typeface="Helvetica Neue"/>
                          <a:cs typeface="Helvetica Neue"/>
                        </a:rPr>
                        <a:t>Main requirement</a:t>
                      </a:r>
                    </a:p>
                  </a:txBody>
                  <a:tcPr marL="91440" marR="91440" marT="45720" marB="45720">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r>
              <a:tr h="628650">
                <a:tc>
                  <a:txBody>
                    <a:bodyPr lIns="133350" tIns="133350" rIns="133350" bIns="133350">
                      <a:noAutofit/>
                    </a:bodyPr>
                    <a:lstStyle/>
                    <a:p>
                      <a:r>
                        <a:rPr sz="1875" b="1">
                          <a:solidFill>
                            <a:srgbClr val="152133"/>
                          </a:solidFill>
                          <a:latin typeface="Helvetica Neue"/>
                          <a:ea typeface="Helvetica Neue"/>
                          <a:cs typeface="Helvetica Neue"/>
                        </a:rPr>
                        <a:t>Apps / dashboards</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Choose an item on a screen</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Phone or desktop interaction</a:t>
                      </a:r>
                    </a:p>
                  </a:txBody>
                  <a:tcPr marL="91440" marR="91440" marT="45720" marB="45720">
                    <a:lnR w="6668">
                      <a:solidFill>
                        <a:srgbClr val="CBD1D0"/>
                      </a:solidFill>
                      <a:prstDash val="solid"/>
                    </a:lnR>
                    <a:lnB w="6668">
                      <a:solidFill>
                        <a:srgbClr val="CBD1D0"/>
                      </a:solidFill>
                      <a:prstDash val="solid"/>
                    </a:lnB>
                    <a:solidFill>
                      <a:srgbClr val="EBEDE9"/>
                    </a:solidFill>
                  </a:tcPr>
                </a:tc>
              </a:tr>
              <a:tr h="628650">
                <a:tc>
                  <a:txBody>
                    <a:bodyPr lIns="133350" tIns="133350" rIns="133350" bIns="133350">
                      <a:noAutofit/>
                    </a:bodyPr>
                    <a:lstStyle/>
                    <a:p>
                      <a:r>
                        <a:rPr sz="1875" b="1">
                          <a:solidFill>
                            <a:srgbClr val="152133"/>
                          </a:solidFill>
                          <a:latin typeface="Helvetica Neue"/>
                          <a:ea typeface="Helvetica Neue"/>
                          <a:cs typeface="Helvetica Neue"/>
                        </a:rPr>
                        <a:t>Voice assistants</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Speak a device name</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Microphone and voice command</a:t>
                      </a:r>
                    </a:p>
                  </a:txBody>
                  <a:tcPr marL="91440" marR="91440" marT="45720" marB="45720">
                    <a:lnR w="6668">
                      <a:solidFill>
                        <a:srgbClr val="CBD1D0"/>
                      </a:solidFill>
                      <a:prstDash val="solid"/>
                    </a:lnR>
                    <a:lnB w="6668">
                      <a:solidFill>
                        <a:srgbClr val="CBD1D0"/>
                      </a:solidFill>
                      <a:prstDash val="solid"/>
                    </a:lnB>
                    <a:solidFill>
                      <a:srgbClr val="EBEDE9"/>
                    </a:solidFill>
                  </a:tcPr>
                </a:tc>
              </a:tr>
              <a:tr h="628650">
                <a:tc>
                  <a:txBody>
                    <a:bodyPr lIns="133350" tIns="133350" rIns="133350" bIns="133350">
                      <a:noAutofit/>
                    </a:bodyPr>
                    <a:lstStyle/>
                    <a:p>
                      <a:r>
                        <a:rPr sz="1875" b="1">
                          <a:solidFill>
                            <a:srgbClr val="152133"/>
                          </a:solidFill>
                          <a:latin typeface="Helvetica Neue"/>
                          <a:ea typeface="Helvetica Neue"/>
                          <a:cs typeface="Helvetica Neue"/>
                        </a:rPr>
                        <a:t>Flic Duo</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Press or gesture with a controller</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Dedicated physical control</a:t>
                      </a:r>
                    </a:p>
                  </a:txBody>
                  <a:tcPr marL="91440" marR="91440" marT="45720" marB="45720">
                    <a:lnR w="6668">
                      <a:solidFill>
                        <a:srgbClr val="CBD1D0"/>
                      </a:solidFill>
                      <a:prstDash val="solid"/>
                    </a:lnR>
                    <a:lnB w="6668">
                      <a:solidFill>
                        <a:srgbClr val="CBD1D0"/>
                      </a:solidFill>
                      <a:prstDash val="solid"/>
                    </a:lnB>
                    <a:solidFill>
                      <a:srgbClr val="EBEDE9"/>
                    </a:solidFill>
                  </a:tcPr>
                </a:tc>
              </a:tr>
              <a:tr h="628650">
                <a:tc>
                  <a:txBody>
                    <a:bodyPr lIns="133350" tIns="133350" rIns="133350" bIns="133350">
                      <a:noAutofit/>
                    </a:bodyPr>
                    <a:lstStyle/>
                    <a:p>
                      <a:r>
                        <a:rPr sz="1875" b="1">
                          <a:solidFill>
                            <a:srgbClr val="152133"/>
                          </a:solidFill>
                          <a:latin typeface="Helvetica Neue"/>
                          <a:ea typeface="Helvetica Neue"/>
                          <a:cs typeface="Helvetica Neue"/>
                        </a:rPr>
                        <a:t>Spellcast</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Point at a calibrated object</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75" b="0">
                          <a:solidFill>
                            <a:srgbClr val="152133"/>
                          </a:solidFill>
                          <a:latin typeface="Helvetica Neue"/>
                          <a:ea typeface="Helvetica Neue"/>
                          <a:cs typeface="Helvetica Neue"/>
                        </a:rPr>
                        <a:t>Mac webcam and local device setup</a:t>
                      </a:r>
                    </a:p>
                  </a:txBody>
                  <a:tcPr marL="91440" marR="91440" marT="45720" marB="45720">
                    <a:lnR w="6668">
                      <a:solidFill>
                        <a:srgbClr val="CBD1D0"/>
                      </a:solidFill>
                      <a:prstDash val="solid"/>
                    </a:lnR>
                    <a:lnB w="6668">
                      <a:solidFill>
                        <a:srgbClr val="CBD1D0"/>
                      </a:solidFill>
                      <a:prstDash val="solid"/>
                    </a:lnB>
                    <a:solidFill>
                      <a:srgbClr val="EBEDE9"/>
                    </a:solidFill>
                  </a:tcPr>
                </a:tc>
              </a:tr>
            </a:tbl>
          </a:graphicData>
        </a:graphic>
      </p:graphicFrame>
      <p:sp>
        <p:nvSpPr>
          <p:cNvPr id="5" name="Our bet: pointing feels more direct for visible de">
            <a:extLst xmlns:a="http://schemas.openxmlformats.org/drawingml/2006/main">
              <a:ext uri="{FF2B5EF4-FFF2-40B4-BE49-F238E27FC236}">
                <a16:creationId xmlns:a16="http://schemas.microsoft.com/office/drawing/2014/main" id="{E0C07A31-3E49-48E1-A2FE-5D7187FE461C}"/>
              </a:ext>
            </a:extLst>
          </p:cNvPr>
          <p:cNvSpPr>
            <a:spLocks xmlns:a="http://schemas.openxmlformats.org/drawingml/2006/main" noGrp="1"/>
          </p:cNvSpPr>
          <p:nvPr/>
        </p:nvSpPr>
        <p:spPr>
          <a:xfrm xmlns:a="http://schemas.openxmlformats.org/drawingml/2006/main">
            <a:off x="609600" y="56292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133"/>
                </a:solidFill>
                <a:latin typeface="Helvetica Neue"/>
                <a:ea typeface="Helvetica Neue"/>
                <a:cs typeface="Helvetica Neue"/>
              </a:defRPr>
            </a:defPPr>
            <a:lvl1pPr>
              <a:defRPr sz="2175" b="1">
                <a:solidFill>
                  <a:srgbClr val="152133"/>
                </a:solidFill>
                <a:latin typeface="Helvetica Neue"/>
                <a:ea typeface="Helvetica Neue"/>
                <a:cs typeface="Helvetica Neue"/>
              </a:defRPr>
            </a:lvl1pPr>
            <a:lvl2pPr>
              <a:defRPr sz="2175" b="1">
                <a:solidFill>
                  <a:srgbClr val="152133"/>
                </a:solidFill>
                <a:latin typeface="Helvetica Neue"/>
                <a:ea typeface="Helvetica Neue"/>
                <a:cs typeface="Helvetica Neue"/>
              </a:defRPr>
            </a:lvl2pPr>
            <a:lvl3pPr>
              <a:defRPr sz="2175" b="1">
                <a:solidFill>
                  <a:srgbClr val="152133"/>
                </a:solidFill>
                <a:latin typeface="Helvetica Neue"/>
                <a:ea typeface="Helvetica Neue"/>
                <a:cs typeface="Helvetica Neue"/>
              </a:defRPr>
            </a:lvl3pPr>
            <a:lvl4pPr>
              <a:defRPr sz="2175" b="1">
                <a:solidFill>
                  <a:srgbClr val="152133"/>
                </a:solidFill>
                <a:latin typeface="Helvetica Neue"/>
                <a:ea typeface="Helvetica Neue"/>
                <a:cs typeface="Helvetica Neue"/>
              </a:defRPr>
            </a:lvl4pPr>
            <a:lvl5pPr>
              <a:defRPr sz="2175" b="1">
                <a:solidFill>
                  <a:srgbClr val="152133"/>
                </a:solidFill>
                <a:latin typeface="Helvetica Neue"/>
                <a:ea typeface="Helvetica Neue"/>
                <a:cs typeface="Helvetica Neue"/>
              </a:defRPr>
            </a:lvl5pPr>
            <a:lvl6pPr>
              <a:defRPr sz="2175" b="1">
                <a:solidFill>
                  <a:srgbClr val="152133"/>
                </a:solidFill>
                <a:latin typeface="Helvetica Neue"/>
                <a:ea typeface="Helvetica Neue"/>
                <a:cs typeface="Helvetica Neue"/>
              </a:defRPr>
            </a:lvl6pPr>
            <a:lvl7pPr>
              <a:defRPr sz="2175" b="1">
                <a:solidFill>
                  <a:srgbClr val="152133"/>
                </a:solidFill>
                <a:latin typeface="Helvetica Neue"/>
                <a:ea typeface="Helvetica Neue"/>
                <a:cs typeface="Helvetica Neue"/>
              </a:defRPr>
            </a:lvl7pPr>
            <a:lvl8pPr>
              <a:defRPr sz="2175" b="1">
                <a:solidFill>
                  <a:srgbClr val="152133"/>
                </a:solidFill>
                <a:latin typeface="Helvetica Neue"/>
                <a:ea typeface="Helvetica Neue"/>
                <a:cs typeface="Helvetica Neue"/>
              </a:defRPr>
            </a:lvl8pPr>
            <a:lvl9pPr>
              <a:defRPr sz="2175" b="1">
                <a:solidFill>
                  <a:srgbClr val="152133"/>
                </a:solidFill>
                <a:latin typeface="Helvetica Neue"/>
                <a:ea typeface="Helvetica Neue"/>
                <a:cs typeface="Helvetica Neue"/>
              </a:defRPr>
            </a:lvl9pPr>
          </a:lstStyle>
          <a:p xmlns:a="http://schemas.openxmlformats.org/drawingml/2006/main">
            <a:pPr>
              <a:defRPr sz="2175" b="1">
                <a:solidFill>
                  <a:srgbClr val="152133"/>
                </a:solidFill>
                <a:latin typeface="Helvetica Neue"/>
                <a:ea typeface="Helvetica Neue"/>
                <a:cs typeface="Helvetica Neue"/>
              </a:defRPr>
            </a:pPr>
            <a:r>
              <a:rPr sz="2175" b="1">
                <a:solidFill>
                  <a:srgbClr val="152133"/>
                </a:solidFill>
                <a:latin typeface="Helvetica Neue"/>
                <a:ea typeface="Helvetica Neue"/>
                <a:cs typeface="Helvetica Neue"/>
              </a:rPr>
              <a:t>Our bet: pointing feels more direct for visible desk devices.</a:t>
            </a:r>
          </a:p>
        </p:txBody>
      </p:sp>
      <p:sp>
        <p:nvSpPr>
          <p:cNvPr id="6" name="Product sources: Philips Hue and Flic. Comparison ">
            <a:extLst xmlns:a="http://schemas.openxmlformats.org/drawingml/2006/main">
              <a:ext uri="{FF2B5EF4-FFF2-40B4-BE49-F238E27FC236}">
                <a16:creationId xmlns:a16="http://schemas.microsoft.com/office/drawing/2014/main" id="{DC47E82B-A70F-4989-B4EE-6FBBFA1811C4}"/>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Product sources: Philips Hue and Flic. Comparison reflects interaction methods, not a usability benchmark.</a:t>
            </a:r>
          </a:p>
        </p:txBody>
      </p:sp>
    </p:spTree>
    <p:extLst>
      <p:ext uri="{BB962C8B-B14F-4D97-AF65-F5344CB8AC3E}">
        <p14:creationId xmlns:p14="http://schemas.microsoft.com/office/powerpoint/2010/main" val="2091594605"/>
      </p:ext>
    </p:extLst>
  </p:cSld>
</p:sld>
</file>

<file path=ppt/slides/slide6.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5" name="SPELLCAST">
            <a:extLst xmlns:a="http://schemas.openxmlformats.org/drawingml/2006/main">
              <a:ext uri="{FF2B5EF4-FFF2-40B4-BE49-F238E27FC236}">
                <a16:creationId xmlns:a16="http://schemas.microsoft.com/office/drawing/2014/main" id="{3B462AD5-F99F-499C-9FDF-20D15995497F}"/>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a:t>
            </a:r>
          </a:p>
        </p:txBody>
      </p:sp>
      <p:sp>
        <p:nvSpPr>
          <p:cNvPr id="2" name="06">
            <a:extLst xmlns:a="http://schemas.openxmlformats.org/drawingml/2006/main">
              <a:ext uri="{FF2B5EF4-FFF2-40B4-BE49-F238E27FC236}">
                <a16:creationId xmlns:a16="http://schemas.microsoft.com/office/drawing/2014/main" id="{B81168CF-EFA8-4E57-968C-507AF88A3E40}"/>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06</a:t>
            </a:r>
          </a:p>
        </p:txBody>
      </p:sp>
      <p:sp>
        <p:nvSpPr>
          <p:cNvPr id="3" name="UK market and launch scope">
            <a:extLst xmlns:a="http://schemas.openxmlformats.org/drawingml/2006/main">
              <a:ext uri="{FF2B5EF4-FFF2-40B4-BE49-F238E27FC236}">
                <a16:creationId xmlns:a16="http://schemas.microsoft.com/office/drawing/2014/main" id="{374091E2-1BED-4B18-B36B-BD2EBC59A093}"/>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UK market and launch scope</a:t>
            </a:r>
          </a:p>
        </p:txBody>
      </p:sp>
      <p:sp>
        <p:nvSpPr>
          <p:cNvPr id="4" name="TAM / category proxy">
            <a:extLst xmlns:a="http://schemas.openxmlformats.org/drawingml/2006/main">
              <a:ext uri="{FF2B5EF4-FFF2-40B4-BE49-F238E27FC236}">
                <a16:creationId xmlns:a16="http://schemas.microsoft.com/office/drawing/2014/main" id="{91F30EF2-E5AD-4FD2-8BA0-511E4E56CC90}"/>
              </a:ext>
            </a:extLst>
          </p:cNvPr>
          <p:cNvSpPr>
            <a:spLocks xmlns:a="http://schemas.openxmlformats.org/drawingml/2006/main" noGrp="1"/>
          </p:cNvSpPr>
          <p:nvPr/>
        </p:nvSpPr>
        <p:spPr>
          <a:xfrm xmlns:a="http://schemas.openxmlformats.org/drawingml/2006/main">
            <a:off x="609600" y="2333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ACB7C7"/>
                </a:solidFill>
                <a:latin typeface="Helvetica Neue"/>
                <a:ea typeface="Helvetica Neue"/>
                <a:cs typeface="Helvetica Neue"/>
              </a:defRPr>
            </a:defPPr>
            <a:lvl1pPr>
              <a:defRPr sz="1650" b="1">
                <a:solidFill>
                  <a:srgbClr val="ACB7C7"/>
                </a:solidFill>
                <a:latin typeface="Helvetica Neue"/>
                <a:ea typeface="Helvetica Neue"/>
                <a:cs typeface="Helvetica Neue"/>
              </a:defRPr>
            </a:lvl1pPr>
            <a:lvl2pPr>
              <a:defRPr sz="1650" b="1">
                <a:solidFill>
                  <a:srgbClr val="ACB7C7"/>
                </a:solidFill>
                <a:latin typeface="Helvetica Neue"/>
                <a:ea typeface="Helvetica Neue"/>
                <a:cs typeface="Helvetica Neue"/>
              </a:defRPr>
            </a:lvl2pPr>
            <a:lvl3pPr>
              <a:defRPr sz="1650" b="1">
                <a:solidFill>
                  <a:srgbClr val="ACB7C7"/>
                </a:solidFill>
                <a:latin typeface="Helvetica Neue"/>
                <a:ea typeface="Helvetica Neue"/>
                <a:cs typeface="Helvetica Neue"/>
              </a:defRPr>
            </a:lvl3pPr>
            <a:lvl4pPr>
              <a:defRPr sz="1650" b="1">
                <a:solidFill>
                  <a:srgbClr val="ACB7C7"/>
                </a:solidFill>
                <a:latin typeface="Helvetica Neue"/>
                <a:ea typeface="Helvetica Neue"/>
                <a:cs typeface="Helvetica Neue"/>
              </a:defRPr>
            </a:lvl4pPr>
            <a:lvl5pPr>
              <a:defRPr sz="1650" b="1">
                <a:solidFill>
                  <a:srgbClr val="ACB7C7"/>
                </a:solidFill>
                <a:latin typeface="Helvetica Neue"/>
                <a:ea typeface="Helvetica Neue"/>
                <a:cs typeface="Helvetica Neue"/>
              </a:defRPr>
            </a:lvl5pPr>
            <a:lvl6pPr>
              <a:defRPr sz="1650" b="1">
                <a:solidFill>
                  <a:srgbClr val="ACB7C7"/>
                </a:solidFill>
                <a:latin typeface="Helvetica Neue"/>
                <a:ea typeface="Helvetica Neue"/>
                <a:cs typeface="Helvetica Neue"/>
              </a:defRPr>
            </a:lvl6pPr>
            <a:lvl7pPr>
              <a:defRPr sz="1650" b="1">
                <a:solidFill>
                  <a:srgbClr val="ACB7C7"/>
                </a:solidFill>
                <a:latin typeface="Helvetica Neue"/>
                <a:ea typeface="Helvetica Neue"/>
                <a:cs typeface="Helvetica Neue"/>
              </a:defRPr>
            </a:lvl7pPr>
            <a:lvl8pPr>
              <a:defRPr sz="1650" b="1">
                <a:solidFill>
                  <a:srgbClr val="ACB7C7"/>
                </a:solidFill>
                <a:latin typeface="Helvetica Neue"/>
                <a:ea typeface="Helvetica Neue"/>
                <a:cs typeface="Helvetica Neue"/>
              </a:defRPr>
            </a:lvl8pPr>
            <a:lvl9pPr>
              <a:defRPr sz="1650" b="1">
                <a:solidFill>
                  <a:srgbClr val="ACB7C7"/>
                </a:solidFill>
                <a:latin typeface="Helvetica Neue"/>
                <a:ea typeface="Helvetica Neue"/>
                <a:cs typeface="Helvetica Neue"/>
              </a:defRPr>
            </a:lvl9pPr>
          </a:lstStyle>
          <a:p xmlns:a="http://schemas.openxmlformats.org/drawingml/2006/main">
            <a:pPr>
              <a:defRPr sz="1650" b="1">
                <a:solidFill>
                  <a:srgbClr val="ACB7C7"/>
                </a:solidFill>
                <a:latin typeface="Helvetica Neue"/>
                <a:ea typeface="Helvetica Neue"/>
                <a:cs typeface="Helvetica Neue"/>
              </a:defRPr>
            </a:pPr>
            <a:r>
              <a:rPr sz="1650" b="1">
                <a:solidFill>
                  <a:srgbClr val="ACB7C7"/>
                </a:solidFill>
                <a:latin typeface="Helvetica Neue"/>
                <a:ea typeface="Helvetica Neue"/>
                <a:cs typeface="Helvetica Neue"/>
              </a:rPr>
              <a:t>TAM / category proxy</a:t>
            </a:r>
          </a:p>
        </p:txBody>
      </p:sp>
      <p:sp>
        <p:nvSpPr>
          <p:cNvPr id="5" name="11.6m">
            <a:extLst xmlns:a="http://schemas.openxmlformats.org/drawingml/2006/main">
              <a:ext uri="{FF2B5EF4-FFF2-40B4-BE49-F238E27FC236}">
                <a16:creationId xmlns:a16="http://schemas.microsoft.com/office/drawing/2014/main" id="{124771D7-76B0-48DA-B13E-AD08E70E20F3}"/>
              </a:ext>
            </a:extLst>
          </p:cNvPr>
          <p:cNvSpPr>
            <a:spLocks xmlns:a="http://schemas.openxmlformats.org/drawingml/2006/main" noGrp="1"/>
          </p:cNvSpPr>
          <p:nvPr/>
        </p:nvSpPr>
        <p:spPr>
          <a:xfrm xmlns:a="http://schemas.openxmlformats.org/drawingml/2006/main">
            <a:off x="581025" y="296227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83C9FA"/>
                </a:solidFill>
                <a:latin typeface="Helvetica Neue"/>
                <a:ea typeface="Helvetica Neue"/>
                <a:cs typeface="Helvetica Neue"/>
              </a:defRPr>
            </a:defPPr>
            <a:lvl1pPr>
              <a:defRPr sz="6225" b="1">
                <a:solidFill>
                  <a:srgbClr val="83C9FA"/>
                </a:solidFill>
                <a:latin typeface="Helvetica Neue"/>
                <a:ea typeface="Helvetica Neue"/>
                <a:cs typeface="Helvetica Neue"/>
              </a:defRPr>
            </a:lvl1pPr>
            <a:lvl2pPr>
              <a:defRPr sz="6225" b="1">
                <a:solidFill>
                  <a:srgbClr val="83C9FA"/>
                </a:solidFill>
                <a:latin typeface="Helvetica Neue"/>
                <a:ea typeface="Helvetica Neue"/>
                <a:cs typeface="Helvetica Neue"/>
              </a:defRPr>
            </a:lvl2pPr>
            <a:lvl3pPr>
              <a:defRPr sz="6225" b="1">
                <a:solidFill>
                  <a:srgbClr val="83C9FA"/>
                </a:solidFill>
                <a:latin typeface="Helvetica Neue"/>
                <a:ea typeface="Helvetica Neue"/>
                <a:cs typeface="Helvetica Neue"/>
              </a:defRPr>
            </a:lvl3pPr>
            <a:lvl4pPr>
              <a:defRPr sz="6225" b="1">
                <a:solidFill>
                  <a:srgbClr val="83C9FA"/>
                </a:solidFill>
                <a:latin typeface="Helvetica Neue"/>
                <a:ea typeface="Helvetica Neue"/>
                <a:cs typeface="Helvetica Neue"/>
              </a:defRPr>
            </a:lvl4pPr>
            <a:lvl5pPr>
              <a:defRPr sz="6225" b="1">
                <a:solidFill>
                  <a:srgbClr val="83C9FA"/>
                </a:solidFill>
                <a:latin typeface="Helvetica Neue"/>
                <a:ea typeface="Helvetica Neue"/>
                <a:cs typeface="Helvetica Neue"/>
              </a:defRPr>
            </a:lvl5pPr>
            <a:lvl6pPr>
              <a:defRPr sz="6225" b="1">
                <a:solidFill>
                  <a:srgbClr val="83C9FA"/>
                </a:solidFill>
                <a:latin typeface="Helvetica Neue"/>
                <a:ea typeface="Helvetica Neue"/>
                <a:cs typeface="Helvetica Neue"/>
              </a:defRPr>
            </a:lvl6pPr>
            <a:lvl7pPr>
              <a:defRPr sz="6225" b="1">
                <a:solidFill>
                  <a:srgbClr val="83C9FA"/>
                </a:solidFill>
                <a:latin typeface="Helvetica Neue"/>
                <a:ea typeface="Helvetica Neue"/>
                <a:cs typeface="Helvetica Neue"/>
              </a:defRPr>
            </a:lvl7pPr>
            <a:lvl8pPr>
              <a:defRPr sz="6225" b="1">
                <a:solidFill>
                  <a:srgbClr val="83C9FA"/>
                </a:solidFill>
                <a:latin typeface="Helvetica Neue"/>
                <a:ea typeface="Helvetica Neue"/>
                <a:cs typeface="Helvetica Neue"/>
              </a:defRPr>
            </a:lvl8pPr>
            <a:lvl9pPr>
              <a:defRPr sz="6225" b="1">
                <a:solidFill>
                  <a:srgbClr val="83C9FA"/>
                </a:solidFill>
                <a:latin typeface="Helvetica Neue"/>
                <a:ea typeface="Helvetica Neue"/>
                <a:cs typeface="Helvetica Neue"/>
              </a:defRPr>
            </a:lvl9pPr>
          </a:lstStyle>
          <a:p xmlns:a="http://schemas.openxmlformats.org/drawingml/2006/main">
            <a:pPr>
              <a:defRPr sz="6225" b="1">
                <a:solidFill>
                  <a:srgbClr val="83C9FA"/>
                </a:solidFill>
                <a:latin typeface="Helvetica Neue"/>
                <a:ea typeface="Helvetica Neue"/>
                <a:cs typeface="Helvetica Neue"/>
              </a:defRPr>
            </a:pPr>
            <a:r>
              <a:rPr sz="6225" b="1">
                <a:solidFill>
                  <a:srgbClr val="83C9FA"/>
                </a:solidFill>
                <a:latin typeface="Helvetica Neue"/>
                <a:ea typeface="Helvetica Neue"/>
                <a:cs typeface="Helvetica Neue"/>
              </a:rPr>
              <a:t>11.6m</a:t>
            </a:r>
          </a:p>
        </p:txBody>
      </p:sp>
      <p:sp>
        <p:nvSpPr>
          <p:cNvPr id="6" name="UK households with&#10;a smart speaker">
            <a:extLst xmlns:a="http://schemas.openxmlformats.org/drawingml/2006/main">
              <a:ext uri="{FF2B5EF4-FFF2-40B4-BE49-F238E27FC236}">
                <a16:creationId xmlns:a16="http://schemas.microsoft.com/office/drawing/2014/main" id="{52919B46-50EE-47FA-9E74-A1CE088F3D37}"/>
              </a:ext>
            </a:extLst>
          </p:cNvPr>
          <p:cNvSpPr>
            <a:spLocks xmlns:a="http://schemas.openxmlformats.org/drawingml/2006/main" noGrp="1"/>
          </p:cNvSpPr>
          <p:nvPr/>
        </p:nvSpPr>
        <p:spPr>
          <a:xfrm xmlns:a="http://schemas.openxmlformats.org/drawingml/2006/main">
            <a:off x="609600" y="42957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6"/>
                </a:solidFill>
                <a:latin typeface="Helvetica Neue"/>
                <a:ea typeface="Helvetica Neue"/>
                <a:cs typeface="Helvetica Neue"/>
              </a:defRPr>
            </a:defPPr>
            <a:lvl1pPr>
              <a:defRPr sz="2100" b="0">
                <a:solidFill>
                  <a:srgbClr val="F3F5F6"/>
                </a:solidFill>
                <a:latin typeface="Helvetica Neue"/>
                <a:ea typeface="Helvetica Neue"/>
                <a:cs typeface="Helvetica Neue"/>
              </a:defRPr>
            </a:lvl1pPr>
            <a:lvl2pPr>
              <a:defRPr sz="2100" b="0">
                <a:solidFill>
                  <a:srgbClr val="F3F5F6"/>
                </a:solidFill>
                <a:latin typeface="Helvetica Neue"/>
                <a:ea typeface="Helvetica Neue"/>
                <a:cs typeface="Helvetica Neue"/>
              </a:defRPr>
            </a:lvl2pPr>
            <a:lvl3pPr>
              <a:defRPr sz="2100" b="0">
                <a:solidFill>
                  <a:srgbClr val="F3F5F6"/>
                </a:solidFill>
                <a:latin typeface="Helvetica Neue"/>
                <a:ea typeface="Helvetica Neue"/>
                <a:cs typeface="Helvetica Neue"/>
              </a:defRPr>
            </a:lvl3pPr>
            <a:lvl4pPr>
              <a:defRPr sz="2100" b="0">
                <a:solidFill>
                  <a:srgbClr val="F3F5F6"/>
                </a:solidFill>
                <a:latin typeface="Helvetica Neue"/>
                <a:ea typeface="Helvetica Neue"/>
                <a:cs typeface="Helvetica Neue"/>
              </a:defRPr>
            </a:lvl4pPr>
            <a:lvl5pPr>
              <a:defRPr sz="2100" b="0">
                <a:solidFill>
                  <a:srgbClr val="F3F5F6"/>
                </a:solidFill>
                <a:latin typeface="Helvetica Neue"/>
                <a:ea typeface="Helvetica Neue"/>
                <a:cs typeface="Helvetica Neue"/>
              </a:defRPr>
            </a:lvl5pPr>
            <a:lvl6pPr>
              <a:defRPr sz="2100" b="0">
                <a:solidFill>
                  <a:srgbClr val="F3F5F6"/>
                </a:solidFill>
                <a:latin typeface="Helvetica Neue"/>
                <a:ea typeface="Helvetica Neue"/>
                <a:cs typeface="Helvetica Neue"/>
              </a:defRPr>
            </a:lvl6pPr>
            <a:lvl7pPr>
              <a:defRPr sz="2100" b="0">
                <a:solidFill>
                  <a:srgbClr val="F3F5F6"/>
                </a:solidFill>
                <a:latin typeface="Helvetica Neue"/>
                <a:ea typeface="Helvetica Neue"/>
                <a:cs typeface="Helvetica Neue"/>
              </a:defRPr>
            </a:lvl7pPr>
            <a:lvl8pPr>
              <a:defRPr sz="2100" b="0">
                <a:solidFill>
                  <a:srgbClr val="F3F5F6"/>
                </a:solidFill>
                <a:latin typeface="Helvetica Neue"/>
                <a:ea typeface="Helvetica Neue"/>
                <a:cs typeface="Helvetica Neue"/>
              </a:defRPr>
            </a:lvl8pPr>
            <a:lvl9pPr>
              <a:defRPr sz="2100" b="0">
                <a:solidFill>
                  <a:srgbClr val="F3F5F6"/>
                </a:solidFill>
                <a:latin typeface="Helvetica Neue"/>
                <a:ea typeface="Helvetica Neue"/>
                <a:cs typeface="Helvetica Neue"/>
              </a:defRPr>
            </a:lvl9pPr>
          </a:lstStyle>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UK households with</a:t>
            </a:r>
          </a:p>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a smart speaker</a:t>
            </a:r>
          </a:p>
        </p:txBody>
      </p:sp>
      <p:sp>
        <p:nvSpPr>
          <p:cNvPr id="7" name="SAM / assumed fit">
            <a:extLst xmlns:a="http://schemas.openxmlformats.org/drawingml/2006/main">
              <a:ext uri="{FF2B5EF4-FFF2-40B4-BE49-F238E27FC236}">
                <a16:creationId xmlns:a16="http://schemas.microsoft.com/office/drawing/2014/main" id="{D0C854BE-C770-4215-B6E8-3CD393108938}"/>
              </a:ext>
            </a:extLst>
          </p:cNvPr>
          <p:cNvSpPr>
            <a:spLocks xmlns:a="http://schemas.openxmlformats.org/drawingml/2006/main" noGrp="1"/>
          </p:cNvSpPr>
          <p:nvPr/>
        </p:nvSpPr>
        <p:spPr>
          <a:xfrm xmlns:a="http://schemas.openxmlformats.org/drawingml/2006/main">
            <a:off x="4476750" y="2333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ACB7C7"/>
                </a:solidFill>
                <a:latin typeface="Helvetica Neue"/>
                <a:ea typeface="Helvetica Neue"/>
                <a:cs typeface="Helvetica Neue"/>
              </a:defRPr>
            </a:defPPr>
            <a:lvl1pPr>
              <a:defRPr sz="1650" b="1">
                <a:solidFill>
                  <a:srgbClr val="ACB7C7"/>
                </a:solidFill>
                <a:latin typeface="Helvetica Neue"/>
                <a:ea typeface="Helvetica Neue"/>
                <a:cs typeface="Helvetica Neue"/>
              </a:defRPr>
            </a:lvl1pPr>
            <a:lvl2pPr>
              <a:defRPr sz="1650" b="1">
                <a:solidFill>
                  <a:srgbClr val="ACB7C7"/>
                </a:solidFill>
                <a:latin typeface="Helvetica Neue"/>
                <a:ea typeface="Helvetica Neue"/>
                <a:cs typeface="Helvetica Neue"/>
              </a:defRPr>
            </a:lvl2pPr>
            <a:lvl3pPr>
              <a:defRPr sz="1650" b="1">
                <a:solidFill>
                  <a:srgbClr val="ACB7C7"/>
                </a:solidFill>
                <a:latin typeface="Helvetica Neue"/>
                <a:ea typeface="Helvetica Neue"/>
                <a:cs typeface="Helvetica Neue"/>
              </a:defRPr>
            </a:lvl3pPr>
            <a:lvl4pPr>
              <a:defRPr sz="1650" b="1">
                <a:solidFill>
                  <a:srgbClr val="ACB7C7"/>
                </a:solidFill>
                <a:latin typeface="Helvetica Neue"/>
                <a:ea typeface="Helvetica Neue"/>
                <a:cs typeface="Helvetica Neue"/>
              </a:defRPr>
            </a:lvl4pPr>
            <a:lvl5pPr>
              <a:defRPr sz="1650" b="1">
                <a:solidFill>
                  <a:srgbClr val="ACB7C7"/>
                </a:solidFill>
                <a:latin typeface="Helvetica Neue"/>
                <a:ea typeface="Helvetica Neue"/>
                <a:cs typeface="Helvetica Neue"/>
              </a:defRPr>
            </a:lvl5pPr>
            <a:lvl6pPr>
              <a:defRPr sz="1650" b="1">
                <a:solidFill>
                  <a:srgbClr val="ACB7C7"/>
                </a:solidFill>
                <a:latin typeface="Helvetica Neue"/>
                <a:ea typeface="Helvetica Neue"/>
                <a:cs typeface="Helvetica Neue"/>
              </a:defRPr>
            </a:lvl6pPr>
            <a:lvl7pPr>
              <a:defRPr sz="1650" b="1">
                <a:solidFill>
                  <a:srgbClr val="ACB7C7"/>
                </a:solidFill>
                <a:latin typeface="Helvetica Neue"/>
                <a:ea typeface="Helvetica Neue"/>
                <a:cs typeface="Helvetica Neue"/>
              </a:defRPr>
            </a:lvl7pPr>
            <a:lvl8pPr>
              <a:defRPr sz="1650" b="1">
                <a:solidFill>
                  <a:srgbClr val="ACB7C7"/>
                </a:solidFill>
                <a:latin typeface="Helvetica Neue"/>
                <a:ea typeface="Helvetica Neue"/>
                <a:cs typeface="Helvetica Neue"/>
              </a:defRPr>
            </a:lvl8pPr>
            <a:lvl9pPr>
              <a:defRPr sz="1650" b="1">
                <a:solidFill>
                  <a:srgbClr val="ACB7C7"/>
                </a:solidFill>
                <a:latin typeface="Helvetica Neue"/>
                <a:ea typeface="Helvetica Neue"/>
                <a:cs typeface="Helvetica Neue"/>
              </a:defRPr>
            </a:lvl9pPr>
          </a:lstStyle>
          <a:p xmlns:a="http://schemas.openxmlformats.org/drawingml/2006/main">
            <a:pPr>
              <a:defRPr sz="1650" b="1">
                <a:solidFill>
                  <a:srgbClr val="ACB7C7"/>
                </a:solidFill>
                <a:latin typeface="Helvetica Neue"/>
                <a:ea typeface="Helvetica Neue"/>
                <a:cs typeface="Helvetica Neue"/>
              </a:defRPr>
            </a:pPr>
            <a:r>
              <a:rPr sz="1650" b="1">
                <a:solidFill>
                  <a:srgbClr val="ACB7C7"/>
                </a:solidFill>
                <a:latin typeface="Helvetica Neue"/>
                <a:ea typeface="Helvetica Neue"/>
                <a:cs typeface="Helvetica Neue"/>
              </a:rPr>
              <a:t>SAM / assumed fit</a:t>
            </a:r>
          </a:p>
        </p:txBody>
      </p:sp>
      <p:sp>
        <p:nvSpPr>
          <p:cNvPr id="8" name="116k">
            <a:extLst xmlns:a="http://schemas.openxmlformats.org/drawingml/2006/main">
              <a:ext uri="{FF2B5EF4-FFF2-40B4-BE49-F238E27FC236}">
                <a16:creationId xmlns:a16="http://schemas.microsoft.com/office/drawing/2014/main" id="{3E69FF9E-BFC2-4380-8BD3-D47DA6A270A7}"/>
              </a:ext>
            </a:extLst>
          </p:cNvPr>
          <p:cNvSpPr>
            <a:spLocks xmlns:a="http://schemas.openxmlformats.org/drawingml/2006/main" noGrp="1"/>
          </p:cNvSpPr>
          <p:nvPr/>
        </p:nvSpPr>
        <p:spPr>
          <a:xfrm xmlns:a="http://schemas.openxmlformats.org/drawingml/2006/main">
            <a:off x="4448175" y="296227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83C9FA"/>
                </a:solidFill>
                <a:latin typeface="Helvetica Neue"/>
                <a:ea typeface="Helvetica Neue"/>
                <a:cs typeface="Helvetica Neue"/>
              </a:defRPr>
            </a:defPPr>
            <a:lvl1pPr>
              <a:defRPr sz="6225" b="1">
                <a:solidFill>
                  <a:srgbClr val="83C9FA"/>
                </a:solidFill>
                <a:latin typeface="Helvetica Neue"/>
                <a:ea typeface="Helvetica Neue"/>
                <a:cs typeface="Helvetica Neue"/>
              </a:defRPr>
            </a:lvl1pPr>
            <a:lvl2pPr>
              <a:defRPr sz="6225" b="1">
                <a:solidFill>
                  <a:srgbClr val="83C9FA"/>
                </a:solidFill>
                <a:latin typeface="Helvetica Neue"/>
                <a:ea typeface="Helvetica Neue"/>
                <a:cs typeface="Helvetica Neue"/>
              </a:defRPr>
            </a:lvl2pPr>
            <a:lvl3pPr>
              <a:defRPr sz="6225" b="1">
                <a:solidFill>
                  <a:srgbClr val="83C9FA"/>
                </a:solidFill>
                <a:latin typeface="Helvetica Neue"/>
                <a:ea typeface="Helvetica Neue"/>
                <a:cs typeface="Helvetica Neue"/>
              </a:defRPr>
            </a:lvl3pPr>
            <a:lvl4pPr>
              <a:defRPr sz="6225" b="1">
                <a:solidFill>
                  <a:srgbClr val="83C9FA"/>
                </a:solidFill>
                <a:latin typeface="Helvetica Neue"/>
                <a:ea typeface="Helvetica Neue"/>
                <a:cs typeface="Helvetica Neue"/>
              </a:defRPr>
            </a:lvl4pPr>
            <a:lvl5pPr>
              <a:defRPr sz="6225" b="1">
                <a:solidFill>
                  <a:srgbClr val="83C9FA"/>
                </a:solidFill>
                <a:latin typeface="Helvetica Neue"/>
                <a:ea typeface="Helvetica Neue"/>
                <a:cs typeface="Helvetica Neue"/>
              </a:defRPr>
            </a:lvl5pPr>
            <a:lvl6pPr>
              <a:defRPr sz="6225" b="1">
                <a:solidFill>
                  <a:srgbClr val="83C9FA"/>
                </a:solidFill>
                <a:latin typeface="Helvetica Neue"/>
                <a:ea typeface="Helvetica Neue"/>
                <a:cs typeface="Helvetica Neue"/>
              </a:defRPr>
            </a:lvl6pPr>
            <a:lvl7pPr>
              <a:defRPr sz="6225" b="1">
                <a:solidFill>
                  <a:srgbClr val="83C9FA"/>
                </a:solidFill>
                <a:latin typeface="Helvetica Neue"/>
                <a:ea typeface="Helvetica Neue"/>
                <a:cs typeface="Helvetica Neue"/>
              </a:defRPr>
            </a:lvl7pPr>
            <a:lvl8pPr>
              <a:defRPr sz="6225" b="1">
                <a:solidFill>
                  <a:srgbClr val="83C9FA"/>
                </a:solidFill>
                <a:latin typeface="Helvetica Neue"/>
                <a:ea typeface="Helvetica Neue"/>
                <a:cs typeface="Helvetica Neue"/>
              </a:defRPr>
            </a:lvl8pPr>
            <a:lvl9pPr>
              <a:defRPr sz="6225" b="1">
                <a:solidFill>
                  <a:srgbClr val="83C9FA"/>
                </a:solidFill>
                <a:latin typeface="Helvetica Neue"/>
                <a:ea typeface="Helvetica Neue"/>
                <a:cs typeface="Helvetica Neue"/>
              </a:defRPr>
            </a:lvl9pPr>
          </a:lstStyle>
          <a:p xmlns:a="http://schemas.openxmlformats.org/drawingml/2006/main">
            <a:pPr>
              <a:defRPr sz="6225" b="1">
                <a:solidFill>
                  <a:srgbClr val="83C9FA"/>
                </a:solidFill>
                <a:latin typeface="Helvetica Neue"/>
                <a:ea typeface="Helvetica Neue"/>
                <a:cs typeface="Helvetica Neue"/>
              </a:defRPr>
            </a:pPr>
            <a:r>
              <a:rPr sz="6225" b="1">
                <a:solidFill>
                  <a:srgbClr val="83C9FA"/>
                </a:solidFill>
                <a:latin typeface="Helvetica Neue"/>
                <a:ea typeface="Helvetica Neue"/>
                <a:cs typeface="Helvetica Neue"/>
              </a:rPr>
              <a:t>116k</a:t>
            </a:r>
          </a:p>
        </p:txBody>
      </p:sp>
      <p:sp>
        <p:nvSpPr>
          <p:cNvPr id="9" name="1% assumed to fit the&#10;initial supported setup">
            <a:extLst xmlns:a="http://schemas.openxmlformats.org/drawingml/2006/main">
              <a:ext uri="{FF2B5EF4-FFF2-40B4-BE49-F238E27FC236}">
                <a16:creationId xmlns:a16="http://schemas.microsoft.com/office/drawing/2014/main" id="{D98E075B-D641-42AD-998C-453FBF91A74E}"/>
              </a:ext>
            </a:extLst>
          </p:cNvPr>
          <p:cNvSpPr>
            <a:spLocks xmlns:a="http://schemas.openxmlformats.org/drawingml/2006/main" noGrp="1"/>
          </p:cNvSpPr>
          <p:nvPr/>
        </p:nvSpPr>
        <p:spPr>
          <a:xfrm xmlns:a="http://schemas.openxmlformats.org/drawingml/2006/main">
            <a:off x="4476750" y="42957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6"/>
                </a:solidFill>
                <a:latin typeface="Helvetica Neue"/>
                <a:ea typeface="Helvetica Neue"/>
                <a:cs typeface="Helvetica Neue"/>
              </a:defRPr>
            </a:defPPr>
            <a:lvl1pPr>
              <a:defRPr sz="2100" b="0">
                <a:solidFill>
                  <a:srgbClr val="F3F5F6"/>
                </a:solidFill>
                <a:latin typeface="Helvetica Neue"/>
                <a:ea typeface="Helvetica Neue"/>
                <a:cs typeface="Helvetica Neue"/>
              </a:defRPr>
            </a:lvl1pPr>
            <a:lvl2pPr>
              <a:defRPr sz="2100" b="0">
                <a:solidFill>
                  <a:srgbClr val="F3F5F6"/>
                </a:solidFill>
                <a:latin typeface="Helvetica Neue"/>
                <a:ea typeface="Helvetica Neue"/>
                <a:cs typeface="Helvetica Neue"/>
              </a:defRPr>
            </a:lvl2pPr>
            <a:lvl3pPr>
              <a:defRPr sz="2100" b="0">
                <a:solidFill>
                  <a:srgbClr val="F3F5F6"/>
                </a:solidFill>
                <a:latin typeface="Helvetica Neue"/>
                <a:ea typeface="Helvetica Neue"/>
                <a:cs typeface="Helvetica Neue"/>
              </a:defRPr>
            </a:lvl3pPr>
            <a:lvl4pPr>
              <a:defRPr sz="2100" b="0">
                <a:solidFill>
                  <a:srgbClr val="F3F5F6"/>
                </a:solidFill>
                <a:latin typeface="Helvetica Neue"/>
                <a:ea typeface="Helvetica Neue"/>
                <a:cs typeface="Helvetica Neue"/>
              </a:defRPr>
            </a:lvl4pPr>
            <a:lvl5pPr>
              <a:defRPr sz="2100" b="0">
                <a:solidFill>
                  <a:srgbClr val="F3F5F6"/>
                </a:solidFill>
                <a:latin typeface="Helvetica Neue"/>
                <a:ea typeface="Helvetica Neue"/>
                <a:cs typeface="Helvetica Neue"/>
              </a:defRPr>
            </a:lvl5pPr>
            <a:lvl6pPr>
              <a:defRPr sz="2100" b="0">
                <a:solidFill>
                  <a:srgbClr val="F3F5F6"/>
                </a:solidFill>
                <a:latin typeface="Helvetica Neue"/>
                <a:ea typeface="Helvetica Neue"/>
                <a:cs typeface="Helvetica Neue"/>
              </a:defRPr>
            </a:lvl6pPr>
            <a:lvl7pPr>
              <a:defRPr sz="2100" b="0">
                <a:solidFill>
                  <a:srgbClr val="F3F5F6"/>
                </a:solidFill>
                <a:latin typeface="Helvetica Neue"/>
                <a:ea typeface="Helvetica Neue"/>
                <a:cs typeface="Helvetica Neue"/>
              </a:defRPr>
            </a:lvl7pPr>
            <a:lvl8pPr>
              <a:defRPr sz="2100" b="0">
                <a:solidFill>
                  <a:srgbClr val="F3F5F6"/>
                </a:solidFill>
                <a:latin typeface="Helvetica Neue"/>
                <a:ea typeface="Helvetica Neue"/>
                <a:cs typeface="Helvetica Neue"/>
              </a:defRPr>
            </a:lvl8pPr>
            <a:lvl9pPr>
              <a:defRPr sz="2100" b="0">
                <a:solidFill>
                  <a:srgbClr val="F3F5F6"/>
                </a:solidFill>
                <a:latin typeface="Helvetica Neue"/>
                <a:ea typeface="Helvetica Neue"/>
                <a:cs typeface="Helvetica Neue"/>
              </a:defRPr>
            </a:lvl9pPr>
          </a:lstStyle>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1% assumed to fit the</a:t>
            </a:r>
          </a:p>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initial supported setup</a:t>
            </a:r>
          </a:p>
        </p:txBody>
      </p:sp>
      <p:sp>
        <p:nvSpPr>
          <p:cNvPr id="10" name="SOM / year-one target">
            <a:extLst xmlns:a="http://schemas.openxmlformats.org/drawingml/2006/main">
              <a:ext uri="{FF2B5EF4-FFF2-40B4-BE49-F238E27FC236}">
                <a16:creationId xmlns:a16="http://schemas.microsoft.com/office/drawing/2014/main" id="{1D1468D8-4BF6-4C03-94CB-3D1416441D28}"/>
              </a:ext>
            </a:extLst>
          </p:cNvPr>
          <p:cNvSpPr>
            <a:spLocks xmlns:a="http://schemas.openxmlformats.org/drawingml/2006/main" noGrp="1"/>
          </p:cNvSpPr>
          <p:nvPr/>
        </p:nvSpPr>
        <p:spPr>
          <a:xfrm xmlns:a="http://schemas.openxmlformats.org/drawingml/2006/main">
            <a:off x="8334375" y="2333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ACB7C7"/>
                </a:solidFill>
                <a:latin typeface="Helvetica Neue"/>
                <a:ea typeface="Helvetica Neue"/>
                <a:cs typeface="Helvetica Neue"/>
              </a:defRPr>
            </a:defPPr>
            <a:lvl1pPr>
              <a:defRPr sz="1650" b="1">
                <a:solidFill>
                  <a:srgbClr val="ACB7C7"/>
                </a:solidFill>
                <a:latin typeface="Helvetica Neue"/>
                <a:ea typeface="Helvetica Neue"/>
                <a:cs typeface="Helvetica Neue"/>
              </a:defRPr>
            </a:lvl1pPr>
            <a:lvl2pPr>
              <a:defRPr sz="1650" b="1">
                <a:solidFill>
                  <a:srgbClr val="ACB7C7"/>
                </a:solidFill>
                <a:latin typeface="Helvetica Neue"/>
                <a:ea typeface="Helvetica Neue"/>
                <a:cs typeface="Helvetica Neue"/>
              </a:defRPr>
            </a:lvl2pPr>
            <a:lvl3pPr>
              <a:defRPr sz="1650" b="1">
                <a:solidFill>
                  <a:srgbClr val="ACB7C7"/>
                </a:solidFill>
                <a:latin typeface="Helvetica Neue"/>
                <a:ea typeface="Helvetica Neue"/>
                <a:cs typeface="Helvetica Neue"/>
              </a:defRPr>
            </a:lvl3pPr>
            <a:lvl4pPr>
              <a:defRPr sz="1650" b="1">
                <a:solidFill>
                  <a:srgbClr val="ACB7C7"/>
                </a:solidFill>
                <a:latin typeface="Helvetica Neue"/>
                <a:ea typeface="Helvetica Neue"/>
                <a:cs typeface="Helvetica Neue"/>
              </a:defRPr>
            </a:lvl4pPr>
            <a:lvl5pPr>
              <a:defRPr sz="1650" b="1">
                <a:solidFill>
                  <a:srgbClr val="ACB7C7"/>
                </a:solidFill>
                <a:latin typeface="Helvetica Neue"/>
                <a:ea typeface="Helvetica Neue"/>
                <a:cs typeface="Helvetica Neue"/>
              </a:defRPr>
            </a:lvl5pPr>
            <a:lvl6pPr>
              <a:defRPr sz="1650" b="1">
                <a:solidFill>
                  <a:srgbClr val="ACB7C7"/>
                </a:solidFill>
                <a:latin typeface="Helvetica Neue"/>
                <a:ea typeface="Helvetica Neue"/>
                <a:cs typeface="Helvetica Neue"/>
              </a:defRPr>
            </a:lvl6pPr>
            <a:lvl7pPr>
              <a:defRPr sz="1650" b="1">
                <a:solidFill>
                  <a:srgbClr val="ACB7C7"/>
                </a:solidFill>
                <a:latin typeface="Helvetica Neue"/>
                <a:ea typeface="Helvetica Neue"/>
                <a:cs typeface="Helvetica Neue"/>
              </a:defRPr>
            </a:lvl7pPr>
            <a:lvl8pPr>
              <a:defRPr sz="1650" b="1">
                <a:solidFill>
                  <a:srgbClr val="ACB7C7"/>
                </a:solidFill>
                <a:latin typeface="Helvetica Neue"/>
                <a:ea typeface="Helvetica Neue"/>
                <a:cs typeface="Helvetica Neue"/>
              </a:defRPr>
            </a:lvl8pPr>
            <a:lvl9pPr>
              <a:defRPr sz="1650" b="1">
                <a:solidFill>
                  <a:srgbClr val="ACB7C7"/>
                </a:solidFill>
                <a:latin typeface="Helvetica Neue"/>
                <a:ea typeface="Helvetica Neue"/>
                <a:cs typeface="Helvetica Neue"/>
              </a:defRPr>
            </a:lvl9pPr>
          </a:lstStyle>
          <a:p xmlns:a="http://schemas.openxmlformats.org/drawingml/2006/main">
            <a:pPr>
              <a:defRPr sz="1650" b="1">
                <a:solidFill>
                  <a:srgbClr val="ACB7C7"/>
                </a:solidFill>
                <a:latin typeface="Helvetica Neue"/>
                <a:ea typeface="Helvetica Neue"/>
                <a:cs typeface="Helvetica Neue"/>
              </a:defRPr>
            </a:pPr>
            <a:r>
              <a:rPr sz="1650" b="1">
                <a:solidFill>
                  <a:srgbClr val="ACB7C7"/>
                </a:solidFill>
                <a:latin typeface="Helvetica Neue"/>
                <a:ea typeface="Helvetica Neue"/>
                <a:cs typeface="Helvetica Neue"/>
              </a:rPr>
              <a:t>SOM / year-one target</a:t>
            </a:r>
          </a:p>
        </p:txBody>
      </p:sp>
      <p:sp>
        <p:nvSpPr>
          <p:cNvPr id="11" name="1,000">
            <a:extLst xmlns:a="http://schemas.openxmlformats.org/drawingml/2006/main">
              <a:ext uri="{FF2B5EF4-FFF2-40B4-BE49-F238E27FC236}">
                <a16:creationId xmlns:a16="http://schemas.microsoft.com/office/drawing/2014/main" id="{6F056B58-6998-47F6-99F8-DF16B3911C10}"/>
              </a:ext>
            </a:extLst>
          </p:cNvPr>
          <p:cNvSpPr>
            <a:spLocks xmlns:a="http://schemas.openxmlformats.org/drawingml/2006/main" noGrp="1"/>
          </p:cNvSpPr>
          <p:nvPr/>
        </p:nvSpPr>
        <p:spPr>
          <a:xfrm xmlns:a="http://schemas.openxmlformats.org/drawingml/2006/main">
            <a:off x="8305800" y="296227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F4C99D"/>
                </a:solidFill>
                <a:latin typeface="Helvetica Neue"/>
                <a:ea typeface="Helvetica Neue"/>
                <a:cs typeface="Helvetica Neue"/>
              </a:defRPr>
            </a:defPPr>
            <a:lvl1pPr>
              <a:defRPr sz="6225" b="1">
                <a:solidFill>
                  <a:srgbClr val="F4C99D"/>
                </a:solidFill>
                <a:latin typeface="Helvetica Neue"/>
                <a:ea typeface="Helvetica Neue"/>
                <a:cs typeface="Helvetica Neue"/>
              </a:defRPr>
            </a:lvl1pPr>
            <a:lvl2pPr>
              <a:defRPr sz="6225" b="1">
                <a:solidFill>
                  <a:srgbClr val="F4C99D"/>
                </a:solidFill>
                <a:latin typeface="Helvetica Neue"/>
                <a:ea typeface="Helvetica Neue"/>
                <a:cs typeface="Helvetica Neue"/>
              </a:defRPr>
            </a:lvl2pPr>
            <a:lvl3pPr>
              <a:defRPr sz="6225" b="1">
                <a:solidFill>
                  <a:srgbClr val="F4C99D"/>
                </a:solidFill>
                <a:latin typeface="Helvetica Neue"/>
                <a:ea typeface="Helvetica Neue"/>
                <a:cs typeface="Helvetica Neue"/>
              </a:defRPr>
            </a:lvl3pPr>
            <a:lvl4pPr>
              <a:defRPr sz="6225" b="1">
                <a:solidFill>
                  <a:srgbClr val="F4C99D"/>
                </a:solidFill>
                <a:latin typeface="Helvetica Neue"/>
                <a:ea typeface="Helvetica Neue"/>
                <a:cs typeface="Helvetica Neue"/>
              </a:defRPr>
            </a:lvl4pPr>
            <a:lvl5pPr>
              <a:defRPr sz="6225" b="1">
                <a:solidFill>
                  <a:srgbClr val="F4C99D"/>
                </a:solidFill>
                <a:latin typeface="Helvetica Neue"/>
                <a:ea typeface="Helvetica Neue"/>
                <a:cs typeface="Helvetica Neue"/>
              </a:defRPr>
            </a:lvl5pPr>
            <a:lvl6pPr>
              <a:defRPr sz="6225" b="1">
                <a:solidFill>
                  <a:srgbClr val="F4C99D"/>
                </a:solidFill>
                <a:latin typeface="Helvetica Neue"/>
                <a:ea typeface="Helvetica Neue"/>
                <a:cs typeface="Helvetica Neue"/>
              </a:defRPr>
            </a:lvl6pPr>
            <a:lvl7pPr>
              <a:defRPr sz="6225" b="1">
                <a:solidFill>
                  <a:srgbClr val="F4C99D"/>
                </a:solidFill>
                <a:latin typeface="Helvetica Neue"/>
                <a:ea typeface="Helvetica Neue"/>
                <a:cs typeface="Helvetica Neue"/>
              </a:defRPr>
            </a:lvl7pPr>
            <a:lvl8pPr>
              <a:defRPr sz="6225" b="1">
                <a:solidFill>
                  <a:srgbClr val="F4C99D"/>
                </a:solidFill>
                <a:latin typeface="Helvetica Neue"/>
                <a:ea typeface="Helvetica Neue"/>
                <a:cs typeface="Helvetica Neue"/>
              </a:defRPr>
            </a:lvl8pPr>
            <a:lvl9pPr>
              <a:defRPr sz="6225" b="1">
                <a:solidFill>
                  <a:srgbClr val="F4C99D"/>
                </a:solidFill>
                <a:latin typeface="Helvetica Neue"/>
                <a:ea typeface="Helvetica Neue"/>
                <a:cs typeface="Helvetica Neue"/>
              </a:defRPr>
            </a:lvl9pPr>
          </a:lstStyle>
          <a:p xmlns:a="http://schemas.openxmlformats.org/drawingml/2006/main">
            <a:pPr>
              <a:defRPr sz="6225" b="1">
                <a:solidFill>
                  <a:srgbClr val="F4C99D"/>
                </a:solidFill>
                <a:latin typeface="Helvetica Neue"/>
                <a:ea typeface="Helvetica Neue"/>
                <a:cs typeface="Helvetica Neue"/>
              </a:defRPr>
            </a:pPr>
            <a:r>
              <a:rPr sz="6225" b="1">
                <a:solidFill>
                  <a:srgbClr val="F4C99D"/>
                </a:solidFill>
                <a:latin typeface="Helvetica Neue"/>
                <a:ea typeface="Helvetica Neue"/>
                <a:cs typeface="Helvetica Neue"/>
              </a:rPr>
              <a:t>1,000</a:t>
            </a:r>
          </a:p>
        </p:txBody>
      </p:sp>
      <p:sp>
        <p:nvSpPr>
          <p:cNvPr id="12" name="Paying rooms after&#10;a successful beta">
            <a:extLst xmlns:a="http://schemas.openxmlformats.org/drawingml/2006/main">
              <a:ext uri="{FF2B5EF4-FFF2-40B4-BE49-F238E27FC236}">
                <a16:creationId xmlns:a16="http://schemas.microsoft.com/office/drawing/2014/main" id="{0B82329E-FA2B-4B5A-8617-B073D17EFC66}"/>
              </a:ext>
            </a:extLst>
          </p:cNvPr>
          <p:cNvSpPr>
            <a:spLocks xmlns:a="http://schemas.openxmlformats.org/drawingml/2006/main" noGrp="1"/>
          </p:cNvSpPr>
          <p:nvPr/>
        </p:nvSpPr>
        <p:spPr>
          <a:xfrm xmlns:a="http://schemas.openxmlformats.org/drawingml/2006/main">
            <a:off x="8334375" y="42957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6"/>
                </a:solidFill>
                <a:latin typeface="Helvetica Neue"/>
                <a:ea typeface="Helvetica Neue"/>
                <a:cs typeface="Helvetica Neue"/>
              </a:defRPr>
            </a:defPPr>
            <a:lvl1pPr>
              <a:defRPr sz="2100" b="0">
                <a:solidFill>
                  <a:srgbClr val="F3F5F6"/>
                </a:solidFill>
                <a:latin typeface="Helvetica Neue"/>
                <a:ea typeface="Helvetica Neue"/>
                <a:cs typeface="Helvetica Neue"/>
              </a:defRPr>
            </a:lvl1pPr>
            <a:lvl2pPr>
              <a:defRPr sz="2100" b="0">
                <a:solidFill>
                  <a:srgbClr val="F3F5F6"/>
                </a:solidFill>
                <a:latin typeface="Helvetica Neue"/>
                <a:ea typeface="Helvetica Neue"/>
                <a:cs typeface="Helvetica Neue"/>
              </a:defRPr>
            </a:lvl2pPr>
            <a:lvl3pPr>
              <a:defRPr sz="2100" b="0">
                <a:solidFill>
                  <a:srgbClr val="F3F5F6"/>
                </a:solidFill>
                <a:latin typeface="Helvetica Neue"/>
                <a:ea typeface="Helvetica Neue"/>
                <a:cs typeface="Helvetica Neue"/>
              </a:defRPr>
            </a:lvl3pPr>
            <a:lvl4pPr>
              <a:defRPr sz="2100" b="0">
                <a:solidFill>
                  <a:srgbClr val="F3F5F6"/>
                </a:solidFill>
                <a:latin typeface="Helvetica Neue"/>
                <a:ea typeface="Helvetica Neue"/>
                <a:cs typeface="Helvetica Neue"/>
              </a:defRPr>
            </a:lvl4pPr>
            <a:lvl5pPr>
              <a:defRPr sz="2100" b="0">
                <a:solidFill>
                  <a:srgbClr val="F3F5F6"/>
                </a:solidFill>
                <a:latin typeface="Helvetica Neue"/>
                <a:ea typeface="Helvetica Neue"/>
                <a:cs typeface="Helvetica Neue"/>
              </a:defRPr>
            </a:lvl5pPr>
            <a:lvl6pPr>
              <a:defRPr sz="2100" b="0">
                <a:solidFill>
                  <a:srgbClr val="F3F5F6"/>
                </a:solidFill>
                <a:latin typeface="Helvetica Neue"/>
                <a:ea typeface="Helvetica Neue"/>
                <a:cs typeface="Helvetica Neue"/>
              </a:defRPr>
            </a:lvl6pPr>
            <a:lvl7pPr>
              <a:defRPr sz="2100" b="0">
                <a:solidFill>
                  <a:srgbClr val="F3F5F6"/>
                </a:solidFill>
                <a:latin typeface="Helvetica Neue"/>
                <a:ea typeface="Helvetica Neue"/>
                <a:cs typeface="Helvetica Neue"/>
              </a:defRPr>
            </a:lvl7pPr>
            <a:lvl8pPr>
              <a:defRPr sz="2100" b="0">
                <a:solidFill>
                  <a:srgbClr val="F3F5F6"/>
                </a:solidFill>
                <a:latin typeface="Helvetica Neue"/>
                <a:ea typeface="Helvetica Neue"/>
                <a:cs typeface="Helvetica Neue"/>
              </a:defRPr>
            </a:lvl8pPr>
            <a:lvl9pPr>
              <a:defRPr sz="2100" b="0">
                <a:solidFill>
                  <a:srgbClr val="F3F5F6"/>
                </a:solidFill>
                <a:latin typeface="Helvetica Neue"/>
                <a:ea typeface="Helvetica Neue"/>
                <a:cs typeface="Helvetica Neue"/>
              </a:defRPr>
            </a:lvl9pPr>
          </a:lstStyle>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Paying rooms after</a:t>
            </a:r>
          </a:p>
          <a:p xmlns:a="http://schemas.openxmlformats.org/drawingml/2006/main">
            <a:pPr>
              <a:defRPr sz="2100" b="0">
                <a:solidFill>
                  <a:srgbClr val="F3F5F6"/>
                </a:solidFill>
                <a:latin typeface="Helvetica Neue"/>
                <a:ea typeface="Helvetica Neue"/>
                <a:cs typeface="Helvetica Neue"/>
              </a:defRPr>
            </a:pPr>
            <a:r>
              <a:rPr sz="2100" b="0">
                <a:solidFill>
                  <a:srgbClr val="F3F5F6"/>
                </a:solidFill>
                <a:latin typeface="Helvetica Neue"/>
                <a:ea typeface="Helvetica Neue"/>
                <a:cs typeface="Helvetica Neue"/>
              </a:rPr>
              <a:t>a successful beta</a:t>
            </a:r>
          </a:p>
        </p:txBody>
      </p:sp>
      <p:sp>
        <p:nvSpPr>
          <p:cNvPr id="13" name="£29,000 annual gross revenue at 1,000 paying rooms">
            <a:extLst xmlns:a="http://schemas.openxmlformats.org/drawingml/2006/main">
              <a:ext uri="{FF2B5EF4-FFF2-40B4-BE49-F238E27FC236}">
                <a16:creationId xmlns:a16="http://schemas.microsoft.com/office/drawing/2014/main" id="{7E33EE85-2300-484A-B9D9-DE17F71F69F5}"/>
              </a:ext>
            </a:extLst>
          </p:cNvPr>
          <p:cNvSpPr>
            <a:spLocks xmlns:a="http://schemas.openxmlformats.org/drawingml/2006/main" noGrp="1"/>
          </p:cNvSpPr>
          <p:nvPr/>
        </p:nvSpPr>
        <p:spPr>
          <a:xfrm xmlns:a="http://schemas.openxmlformats.org/drawingml/2006/main">
            <a:off x="609600" y="550545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3F5F6"/>
                </a:solidFill>
                <a:latin typeface="Helvetica Neue"/>
                <a:ea typeface="Helvetica Neue"/>
                <a:cs typeface="Helvetica Neue"/>
              </a:defRPr>
            </a:defPPr>
            <a:lvl1pPr>
              <a:defRPr sz="2325" b="1">
                <a:solidFill>
                  <a:srgbClr val="F3F5F6"/>
                </a:solidFill>
                <a:latin typeface="Helvetica Neue"/>
                <a:ea typeface="Helvetica Neue"/>
                <a:cs typeface="Helvetica Neue"/>
              </a:defRPr>
            </a:lvl1pPr>
            <a:lvl2pPr>
              <a:defRPr sz="2325" b="1">
                <a:solidFill>
                  <a:srgbClr val="F3F5F6"/>
                </a:solidFill>
                <a:latin typeface="Helvetica Neue"/>
                <a:ea typeface="Helvetica Neue"/>
                <a:cs typeface="Helvetica Neue"/>
              </a:defRPr>
            </a:lvl2pPr>
            <a:lvl3pPr>
              <a:defRPr sz="2325" b="1">
                <a:solidFill>
                  <a:srgbClr val="F3F5F6"/>
                </a:solidFill>
                <a:latin typeface="Helvetica Neue"/>
                <a:ea typeface="Helvetica Neue"/>
                <a:cs typeface="Helvetica Neue"/>
              </a:defRPr>
            </a:lvl3pPr>
            <a:lvl4pPr>
              <a:defRPr sz="2325" b="1">
                <a:solidFill>
                  <a:srgbClr val="F3F5F6"/>
                </a:solidFill>
                <a:latin typeface="Helvetica Neue"/>
                <a:ea typeface="Helvetica Neue"/>
                <a:cs typeface="Helvetica Neue"/>
              </a:defRPr>
            </a:lvl4pPr>
            <a:lvl5pPr>
              <a:defRPr sz="2325" b="1">
                <a:solidFill>
                  <a:srgbClr val="F3F5F6"/>
                </a:solidFill>
                <a:latin typeface="Helvetica Neue"/>
                <a:ea typeface="Helvetica Neue"/>
                <a:cs typeface="Helvetica Neue"/>
              </a:defRPr>
            </a:lvl5pPr>
            <a:lvl6pPr>
              <a:defRPr sz="2325" b="1">
                <a:solidFill>
                  <a:srgbClr val="F3F5F6"/>
                </a:solidFill>
                <a:latin typeface="Helvetica Neue"/>
                <a:ea typeface="Helvetica Neue"/>
                <a:cs typeface="Helvetica Neue"/>
              </a:defRPr>
            </a:lvl6pPr>
            <a:lvl7pPr>
              <a:defRPr sz="2325" b="1">
                <a:solidFill>
                  <a:srgbClr val="F3F5F6"/>
                </a:solidFill>
                <a:latin typeface="Helvetica Neue"/>
                <a:ea typeface="Helvetica Neue"/>
                <a:cs typeface="Helvetica Neue"/>
              </a:defRPr>
            </a:lvl7pPr>
            <a:lvl8pPr>
              <a:defRPr sz="2325" b="1">
                <a:solidFill>
                  <a:srgbClr val="F3F5F6"/>
                </a:solidFill>
                <a:latin typeface="Helvetica Neue"/>
                <a:ea typeface="Helvetica Neue"/>
                <a:cs typeface="Helvetica Neue"/>
              </a:defRPr>
            </a:lvl8pPr>
            <a:lvl9pPr>
              <a:defRPr sz="2325" b="1">
                <a:solidFill>
                  <a:srgbClr val="F3F5F6"/>
                </a:solidFill>
                <a:latin typeface="Helvetica Neue"/>
                <a:ea typeface="Helvetica Neue"/>
                <a:cs typeface="Helvetica Neue"/>
              </a:defRPr>
            </a:lvl9pPr>
          </a:lstStyle>
          <a:p xmlns:a="http://schemas.openxmlformats.org/drawingml/2006/main">
            <a:pPr>
              <a:defRPr sz="2325" b="1">
                <a:solidFill>
                  <a:srgbClr val="F3F5F6"/>
                </a:solidFill>
                <a:latin typeface="Helvetica Neue"/>
                <a:ea typeface="Helvetica Neue"/>
                <a:cs typeface="Helvetica Neue"/>
              </a:defRPr>
            </a:pPr>
            <a:r>
              <a:rPr sz="2325" b="1">
                <a:solidFill>
                  <a:srgbClr val="F3F5F6"/>
                </a:solidFill>
                <a:latin typeface="Helvetica Neue"/>
                <a:ea typeface="Helvetica Neue"/>
                <a:cs typeface="Helvetica Neue"/>
              </a:rPr>
              <a:t>£29,000 annual gross revenue at 1,000 paying rooms</a:t>
            </a:r>
          </a:p>
        </p:txBody>
      </p:sp>
      <p:sp>
        <p:nvSpPr>
          <p:cNvPr id="14" name="TAM is a broad proxy. SAM, SOM and £29/year are pl">
            <a:extLst xmlns:a="http://schemas.openxmlformats.org/drawingml/2006/main">
              <a:ext uri="{FF2B5EF4-FFF2-40B4-BE49-F238E27FC236}">
                <a16:creationId xmlns:a16="http://schemas.microsoft.com/office/drawing/2014/main" id="{4A2AA916-8C0E-47C5-93BD-C4A82B09645B}"/>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TAM is a broad proxy. SAM, SOM and £29/year are planning assumptions. Sources: ONS and Ofcom, 2025 data.</a:t>
            </a:r>
          </a:p>
        </p:txBody>
      </p:sp>
    </p:spTree>
    <p:extLst>
      <p:ext uri="{BB962C8B-B14F-4D97-AF65-F5344CB8AC3E}">
        <p14:creationId xmlns:p14="http://schemas.microsoft.com/office/powerpoint/2010/main" val="189627361"/>
      </p:ext>
    </p:extLst>
  </p:cSld>
</p:sld>
</file>

<file path=ppt/slides/slide7.xml><?xml version="1.0" encoding="utf-8"?>
<p:sld xmlns:p="http://schemas.openxmlformats.org/presentationml/2006/main">
  <p:cSld>
    <p:bg>
      <p:bgPr>
        <a:solidFill xmlns:a="http://schemas.openxmlformats.org/drawingml/2006/main">
          <a:srgbClr val="EBEDE9"/>
        </a:solidFill>
      </p:bgPr>
    </p:bg>
    <p:spTree>
      <p:nvGrpSpPr>
        <p:cNvPr id="1" name=""/>
        <p:cNvGrpSpPr/>
        <p:nvPr/>
      </p:nvGrpSpPr>
      <p:grpSpPr>
        <a:xfrm xmlns:a="http://schemas.openxmlformats.org/drawingml/2006/main"/>
      </p:grpSpPr>
      <p:sp>
        <p:nvSpPr>
          <p:cNvPr id="11" name="SPELLCAST">
            <a:extLst xmlns:a="http://schemas.openxmlformats.org/drawingml/2006/main">
              <a:ext uri="{FF2B5EF4-FFF2-40B4-BE49-F238E27FC236}">
                <a16:creationId xmlns:a16="http://schemas.microsoft.com/office/drawing/2014/main" id="{4E5ECE1D-4637-45DB-A44A-05872F0911F8}"/>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36073"/>
                </a:solidFill>
                <a:latin typeface="Helvetica Neue"/>
                <a:ea typeface="Helvetica Neue"/>
                <a:cs typeface="Helvetica Neue"/>
              </a:defRPr>
            </a:defPPr>
            <a:lvl1pPr>
              <a:defRPr sz="1125" b="1">
                <a:solidFill>
                  <a:srgbClr val="536073"/>
                </a:solidFill>
                <a:latin typeface="Helvetica Neue"/>
                <a:ea typeface="Helvetica Neue"/>
                <a:cs typeface="Helvetica Neue"/>
              </a:defRPr>
            </a:lvl1pPr>
            <a:lvl2pPr>
              <a:defRPr sz="1125" b="1">
                <a:solidFill>
                  <a:srgbClr val="536073"/>
                </a:solidFill>
                <a:latin typeface="Helvetica Neue"/>
                <a:ea typeface="Helvetica Neue"/>
                <a:cs typeface="Helvetica Neue"/>
              </a:defRPr>
            </a:lvl2pPr>
            <a:lvl3pPr>
              <a:defRPr sz="1125" b="1">
                <a:solidFill>
                  <a:srgbClr val="536073"/>
                </a:solidFill>
                <a:latin typeface="Helvetica Neue"/>
                <a:ea typeface="Helvetica Neue"/>
                <a:cs typeface="Helvetica Neue"/>
              </a:defRPr>
            </a:lvl3pPr>
            <a:lvl4pPr>
              <a:defRPr sz="1125" b="1">
                <a:solidFill>
                  <a:srgbClr val="536073"/>
                </a:solidFill>
                <a:latin typeface="Helvetica Neue"/>
                <a:ea typeface="Helvetica Neue"/>
                <a:cs typeface="Helvetica Neue"/>
              </a:defRPr>
            </a:lvl4pPr>
            <a:lvl5pPr>
              <a:defRPr sz="1125" b="1">
                <a:solidFill>
                  <a:srgbClr val="536073"/>
                </a:solidFill>
                <a:latin typeface="Helvetica Neue"/>
                <a:ea typeface="Helvetica Neue"/>
                <a:cs typeface="Helvetica Neue"/>
              </a:defRPr>
            </a:lvl5pPr>
            <a:lvl6pPr>
              <a:defRPr sz="1125" b="1">
                <a:solidFill>
                  <a:srgbClr val="536073"/>
                </a:solidFill>
                <a:latin typeface="Helvetica Neue"/>
                <a:ea typeface="Helvetica Neue"/>
                <a:cs typeface="Helvetica Neue"/>
              </a:defRPr>
            </a:lvl6pPr>
            <a:lvl7pPr>
              <a:defRPr sz="1125" b="1">
                <a:solidFill>
                  <a:srgbClr val="536073"/>
                </a:solidFill>
                <a:latin typeface="Helvetica Neue"/>
                <a:ea typeface="Helvetica Neue"/>
                <a:cs typeface="Helvetica Neue"/>
              </a:defRPr>
            </a:lvl7pPr>
            <a:lvl8pPr>
              <a:defRPr sz="1125" b="1">
                <a:solidFill>
                  <a:srgbClr val="536073"/>
                </a:solidFill>
                <a:latin typeface="Helvetica Neue"/>
                <a:ea typeface="Helvetica Neue"/>
                <a:cs typeface="Helvetica Neue"/>
              </a:defRPr>
            </a:lvl8pPr>
            <a:lvl9pPr>
              <a:defRPr sz="1125" b="1">
                <a:solidFill>
                  <a:srgbClr val="536073"/>
                </a:solidFill>
                <a:latin typeface="Helvetica Neue"/>
                <a:ea typeface="Helvetica Neue"/>
                <a:cs typeface="Helvetica Neue"/>
              </a:defRPr>
            </a:lvl9pPr>
          </a:lstStyle>
          <a:p xmlns:a="http://schemas.openxmlformats.org/drawingml/2006/main">
            <a:pPr>
              <a:defRPr sz="1125" b="1">
                <a:solidFill>
                  <a:srgbClr val="536073"/>
                </a:solidFill>
                <a:latin typeface="Helvetica Neue"/>
                <a:ea typeface="Helvetica Neue"/>
                <a:cs typeface="Helvetica Neue"/>
              </a:defRPr>
            </a:pPr>
            <a:r>
              <a:rPr sz="1125" b="1">
                <a:solidFill>
                  <a:srgbClr val="536073"/>
                </a:solidFill>
                <a:latin typeface="Helvetica Neue"/>
                <a:ea typeface="Helvetica Neue"/>
                <a:cs typeface="Helvetica Neue"/>
              </a:rPr>
              <a:t>SPELLCAST</a:t>
            </a:r>
          </a:p>
        </p:txBody>
      </p:sp>
      <p:sp>
        <p:nvSpPr>
          <p:cNvPr id="2" name="07">
            <a:extLst xmlns:a="http://schemas.openxmlformats.org/drawingml/2006/main">
              <a:ext uri="{FF2B5EF4-FFF2-40B4-BE49-F238E27FC236}">
                <a16:creationId xmlns:a16="http://schemas.microsoft.com/office/drawing/2014/main" id="{3BD12F6C-386E-4DEC-B142-2A2B6BC7D5E5}"/>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07</a:t>
            </a:r>
          </a:p>
        </p:txBody>
      </p:sp>
      <p:sp>
        <p:nvSpPr>
          <p:cNvPr id="3" name="The first 100 users">
            <a:extLst xmlns:a="http://schemas.openxmlformats.org/drawingml/2006/main">
              <a:ext uri="{FF2B5EF4-FFF2-40B4-BE49-F238E27FC236}">
                <a16:creationId xmlns:a16="http://schemas.microsoft.com/office/drawing/2014/main" id="{3DB58A1A-631F-46BE-B275-63F59268DD5B}"/>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52133"/>
                </a:solidFill>
                <a:latin typeface="Helvetica Neue"/>
                <a:ea typeface="Helvetica Neue"/>
                <a:cs typeface="Helvetica Neue"/>
              </a:defRPr>
            </a:defPPr>
            <a:lvl1pPr>
              <a:defRPr sz="3675" b="1">
                <a:solidFill>
                  <a:srgbClr val="152133"/>
                </a:solidFill>
                <a:latin typeface="Helvetica Neue"/>
                <a:ea typeface="Helvetica Neue"/>
                <a:cs typeface="Helvetica Neue"/>
              </a:defRPr>
            </a:lvl1pPr>
            <a:lvl2pPr>
              <a:defRPr sz="3675" b="1">
                <a:solidFill>
                  <a:srgbClr val="152133"/>
                </a:solidFill>
                <a:latin typeface="Helvetica Neue"/>
                <a:ea typeface="Helvetica Neue"/>
                <a:cs typeface="Helvetica Neue"/>
              </a:defRPr>
            </a:lvl2pPr>
            <a:lvl3pPr>
              <a:defRPr sz="3675" b="1">
                <a:solidFill>
                  <a:srgbClr val="152133"/>
                </a:solidFill>
                <a:latin typeface="Helvetica Neue"/>
                <a:ea typeface="Helvetica Neue"/>
                <a:cs typeface="Helvetica Neue"/>
              </a:defRPr>
            </a:lvl3pPr>
            <a:lvl4pPr>
              <a:defRPr sz="3675" b="1">
                <a:solidFill>
                  <a:srgbClr val="152133"/>
                </a:solidFill>
                <a:latin typeface="Helvetica Neue"/>
                <a:ea typeface="Helvetica Neue"/>
                <a:cs typeface="Helvetica Neue"/>
              </a:defRPr>
            </a:lvl4pPr>
            <a:lvl5pPr>
              <a:defRPr sz="3675" b="1">
                <a:solidFill>
                  <a:srgbClr val="152133"/>
                </a:solidFill>
                <a:latin typeface="Helvetica Neue"/>
                <a:ea typeface="Helvetica Neue"/>
                <a:cs typeface="Helvetica Neue"/>
              </a:defRPr>
            </a:lvl5pPr>
            <a:lvl6pPr>
              <a:defRPr sz="3675" b="1">
                <a:solidFill>
                  <a:srgbClr val="152133"/>
                </a:solidFill>
                <a:latin typeface="Helvetica Neue"/>
                <a:ea typeface="Helvetica Neue"/>
                <a:cs typeface="Helvetica Neue"/>
              </a:defRPr>
            </a:lvl6pPr>
            <a:lvl7pPr>
              <a:defRPr sz="3675" b="1">
                <a:solidFill>
                  <a:srgbClr val="152133"/>
                </a:solidFill>
                <a:latin typeface="Helvetica Neue"/>
                <a:ea typeface="Helvetica Neue"/>
                <a:cs typeface="Helvetica Neue"/>
              </a:defRPr>
            </a:lvl7pPr>
            <a:lvl8pPr>
              <a:defRPr sz="3675" b="1">
                <a:solidFill>
                  <a:srgbClr val="152133"/>
                </a:solidFill>
                <a:latin typeface="Helvetica Neue"/>
                <a:ea typeface="Helvetica Neue"/>
                <a:cs typeface="Helvetica Neue"/>
              </a:defRPr>
            </a:lvl8pPr>
            <a:lvl9pPr>
              <a:defRPr sz="3675" b="1">
                <a:solidFill>
                  <a:srgbClr val="152133"/>
                </a:solidFill>
                <a:latin typeface="Helvetica Neue"/>
                <a:ea typeface="Helvetica Neue"/>
                <a:cs typeface="Helvetica Neue"/>
              </a:defRPr>
            </a:lvl9pPr>
          </a:lstStyle>
          <a:p xmlns:a="http://schemas.openxmlformats.org/drawingml/2006/main">
            <a:pPr>
              <a:defRPr sz="3675" b="1">
                <a:solidFill>
                  <a:srgbClr val="152133"/>
                </a:solidFill>
                <a:latin typeface="Helvetica Neue"/>
                <a:ea typeface="Helvetica Neue"/>
                <a:cs typeface="Helvetica Neue"/>
              </a:defRPr>
            </a:pPr>
            <a:r>
              <a:rPr sz="3675" b="1">
                <a:solidFill>
                  <a:srgbClr val="152133"/>
                </a:solidFill>
                <a:latin typeface="Helvetica Neue"/>
                <a:ea typeface="Helvetica Neue"/>
                <a:cs typeface="Helvetica Neue"/>
              </a:rPr>
              <a:t>The first 100 users</a:t>
            </a:r>
          </a:p>
        </p:txBody>
      </p:sp>
      <p:sp>
        <p:nvSpPr>
          <p:cNvPr id="4" name="100">
            <a:extLst xmlns:a="http://schemas.openxmlformats.org/drawingml/2006/main">
              <a:ext uri="{FF2B5EF4-FFF2-40B4-BE49-F238E27FC236}">
                <a16:creationId xmlns:a16="http://schemas.microsoft.com/office/drawing/2014/main" id="{1884B92C-273A-4CAB-8053-1A2558A7D8EB}"/>
              </a:ext>
            </a:extLst>
          </p:cNvPr>
          <p:cNvSpPr>
            <a:spLocks xmlns:a="http://schemas.openxmlformats.org/drawingml/2006/main" noGrp="1"/>
          </p:cNvSpPr>
          <p:nvPr/>
        </p:nvSpPr>
        <p:spPr>
          <a:xfrm xmlns:a="http://schemas.openxmlformats.org/drawingml/2006/main">
            <a:off x="542925" y="2247900"/>
            <a:ext cx="4429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300" b="1">
                <a:solidFill>
                  <a:srgbClr val="152133"/>
                </a:solidFill>
                <a:latin typeface="Helvetica Neue"/>
                <a:ea typeface="Helvetica Neue"/>
                <a:cs typeface="Helvetica Neue"/>
              </a:defRPr>
            </a:defPPr>
            <a:lvl1pPr>
              <a:defRPr sz="12300" b="1">
                <a:solidFill>
                  <a:srgbClr val="152133"/>
                </a:solidFill>
                <a:latin typeface="Helvetica Neue"/>
                <a:ea typeface="Helvetica Neue"/>
                <a:cs typeface="Helvetica Neue"/>
              </a:defRPr>
            </a:lvl1pPr>
            <a:lvl2pPr>
              <a:defRPr sz="12300" b="1">
                <a:solidFill>
                  <a:srgbClr val="152133"/>
                </a:solidFill>
                <a:latin typeface="Helvetica Neue"/>
                <a:ea typeface="Helvetica Neue"/>
                <a:cs typeface="Helvetica Neue"/>
              </a:defRPr>
            </a:lvl2pPr>
            <a:lvl3pPr>
              <a:defRPr sz="12300" b="1">
                <a:solidFill>
                  <a:srgbClr val="152133"/>
                </a:solidFill>
                <a:latin typeface="Helvetica Neue"/>
                <a:ea typeface="Helvetica Neue"/>
                <a:cs typeface="Helvetica Neue"/>
              </a:defRPr>
            </a:lvl3pPr>
            <a:lvl4pPr>
              <a:defRPr sz="12300" b="1">
                <a:solidFill>
                  <a:srgbClr val="152133"/>
                </a:solidFill>
                <a:latin typeface="Helvetica Neue"/>
                <a:ea typeface="Helvetica Neue"/>
                <a:cs typeface="Helvetica Neue"/>
              </a:defRPr>
            </a:lvl4pPr>
            <a:lvl5pPr>
              <a:defRPr sz="12300" b="1">
                <a:solidFill>
                  <a:srgbClr val="152133"/>
                </a:solidFill>
                <a:latin typeface="Helvetica Neue"/>
                <a:ea typeface="Helvetica Neue"/>
                <a:cs typeface="Helvetica Neue"/>
              </a:defRPr>
            </a:lvl5pPr>
            <a:lvl6pPr>
              <a:defRPr sz="12300" b="1">
                <a:solidFill>
                  <a:srgbClr val="152133"/>
                </a:solidFill>
                <a:latin typeface="Helvetica Neue"/>
                <a:ea typeface="Helvetica Neue"/>
                <a:cs typeface="Helvetica Neue"/>
              </a:defRPr>
            </a:lvl6pPr>
            <a:lvl7pPr>
              <a:defRPr sz="12300" b="1">
                <a:solidFill>
                  <a:srgbClr val="152133"/>
                </a:solidFill>
                <a:latin typeface="Helvetica Neue"/>
                <a:ea typeface="Helvetica Neue"/>
                <a:cs typeface="Helvetica Neue"/>
              </a:defRPr>
            </a:lvl7pPr>
            <a:lvl8pPr>
              <a:defRPr sz="12300" b="1">
                <a:solidFill>
                  <a:srgbClr val="152133"/>
                </a:solidFill>
                <a:latin typeface="Helvetica Neue"/>
                <a:ea typeface="Helvetica Neue"/>
                <a:cs typeface="Helvetica Neue"/>
              </a:defRPr>
            </a:lvl8pPr>
            <a:lvl9pPr>
              <a:defRPr sz="12300" b="1">
                <a:solidFill>
                  <a:srgbClr val="152133"/>
                </a:solidFill>
                <a:latin typeface="Helvetica Neue"/>
                <a:ea typeface="Helvetica Neue"/>
                <a:cs typeface="Helvetica Neue"/>
              </a:defRPr>
            </a:lvl9pPr>
          </a:lstStyle>
          <a:p xmlns:a="http://schemas.openxmlformats.org/drawingml/2006/main">
            <a:pPr>
              <a:defRPr sz="12300" b="1">
                <a:solidFill>
                  <a:srgbClr val="152133"/>
                </a:solidFill>
                <a:latin typeface="Helvetica Neue"/>
                <a:ea typeface="Helvetica Neue"/>
                <a:cs typeface="Helvetica Neue"/>
              </a:defRPr>
            </a:pPr>
            <a:r>
              <a:rPr sz="12300" b="1">
                <a:solidFill>
                  <a:srgbClr val="152133"/>
                </a:solidFill>
                <a:latin typeface="Helvetica Neue"/>
                <a:ea typeface="Helvetica Neue"/>
                <a:cs typeface="Helvetica Neue"/>
              </a:rPr>
              <a:t>100</a:t>
            </a:r>
          </a:p>
        </p:txBody>
      </p:sp>
      <p:sp>
        <p:nvSpPr>
          <p:cNvPr id="5" name="activated setups">
            <a:extLst xmlns:a="http://schemas.openxmlformats.org/drawingml/2006/main">
              <a:ext uri="{FF2B5EF4-FFF2-40B4-BE49-F238E27FC236}">
                <a16:creationId xmlns:a16="http://schemas.microsoft.com/office/drawing/2014/main" id="{1D35F50D-B7AB-4409-AE55-18E318E4E806}"/>
              </a:ext>
            </a:extLst>
          </p:cNvPr>
          <p:cNvSpPr>
            <a:spLocks xmlns:a="http://schemas.openxmlformats.org/drawingml/2006/main" noGrp="1"/>
          </p:cNvSpPr>
          <p:nvPr/>
        </p:nvSpPr>
        <p:spPr>
          <a:xfrm xmlns:a="http://schemas.openxmlformats.org/drawingml/2006/main">
            <a:off x="647700" y="4429125"/>
            <a:ext cx="4162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36073"/>
                </a:solidFill>
                <a:latin typeface="Helvetica Neue"/>
                <a:ea typeface="Helvetica Neue"/>
                <a:cs typeface="Helvetica Neue"/>
              </a:defRPr>
            </a:defPPr>
            <a:lvl1pPr>
              <a:defRPr sz="2400" b="0">
                <a:solidFill>
                  <a:srgbClr val="536073"/>
                </a:solidFill>
                <a:latin typeface="Helvetica Neue"/>
                <a:ea typeface="Helvetica Neue"/>
                <a:cs typeface="Helvetica Neue"/>
              </a:defRPr>
            </a:lvl1pPr>
            <a:lvl2pPr>
              <a:defRPr sz="2400" b="0">
                <a:solidFill>
                  <a:srgbClr val="536073"/>
                </a:solidFill>
                <a:latin typeface="Helvetica Neue"/>
                <a:ea typeface="Helvetica Neue"/>
                <a:cs typeface="Helvetica Neue"/>
              </a:defRPr>
            </a:lvl2pPr>
            <a:lvl3pPr>
              <a:defRPr sz="2400" b="0">
                <a:solidFill>
                  <a:srgbClr val="536073"/>
                </a:solidFill>
                <a:latin typeface="Helvetica Neue"/>
                <a:ea typeface="Helvetica Neue"/>
                <a:cs typeface="Helvetica Neue"/>
              </a:defRPr>
            </a:lvl3pPr>
            <a:lvl4pPr>
              <a:defRPr sz="2400" b="0">
                <a:solidFill>
                  <a:srgbClr val="536073"/>
                </a:solidFill>
                <a:latin typeface="Helvetica Neue"/>
                <a:ea typeface="Helvetica Neue"/>
                <a:cs typeface="Helvetica Neue"/>
              </a:defRPr>
            </a:lvl4pPr>
            <a:lvl5pPr>
              <a:defRPr sz="2400" b="0">
                <a:solidFill>
                  <a:srgbClr val="536073"/>
                </a:solidFill>
                <a:latin typeface="Helvetica Neue"/>
                <a:ea typeface="Helvetica Neue"/>
                <a:cs typeface="Helvetica Neue"/>
              </a:defRPr>
            </a:lvl5pPr>
            <a:lvl6pPr>
              <a:defRPr sz="2400" b="0">
                <a:solidFill>
                  <a:srgbClr val="536073"/>
                </a:solidFill>
                <a:latin typeface="Helvetica Neue"/>
                <a:ea typeface="Helvetica Neue"/>
                <a:cs typeface="Helvetica Neue"/>
              </a:defRPr>
            </a:lvl6pPr>
            <a:lvl7pPr>
              <a:defRPr sz="2400" b="0">
                <a:solidFill>
                  <a:srgbClr val="536073"/>
                </a:solidFill>
                <a:latin typeface="Helvetica Neue"/>
                <a:ea typeface="Helvetica Neue"/>
                <a:cs typeface="Helvetica Neue"/>
              </a:defRPr>
            </a:lvl7pPr>
            <a:lvl8pPr>
              <a:defRPr sz="2400" b="0">
                <a:solidFill>
                  <a:srgbClr val="536073"/>
                </a:solidFill>
                <a:latin typeface="Helvetica Neue"/>
                <a:ea typeface="Helvetica Neue"/>
                <a:cs typeface="Helvetica Neue"/>
              </a:defRPr>
            </a:lvl8pPr>
            <a:lvl9pPr>
              <a:defRPr sz="2400" b="0">
                <a:solidFill>
                  <a:srgbClr val="536073"/>
                </a:solidFill>
                <a:latin typeface="Helvetica Neue"/>
                <a:ea typeface="Helvetica Neue"/>
                <a:cs typeface="Helvetica Neue"/>
              </a:defRPr>
            </a:lvl9pPr>
          </a:lstStyle>
          <a:p xmlns:a="http://schemas.openxmlformats.org/drawingml/2006/main">
            <a:pPr>
              <a:defRPr sz="2400" b="0">
                <a:solidFill>
                  <a:srgbClr val="536073"/>
                </a:solidFill>
                <a:latin typeface="Helvetica Neue"/>
                <a:ea typeface="Helvetica Neue"/>
                <a:cs typeface="Helvetica Neue"/>
              </a:defRPr>
            </a:pPr>
            <a:r>
              <a:rPr sz="2400" b="0">
                <a:solidFill>
                  <a:srgbClr val="536073"/>
                </a:solidFill>
                <a:latin typeface="Helvetica Neue"/>
                <a:ea typeface="Helvetica Neue"/>
                <a:cs typeface="Helvetica Neue"/>
              </a:rPr>
              <a:t>activated setups</a:t>
            </a:r>
          </a:p>
        </p:txBody>
      </p:sp>
      <p:sp>
        <p:nvSpPr>
          <p:cNvPr id="6" name="01   Durham pilot">
            <a:extLst xmlns:a="http://schemas.openxmlformats.org/drawingml/2006/main">
              <a:ext uri="{FF2B5EF4-FFF2-40B4-BE49-F238E27FC236}">
                <a16:creationId xmlns:a16="http://schemas.microsoft.com/office/drawing/2014/main" id="{69384725-280C-4F0D-B250-9361A607514E}"/>
              </a:ext>
            </a:extLst>
          </p:cNvPr>
          <p:cNvSpPr>
            <a:spLocks xmlns:a="http://schemas.openxmlformats.org/drawingml/2006/main" noGrp="1"/>
          </p:cNvSpPr>
          <p:nvPr/>
        </p:nvSpPr>
        <p:spPr>
          <a:xfrm xmlns:a="http://schemas.openxmlformats.org/drawingml/2006/main">
            <a:off x="5448300" y="2324100"/>
            <a:ext cx="600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52133"/>
                </a:solidFill>
                <a:latin typeface="Helvetica Neue"/>
                <a:ea typeface="Helvetica Neue"/>
                <a:cs typeface="Helvetica Neue"/>
              </a:defRPr>
            </a:defPPr>
            <a:lvl1pPr>
              <a:defRPr sz="2400" b="1">
                <a:solidFill>
                  <a:srgbClr val="152133"/>
                </a:solidFill>
                <a:latin typeface="Helvetica Neue"/>
                <a:ea typeface="Helvetica Neue"/>
                <a:cs typeface="Helvetica Neue"/>
              </a:defRPr>
            </a:lvl1pPr>
            <a:lvl2pPr>
              <a:defRPr sz="2400" b="1">
                <a:solidFill>
                  <a:srgbClr val="152133"/>
                </a:solidFill>
                <a:latin typeface="Helvetica Neue"/>
                <a:ea typeface="Helvetica Neue"/>
                <a:cs typeface="Helvetica Neue"/>
              </a:defRPr>
            </a:lvl2pPr>
            <a:lvl3pPr>
              <a:defRPr sz="2400" b="1">
                <a:solidFill>
                  <a:srgbClr val="152133"/>
                </a:solidFill>
                <a:latin typeface="Helvetica Neue"/>
                <a:ea typeface="Helvetica Neue"/>
                <a:cs typeface="Helvetica Neue"/>
              </a:defRPr>
            </a:lvl3pPr>
            <a:lvl4pPr>
              <a:defRPr sz="2400" b="1">
                <a:solidFill>
                  <a:srgbClr val="152133"/>
                </a:solidFill>
                <a:latin typeface="Helvetica Neue"/>
                <a:ea typeface="Helvetica Neue"/>
                <a:cs typeface="Helvetica Neue"/>
              </a:defRPr>
            </a:lvl4pPr>
            <a:lvl5pPr>
              <a:defRPr sz="2400" b="1">
                <a:solidFill>
                  <a:srgbClr val="152133"/>
                </a:solidFill>
                <a:latin typeface="Helvetica Neue"/>
                <a:ea typeface="Helvetica Neue"/>
                <a:cs typeface="Helvetica Neue"/>
              </a:defRPr>
            </a:lvl5pPr>
            <a:lvl6pPr>
              <a:defRPr sz="2400" b="1">
                <a:solidFill>
                  <a:srgbClr val="152133"/>
                </a:solidFill>
                <a:latin typeface="Helvetica Neue"/>
                <a:ea typeface="Helvetica Neue"/>
                <a:cs typeface="Helvetica Neue"/>
              </a:defRPr>
            </a:lvl6pPr>
            <a:lvl7pPr>
              <a:defRPr sz="2400" b="1">
                <a:solidFill>
                  <a:srgbClr val="152133"/>
                </a:solidFill>
                <a:latin typeface="Helvetica Neue"/>
                <a:ea typeface="Helvetica Neue"/>
                <a:cs typeface="Helvetica Neue"/>
              </a:defRPr>
            </a:lvl7pPr>
            <a:lvl8pPr>
              <a:defRPr sz="2400" b="1">
                <a:solidFill>
                  <a:srgbClr val="152133"/>
                </a:solidFill>
                <a:latin typeface="Helvetica Neue"/>
                <a:ea typeface="Helvetica Neue"/>
                <a:cs typeface="Helvetica Neue"/>
              </a:defRPr>
            </a:lvl8pPr>
            <a:lvl9pPr>
              <a:defRPr sz="2400" b="1">
                <a:solidFill>
                  <a:srgbClr val="152133"/>
                </a:solidFill>
                <a:latin typeface="Helvetica Neue"/>
                <a:ea typeface="Helvetica Neue"/>
                <a:cs typeface="Helvetica Neue"/>
              </a:defRPr>
            </a:lvl9pPr>
          </a:lstStyle>
          <a:p xmlns:a="http://schemas.openxmlformats.org/drawingml/2006/main">
            <a:pPr>
              <a:defRPr sz="2400" b="1">
                <a:solidFill>
                  <a:srgbClr val="152133"/>
                </a:solidFill>
                <a:latin typeface="Helvetica Neue"/>
                <a:ea typeface="Helvetica Neue"/>
                <a:cs typeface="Helvetica Neue"/>
              </a:defRPr>
            </a:pPr>
            <a:r>
              <a:rPr sz="2400" b="1">
                <a:solidFill>
                  <a:srgbClr val="152133"/>
                </a:solidFill>
                <a:latin typeface="Helvetica Neue"/>
                <a:ea typeface="Helvetica Neue"/>
                <a:cs typeface="Helvetica Neue"/>
              </a:rPr>
              <a:t>01   Durham pilot</a:t>
            </a:r>
          </a:p>
        </p:txBody>
      </p:sp>
      <p:sp>
        <p:nvSpPr>
          <p:cNvPr id="7" name="Recruit 20 compatible testers through&#10;computing an">
            <a:extLst xmlns:a="http://schemas.openxmlformats.org/drawingml/2006/main">
              <a:ext uri="{FF2B5EF4-FFF2-40B4-BE49-F238E27FC236}">
                <a16:creationId xmlns:a16="http://schemas.microsoft.com/office/drawing/2014/main" id="{FF5308DE-A902-4744-86A5-C81E4059C091}"/>
              </a:ext>
            </a:extLst>
          </p:cNvPr>
          <p:cNvSpPr>
            <a:spLocks xmlns:a="http://schemas.openxmlformats.org/drawingml/2006/main" noGrp="1"/>
          </p:cNvSpPr>
          <p:nvPr/>
        </p:nvSpPr>
        <p:spPr>
          <a:xfrm xmlns:a="http://schemas.openxmlformats.org/drawingml/2006/main">
            <a:off x="5448300" y="28956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Recruit 20 compatible testers through</a:t>
            </a:r>
          </a:p>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computing and gaming societies.</a:t>
            </a:r>
          </a:p>
        </p:txBody>
      </p:sp>
      <p:sp>
        <p:nvSpPr>
          <p:cNvPr id="8" name="02   A demo people can share">
            <a:extLst xmlns:a="http://schemas.openxmlformats.org/drawingml/2006/main">
              <a:ext uri="{FF2B5EF4-FFF2-40B4-BE49-F238E27FC236}">
                <a16:creationId xmlns:a16="http://schemas.microsoft.com/office/drawing/2014/main" id="{3B63EC59-270F-403B-9E65-93E56B31874D}"/>
              </a:ext>
            </a:extLst>
          </p:cNvPr>
          <p:cNvSpPr>
            <a:spLocks xmlns:a="http://schemas.openxmlformats.org/drawingml/2006/main" noGrp="1"/>
          </p:cNvSpPr>
          <p:nvPr/>
        </p:nvSpPr>
        <p:spPr>
          <a:xfrm xmlns:a="http://schemas.openxmlformats.org/drawingml/2006/main">
            <a:off x="5448300" y="4029075"/>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52133"/>
                </a:solidFill>
                <a:latin typeface="Helvetica Neue"/>
                <a:ea typeface="Helvetica Neue"/>
                <a:cs typeface="Helvetica Neue"/>
              </a:defRPr>
            </a:defPPr>
            <a:lvl1pPr>
              <a:defRPr sz="2400" b="1">
                <a:solidFill>
                  <a:srgbClr val="152133"/>
                </a:solidFill>
                <a:latin typeface="Helvetica Neue"/>
                <a:ea typeface="Helvetica Neue"/>
                <a:cs typeface="Helvetica Neue"/>
              </a:defRPr>
            </a:lvl1pPr>
            <a:lvl2pPr>
              <a:defRPr sz="2400" b="1">
                <a:solidFill>
                  <a:srgbClr val="152133"/>
                </a:solidFill>
                <a:latin typeface="Helvetica Neue"/>
                <a:ea typeface="Helvetica Neue"/>
                <a:cs typeface="Helvetica Neue"/>
              </a:defRPr>
            </a:lvl2pPr>
            <a:lvl3pPr>
              <a:defRPr sz="2400" b="1">
                <a:solidFill>
                  <a:srgbClr val="152133"/>
                </a:solidFill>
                <a:latin typeface="Helvetica Neue"/>
                <a:ea typeface="Helvetica Neue"/>
                <a:cs typeface="Helvetica Neue"/>
              </a:defRPr>
            </a:lvl3pPr>
            <a:lvl4pPr>
              <a:defRPr sz="2400" b="1">
                <a:solidFill>
                  <a:srgbClr val="152133"/>
                </a:solidFill>
                <a:latin typeface="Helvetica Neue"/>
                <a:ea typeface="Helvetica Neue"/>
                <a:cs typeface="Helvetica Neue"/>
              </a:defRPr>
            </a:lvl4pPr>
            <a:lvl5pPr>
              <a:defRPr sz="2400" b="1">
                <a:solidFill>
                  <a:srgbClr val="152133"/>
                </a:solidFill>
                <a:latin typeface="Helvetica Neue"/>
                <a:ea typeface="Helvetica Neue"/>
                <a:cs typeface="Helvetica Neue"/>
              </a:defRPr>
            </a:lvl5pPr>
            <a:lvl6pPr>
              <a:defRPr sz="2400" b="1">
                <a:solidFill>
                  <a:srgbClr val="152133"/>
                </a:solidFill>
                <a:latin typeface="Helvetica Neue"/>
                <a:ea typeface="Helvetica Neue"/>
                <a:cs typeface="Helvetica Neue"/>
              </a:defRPr>
            </a:lvl6pPr>
            <a:lvl7pPr>
              <a:defRPr sz="2400" b="1">
                <a:solidFill>
                  <a:srgbClr val="152133"/>
                </a:solidFill>
                <a:latin typeface="Helvetica Neue"/>
                <a:ea typeface="Helvetica Neue"/>
                <a:cs typeface="Helvetica Neue"/>
              </a:defRPr>
            </a:lvl7pPr>
            <a:lvl8pPr>
              <a:defRPr sz="2400" b="1">
                <a:solidFill>
                  <a:srgbClr val="152133"/>
                </a:solidFill>
                <a:latin typeface="Helvetica Neue"/>
                <a:ea typeface="Helvetica Neue"/>
                <a:cs typeface="Helvetica Neue"/>
              </a:defRPr>
            </a:lvl8pPr>
            <a:lvl9pPr>
              <a:defRPr sz="2400" b="1">
                <a:solidFill>
                  <a:srgbClr val="152133"/>
                </a:solidFill>
                <a:latin typeface="Helvetica Neue"/>
                <a:ea typeface="Helvetica Neue"/>
                <a:cs typeface="Helvetica Neue"/>
              </a:defRPr>
            </a:lvl9pPr>
          </a:lstStyle>
          <a:p xmlns:a="http://schemas.openxmlformats.org/drawingml/2006/main">
            <a:pPr>
              <a:defRPr sz="2400" b="1">
                <a:solidFill>
                  <a:srgbClr val="152133"/>
                </a:solidFill>
                <a:latin typeface="Helvetica Neue"/>
                <a:ea typeface="Helvetica Neue"/>
                <a:cs typeface="Helvetica Neue"/>
              </a:defRPr>
            </a:pPr>
            <a:r>
              <a:rPr sz="2400" b="1">
                <a:solidFill>
                  <a:srgbClr val="152133"/>
                </a:solidFill>
                <a:latin typeface="Helvetica Neue"/>
                <a:ea typeface="Helvetica Neue"/>
                <a:cs typeface="Helvetica Neue"/>
              </a:rPr>
              <a:t>02   A demo people can share</a:t>
            </a:r>
          </a:p>
        </p:txBody>
      </p:sp>
      <p:sp>
        <p:nvSpPr>
          <p:cNvPr id="9" name="Publish the real interaction with a setup guide.&#10;R">
            <a:extLst xmlns:a="http://schemas.openxmlformats.org/drawingml/2006/main">
              <a:ext uri="{FF2B5EF4-FFF2-40B4-BE49-F238E27FC236}">
                <a16:creationId xmlns:a16="http://schemas.microsoft.com/office/drawing/2014/main" id="{AB5E3934-AD6C-4BA8-96B1-CB248F0ACF78}"/>
              </a:ext>
            </a:extLst>
          </p:cNvPr>
          <p:cNvSpPr>
            <a:spLocks xmlns:a="http://schemas.openxmlformats.org/drawingml/2006/main" noGrp="1"/>
          </p:cNvSpPr>
          <p:nvPr/>
        </p:nvSpPr>
        <p:spPr>
          <a:xfrm xmlns:a="http://schemas.openxmlformats.org/drawingml/2006/main">
            <a:off x="5448300" y="4591050"/>
            <a:ext cx="6000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Publish the real interaction with a setup guide.</a:t>
            </a:r>
          </a:p>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Reach maker groups and desk-setup creators.</a:t>
            </a:r>
          </a:p>
        </p:txBody>
      </p:sp>
      <p:sp>
        <p:nvSpPr>
          <p:cNvPr id="10" name="Target funnel: 400 qualified visits × 25% activati">
            <a:extLst xmlns:a="http://schemas.openxmlformats.org/drawingml/2006/main">
              <a:ext uri="{FF2B5EF4-FFF2-40B4-BE49-F238E27FC236}">
                <a16:creationId xmlns:a16="http://schemas.microsoft.com/office/drawing/2014/main" id="{D06B8016-3069-48D2-8F46-43D6CD1EC934}"/>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Target funnel: 400 qualified visits × 25% activation = 100 users. Proposed channels and conversion, not traction.</a:t>
            </a:r>
          </a:p>
        </p:txBody>
      </p:sp>
    </p:spTree>
    <p:extLst>
      <p:ext uri="{BB962C8B-B14F-4D97-AF65-F5344CB8AC3E}">
        <p14:creationId xmlns:p14="http://schemas.microsoft.com/office/powerpoint/2010/main" val="476719318"/>
      </p:ext>
    </p:extLst>
  </p:cSld>
</p:sld>
</file>

<file path=ppt/slides/slide8.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1" name="SPELLCAST">
            <a:extLst xmlns:a="http://schemas.openxmlformats.org/drawingml/2006/main">
              <a:ext uri="{FF2B5EF4-FFF2-40B4-BE49-F238E27FC236}">
                <a16:creationId xmlns:a16="http://schemas.microsoft.com/office/drawing/2014/main" id="{A6607714-FB23-4F26-A340-046468456B13}"/>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a:t>
            </a:r>
          </a:p>
        </p:txBody>
      </p:sp>
      <p:sp>
        <p:nvSpPr>
          <p:cNvPr id="2" name="08">
            <a:extLst xmlns:a="http://schemas.openxmlformats.org/drawingml/2006/main">
              <a:ext uri="{FF2B5EF4-FFF2-40B4-BE49-F238E27FC236}">
                <a16:creationId xmlns:a16="http://schemas.microsoft.com/office/drawing/2014/main" id="{AF70BA88-9B72-4C9F-BFBC-045F36575F0A}"/>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08</a:t>
            </a:r>
          </a:p>
        </p:txBody>
      </p:sp>
      <p:sp>
        <p:nvSpPr>
          <p:cNvPr id="3" name="A software licence for the room">
            <a:extLst xmlns:a="http://schemas.openxmlformats.org/drawingml/2006/main">
              <a:ext uri="{FF2B5EF4-FFF2-40B4-BE49-F238E27FC236}">
                <a16:creationId xmlns:a16="http://schemas.microsoft.com/office/drawing/2014/main" id="{C5B57EA3-4444-46B4-81B7-30EE5301376C}"/>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A software licence for the room</a:t>
            </a:r>
          </a:p>
        </p:txBody>
      </p:sp>
      <p:sp>
        <p:nvSpPr>
          <p:cNvPr id="4" name="£29">
            <a:extLst xmlns:a="http://schemas.openxmlformats.org/drawingml/2006/main">
              <a:ext uri="{FF2B5EF4-FFF2-40B4-BE49-F238E27FC236}">
                <a16:creationId xmlns:a16="http://schemas.microsoft.com/office/drawing/2014/main" id="{5439DFAE-C922-48D2-A06B-28677FE9D958}"/>
              </a:ext>
            </a:extLst>
          </p:cNvPr>
          <p:cNvSpPr>
            <a:spLocks xmlns:a="http://schemas.openxmlformats.org/drawingml/2006/main" noGrp="1"/>
          </p:cNvSpPr>
          <p:nvPr/>
        </p:nvSpPr>
        <p:spPr>
          <a:xfrm xmlns:a="http://schemas.openxmlformats.org/drawingml/2006/main">
            <a:off x="542925" y="2238375"/>
            <a:ext cx="5524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325" b="1">
                <a:solidFill>
                  <a:srgbClr val="83C9FA"/>
                </a:solidFill>
                <a:latin typeface="Helvetica Neue"/>
                <a:ea typeface="Helvetica Neue"/>
                <a:cs typeface="Helvetica Neue"/>
              </a:defRPr>
            </a:defPPr>
            <a:lvl1pPr>
              <a:defRPr sz="11325" b="1">
                <a:solidFill>
                  <a:srgbClr val="83C9FA"/>
                </a:solidFill>
                <a:latin typeface="Helvetica Neue"/>
                <a:ea typeface="Helvetica Neue"/>
                <a:cs typeface="Helvetica Neue"/>
              </a:defRPr>
            </a:lvl1pPr>
            <a:lvl2pPr>
              <a:defRPr sz="11325" b="1">
                <a:solidFill>
                  <a:srgbClr val="83C9FA"/>
                </a:solidFill>
                <a:latin typeface="Helvetica Neue"/>
                <a:ea typeface="Helvetica Neue"/>
                <a:cs typeface="Helvetica Neue"/>
              </a:defRPr>
            </a:lvl2pPr>
            <a:lvl3pPr>
              <a:defRPr sz="11325" b="1">
                <a:solidFill>
                  <a:srgbClr val="83C9FA"/>
                </a:solidFill>
                <a:latin typeface="Helvetica Neue"/>
                <a:ea typeface="Helvetica Neue"/>
                <a:cs typeface="Helvetica Neue"/>
              </a:defRPr>
            </a:lvl3pPr>
            <a:lvl4pPr>
              <a:defRPr sz="11325" b="1">
                <a:solidFill>
                  <a:srgbClr val="83C9FA"/>
                </a:solidFill>
                <a:latin typeface="Helvetica Neue"/>
                <a:ea typeface="Helvetica Neue"/>
                <a:cs typeface="Helvetica Neue"/>
              </a:defRPr>
            </a:lvl4pPr>
            <a:lvl5pPr>
              <a:defRPr sz="11325" b="1">
                <a:solidFill>
                  <a:srgbClr val="83C9FA"/>
                </a:solidFill>
                <a:latin typeface="Helvetica Neue"/>
                <a:ea typeface="Helvetica Neue"/>
                <a:cs typeface="Helvetica Neue"/>
              </a:defRPr>
            </a:lvl5pPr>
            <a:lvl6pPr>
              <a:defRPr sz="11325" b="1">
                <a:solidFill>
                  <a:srgbClr val="83C9FA"/>
                </a:solidFill>
                <a:latin typeface="Helvetica Neue"/>
                <a:ea typeface="Helvetica Neue"/>
                <a:cs typeface="Helvetica Neue"/>
              </a:defRPr>
            </a:lvl6pPr>
            <a:lvl7pPr>
              <a:defRPr sz="11325" b="1">
                <a:solidFill>
                  <a:srgbClr val="83C9FA"/>
                </a:solidFill>
                <a:latin typeface="Helvetica Neue"/>
                <a:ea typeface="Helvetica Neue"/>
                <a:cs typeface="Helvetica Neue"/>
              </a:defRPr>
            </a:lvl7pPr>
            <a:lvl8pPr>
              <a:defRPr sz="11325" b="1">
                <a:solidFill>
                  <a:srgbClr val="83C9FA"/>
                </a:solidFill>
                <a:latin typeface="Helvetica Neue"/>
                <a:ea typeface="Helvetica Neue"/>
                <a:cs typeface="Helvetica Neue"/>
              </a:defRPr>
            </a:lvl8pPr>
            <a:lvl9pPr>
              <a:defRPr sz="11325" b="1">
                <a:solidFill>
                  <a:srgbClr val="83C9FA"/>
                </a:solidFill>
                <a:latin typeface="Helvetica Neue"/>
                <a:ea typeface="Helvetica Neue"/>
                <a:cs typeface="Helvetica Neue"/>
              </a:defRPr>
            </a:lvl9pPr>
          </a:lstStyle>
          <a:p xmlns:a="http://schemas.openxmlformats.org/drawingml/2006/main">
            <a:pPr>
              <a:defRPr sz="11325" b="1">
                <a:solidFill>
                  <a:srgbClr val="83C9FA"/>
                </a:solidFill>
                <a:latin typeface="Helvetica Neue"/>
                <a:ea typeface="Helvetica Neue"/>
                <a:cs typeface="Helvetica Neue"/>
              </a:defRPr>
            </a:pPr>
            <a:r>
              <a:rPr sz="11325" b="1">
                <a:solidFill>
                  <a:srgbClr val="83C9FA"/>
                </a:solidFill>
                <a:latin typeface="Helvetica Neue"/>
                <a:ea typeface="Helvetica Neue"/>
                <a:cs typeface="Helvetica Neue"/>
              </a:rPr>
              <a:t>£29</a:t>
            </a:r>
          </a:p>
        </p:txBody>
      </p:sp>
      <p:sp>
        <p:nvSpPr>
          <p:cNvPr id="5" name="per room / year">
            <a:extLst xmlns:a="http://schemas.openxmlformats.org/drawingml/2006/main">
              <a:ext uri="{FF2B5EF4-FFF2-40B4-BE49-F238E27FC236}">
                <a16:creationId xmlns:a16="http://schemas.microsoft.com/office/drawing/2014/main" id="{94BEB784-324D-42E0-BA31-CB1C9D2487B6}"/>
              </a:ext>
            </a:extLst>
          </p:cNvPr>
          <p:cNvSpPr>
            <a:spLocks xmlns:a="http://schemas.openxmlformats.org/drawingml/2006/main" noGrp="1"/>
          </p:cNvSpPr>
          <p:nvPr/>
        </p:nvSpPr>
        <p:spPr>
          <a:xfrm xmlns:a="http://schemas.openxmlformats.org/drawingml/2006/main">
            <a:off x="638175" y="4152900"/>
            <a:ext cx="4667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3F5F6"/>
                </a:solidFill>
                <a:latin typeface="Helvetica Neue"/>
                <a:ea typeface="Helvetica Neue"/>
                <a:cs typeface="Helvetica Neue"/>
              </a:defRPr>
            </a:defPPr>
            <a:lvl1pPr>
              <a:defRPr sz="2550" b="0">
                <a:solidFill>
                  <a:srgbClr val="F3F5F6"/>
                </a:solidFill>
                <a:latin typeface="Helvetica Neue"/>
                <a:ea typeface="Helvetica Neue"/>
                <a:cs typeface="Helvetica Neue"/>
              </a:defRPr>
            </a:lvl1pPr>
            <a:lvl2pPr>
              <a:defRPr sz="2550" b="0">
                <a:solidFill>
                  <a:srgbClr val="F3F5F6"/>
                </a:solidFill>
                <a:latin typeface="Helvetica Neue"/>
                <a:ea typeface="Helvetica Neue"/>
                <a:cs typeface="Helvetica Neue"/>
              </a:defRPr>
            </a:lvl2pPr>
            <a:lvl3pPr>
              <a:defRPr sz="2550" b="0">
                <a:solidFill>
                  <a:srgbClr val="F3F5F6"/>
                </a:solidFill>
                <a:latin typeface="Helvetica Neue"/>
                <a:ea typeface="Helvetica Neue"/>
                <a:cs typeface="Helvetica Neue"/>
              </a:defRPr>
            </a:lvl3pPr>
            <a:lvl4pPr>
              <a:defRPr sz="2550" b="0">
                <a:solidFill>
                  <a:srgbClr val="F3F5F6"/>
                </a:solidFill>
                <a:latin typeface="Helvetica Neue"/>
                <a:ea typeface="Helvetica Neue"/>
                <a:cs typeface="Helvetica Neue"/>
              </a:defRPr>
            </a:lvl4pPr>
            <a:lvl5pPr>
              <a:defRPr sz="2550" b="0">
                <a:solidFill>
                  <a:srgbClr val="F3F5F6"/>
                </a:solidFill>
                <a:latin typeface="Helvetica Neue"/>
                <a:ea typeface="Helvetica Neue"/>
                <a:cs typeface="Helvetica Neue"/>
              </a:defRPr>
            </a:lvl5pPr>
            <a:lvl6pPr>
              <a:defRPr sz="2550" b="0">
                <a:solidFill>
                  <a:srgbClr val="F3F5F6"/>
                </a:solidFill>
                <a:latin typeface="Helvetica Neue"/>
                <a:ea typeface="Helvetica Neue"/>
                <a:cs typeface="Helvetica Neue"/>
              </a:defRPr>
            </a:lvl6pPr>
            <a:lvl7pPr>
              <a:defRPr sz="2550" b="0">
                <a:solidFill>
                  <a:srgbClr val="F3F5F6"/>
                </a:solidFill>
                <a:latin typeface="Helvetica Neue"/>
                <a:ea typeface="Helvetica Neue"/>
                <a:cs typeface="Helvetica Neue"/>
              </a:defRPr>
            </a:lvl7pPr>
            <a:lvl8pPr>
              <a:defRPr sz="2550" b="0">
                <a:solidFill>
                  <a:srgbClr val="F3F5F6"/>
                </a:solidFill>
                <a:latin typeface="Helvetica Neue"/>
                <a:ea typeface="Helvetica Neue"/>
                <a:cs typeface="Helvetica Neue"/>
              </a:defRPr>
            </a:lvl8pPr>
            <a:lvl9pPr>
              <a:defRPr sz="2550" b="0">
                <a:solidFill>
                  <a:srgbClr val="F3F5F6"/>
                </a:solidFill>
                <a:latin typeface="Helvetica Neue"/>
                <a:ea typeface="Helvetica Neue"/>
                <a:cs typeface="Helvetica Neue"/>
              </a:defRPr>
            </a:lvl9pPr>
          </a:lstStyle>
          <a:p xmlns:a="http://schemas.openxmlformats.org/drawingml/2006/main">
            <a:pPr>
              <a:defRPr sz="2550" b="0">
                <a:solidFill>
                  <a:srgbClr val="F3F5F6"/>
                </a:solidFill>
                <a:latin typeface="Helvetica Neue"/>
                <a:ea typeface="Helvetica Neue"/>
                <a:cs typeface="Helvetica Neue"/>
              </a:defRPr>
            </a:pPr>
            <a:r>
              <a:rPr sz="2550" b="0">
                <a:solidFill>
                  <a:srgbClr val="F3F5F6"/>
                </a:solidFill>
                <a:latin typeface="Helvetica Neue"/>
                <a:ea typeface="Helvetica Neue"/>
                <a:cs typeface="Helvetica Neue"/>
              </a:rPr>
              <a:t>per room / year</a:t>
            </a:r>
          </a:p>
        </p:txBody>
      </p:sp>
      <p:sp>
        <p:nvSpPr>
          <p:cNvPr id="6" name="Free beta">
            <a:extLst xmlns:a="http://schemas.openxmlformats.org/drawingml/2006/main">
              <a:ext uri="{FF2B5EF4-FFF2-40B4-BE49-F238E27FC236}">
                <a16:creationId xmlns:a16="http://schemas.microsoft.com/office/drawing/2014/main" id="{46A3FA2D-4BF5-457E-B7B0-1F2BC54C861D}"/>
              </a:ext>
            </a:extLst>
          </p:cNvPr>
          <p:cNvSpPr>
            <a:spLocks xmlns:a="http://schemas.openxmlformats.org/drawingml/2006/main" noGrp="1"/>
          </p:cNvSpPr>
          <p:nvPr/>
        </p:nvSpPr>
        <p:spPr>
          <a:xfrm xmlns:a="http://schemas.openxmlformats.org/drawingml/2006/main">
            <a:off x="6705600" y="2381250"/>
            <a:ext cx="4724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3F5F6"/>
                </a:solidFill>
                <a:latin typeface="Helvetica Neue"/>
                <a:ea typeface="Helvetica Neue"/>
                <a:cs typeface="Helvetica Neue"/>
              </a:defRPr>
            </a:defPPr>
            <a:lvl1pPr>
              <a:defRPr sz="2700" b="1">
                <a:solidFill>
                  <a:srgbClr val="F3F5F6"/>
                </a:solidFill>
                <a:latin typeface="Helvetica Neue"/>
                <a:ea typeface="Helvetica Neue"/>
                <a:cs typeface="Helvetica Neue"/>
              </a:defRPr>
            </a:lvl1pPr>
            <a:lvl2pPr>
              <a:defRPr sz="2700" b="1">
                <a:solidFill>
                  <a:srgbClr val="F3F5F6"/>
                </a:solidFill>
                <a:latin typeface="Helvetica Neue"/>
                <a:ea typeface="Helvetica Neue"/>
                <a:cs typeface="Helvetica Neue"/>
              </a:defRPr>
            </a:lvl2pPr>
            <a:lvl3pPr>
              <a:defRPr sz="2700" b="1">
                <a:solidFill>
                  <a:srgbClr val="F3F5F6"/>
                </a:solidFill>
                <a:latin typeface="Helvetica Neue"/>
                <a:ea typeface="Helvetica Neue"/>
                <a:cs typeface="Helvetica Neue"/>
              </a:defRPr>
            </a:lvl3pPr>
            <a:lvl4pPr>
              <a:defRPr sz="2700" b="1">
                <a:solidFill>
                  <a:srgbClr val="F3F5F6"/>
                </a:solidFill>
                <a:latin typeface="Helvetica Neue"/>
                <a:ea typeface="Helvetica Neue"/>
                <a:cs typeface="Helvetica Neue"/>
              </a:defRPr>
            </a:lvl4pPr>
            <a:lvl5pPr>
              <a:defRPr sz="2700" b="1">
                <a:solidFill>
                  <a:srgbClr val="F3F5F6"/>
                </a:solidFill>
                <a:latin typeface="Helvetica Neue"/>
                <a:ea typeface="Helvetica Neue"/>
                <a:cs typeface="Helvetica Neue"/>
              </a:defRPr>
            </a:lvl5pPr>
            <a:lvl6pPr>
              <a:defRPr sz="2700" b="1">
                <a:solidFill>
                  <a:srgbClr val="F3F5F6"/>
                </a:solidFill>
                <a:latin typeface="Helvetica Neue"/>
                <a:ea typeface="Helvetica Neue"/>
                <a:cs typeface="Helvetica Neue"/>
              </a:defRPr>
            </a:lvl6pPr>
            <a:lvl7pPr>
              <a:defRPr sz="2700" b="1">
                <a:solidFill>
                  <a:srgbClr val="F3F5F6"/>
                </a:solidFill>
                <a:latin typeface="Helvetica Neue"/>
                <a:ea typeface="Helvetica Neue"/>
                <a:cs typeface="Helvetica Neue"/>
              </a:defRPr>
            </a:lvl7pPr>
            <a:lvl8pPr>
              <a:defRPr sz="2700" b="1">
                <a:solidFill>
                  <a:srgbClr val="F3F5F6"/>
                </a:solidFill>
                <a:latin typeface="Helvetica Neue"/>
                <a:ea typeface="Helvetica Neue"/>
                <a:cs typeface="Helvetica Neue"/>
              </a:defRPr>
            </a:lvl8pPr>
            <a:lvl9pPr>
              <a:defRPr sz="2700" b="1">
                <a:solidFill>
                  <a:srgbClr val="F3F5F6"/>
                </a:solidFill>
                <a:latin typeface="Helvetica Neue"/>
                <a:ea typeface="Helvetica Neue"/>
                <a:cs typeface="Helvetica Neue"/>
              </a:defRPr>
            </a:lvl9pPr>
          </a:lstStyle>
          <a:p xmlns:a="http://schemas.openxmlformats.org/drawingml/2006/main">
            <a:pPr>
              <a:defRPr sz="2700" b="1">
                <a:solidFill>
                  <a:srgbClr val="F3F5F6"/>
                </a:solidFill>
                <a:latin typeface="Helvetica Neue"/>
                <a:ea typeface="Helvetica Neue"/>
                <a:cs typeface="Helvetica Neue"/>
              </a:defRPr>
            </a:pPr>
            <a:r>
              <a:rPr sz="2700" b="1">
                <a:solidFill>
                  <a:srgbClr val="F3F5F6"/>
                </a:solidFill>
                <a:latin typeface="Helvetica Neue"/>
                <a:ea typeface="Helvetica Neue"/>
                <a:cs typeface="Helvetica Neue"/>
              </a:rPr>
              <a:t>Free beta</a:t>
            </a:r>
          </a:p>
        </p:txBody>
      </p:sp>
      <p:sp>
        <p:nvSpPr>
          <p:cNvPr id="7" name="Trial with compatible hardware&#10;before a paid launc">
            <a:extLst xmlns:a="http://schemas.openxmlformats.org/drawingml/2006/main">
              <a:ext uri="{FF2B5EF4-FFF2-40B4-BE49-F238E27FC236}">
                <a16:creationId xmlns:a16="http://schemas.microsoft.com/office/drawing/2014/main" id="{B98E6495-BC2B-4966-978F-06586020BDAA}"/>
              </a:ext>
            </a:extLst>
          </p:cNvPr>
          <p:cNvSpPr>
            <a:spLocks xmlns:a="http://schemas.openxmlformats.org/drawingml/2006/main" noGrp="1"/>
          </p:cNvSpPr>
          <p:nvPr/>
        </p:nvSpPr>
        <p:spPr>
          <a:xfrm xmlns:a="http://schemas.openxmlformats.org/drawingml/2006/main">
            <a:off x="6705600" y="30480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CB7C7"/>
                </a:solidFill>
                <a:latin typeface="Helvetica Neue"/>
                <a:ea typeface="Helvetica Neue"/>
                <a:cs typeface="Helvetica Neue"/>
              </a:defRPr>
            </a:defPPr>
            <a:lvl1pPr>
              <a:defRPr sz="2175" b="0">
                <a:solidFill>
                  <a:srgbClr val="ACB7C7"/>
                </a:solidFill>
                <a:latin typeface="Helvetica Neue"/>
                <a:ea typeface="Helvetica Neue"/>
                <a:cs typeface="Helvetica Neue"/>
              </a:defRPr>
            </a:lvl1pPr>
            <a:lvl2pPr>
              <a:defRPr sz="2175" b="0">
                <a:solidFill>
                  <a:srgbClr val="ACB7C7"/>
                </a:solidFill>
                <a:latin typeface="Helvetica Neue"/>
                <a:ea typeface="Helvetica Neue"/>
                <a:cs typeface="Helvetica Neue"/>
              </a:defRPr>
            </a:lvl2pPr>
            <a:lvl3pPr>
              <a:defRPr sz="2175" b="0">
                <a:solidFill>
                  <a:srgbClr val="ACB7C7"/>
                </a:solidFill>
                <a:latin typeface="Helvetica Neue"/>
                <a:ea typeface="Helvetica Neue"/>
                <a:cs typeface="Helvetica Neue"/>
              </a:defRPr>
            </a:lvl3pPr>
            <a:lvl4pPr>
              <a:defRPr sz="2175" b="0">
                <a:solidFill>
                  <a:srgbClr val="ACB7C7"/>
                </a:solidFill>
                <a:latin typeface="Helvetica Neue"/>
                <a:ea typeface="Helvetica Neue"/>
                <a:cs typeface="Helvetica Neue"/>
              </a:defRPr>
            </a:lvl4pPr>
            <a:lvl5pPr>
              <a:defRPr sz="2175" b="0">
                <a:solidFill>
                  <a:srgbClr val="ACB7C7"/>
                </a:solidFill>
                <a:latin typeface="Helvetica Neue"/>
                <a:ea typeface="Helvetica Neue"/>
                <a:cs typeface="Helvetica Neue"/>
              </a:defRPr>
            </a:lvl5pPr>
            <a:lvl6pPr>
              <a:defRPr sz="2175" b="0">
                <a:solidFill>
                  <a:srgbClr val="ACB7C7"/>
                </a:solidFill>
                <a:latin typeface="Helvetica Neue"/>
                <a:ea typeface="Helvetica Neue"/>
                <a:cs typeface="Helvetica Neue"/>
              </a:defRPr>
            </a:lvl6pPr>
            <a:lvl7pPr>
              <a:defRPr sz="2175" b="0">
                <a:solidFill>
                  <a:srgbClr val="ACB7C7"/>
                </a:solidFill>
                <a:latin typeface="Helvetica Neue"/>
                <a:ea typeface="Helvetica Neue"/>
                <a:cs typeface="Helvetica Neue"/>
              </a:defRPr>
            </a:lvl7pPr>
            <a:lvl8pPr>
              <a:defRPr sz="2175" b="0">
                <a:solidFill>
                  <a:srgbClr val="ACB7C7"/>
                </a:solidFill>
                <a:latin typeface="Helvetica Neue"/>
                <a:ea typeface="Helvetica Neue"/>
                <a:cs typeface="Helvetica Neue"/>
              </a:defRPr>
            </a:lvl8pPr>
            <a:lvl9pPr>
              <a:defRPr sz="2175" b="0">
                <a:solidFill>
                  <a:srgbClr val="ACB7C7"/>
                </a:solidFill>
                <a:latin typeface="Helvetica Neue"/>
                <a:ea typeface="Helvetica Neue"/>
                <a:cs typeface="Helvetica Neue"/>
              </a:defRPr>
            </a:lvl9pPr>
          </a:lstStyle>
          <a:p xmlns:a="http://schemas.openxmlformats.org/drawingml/2006/main">
            <a:pPr>
              <a:defRPr sz="2175" b="0">
                <a:solidFill>
                  <a:srgbClr val="ACB7C7"/>
                </a:solidFill>
                <a:latin typeface="Helvetica Neue"/>
                <a:ea typeface="Helvetica Neue"/>
                <a:cs typeface="Helvetica Neue"/>
              </a:defRPr>
            </a:pPr>
            <a:r>
              <a:rPr sz="2175" b="0">
                <a:solidFill>
                  <a:srgbClr val="ACB7C7"/>
                </a:solidFill>
                <a:latin typeface="Helvetica Neue"/>
                <a:ea typeface="Helvetica Neue"/>
                <a:cs typeface="Helvetica Neue"/>
              </a:rPr>
              <a:t>Trial with compatible hardware</a:t>
            </a:r>
          </a:p>
          <a:p xmlns:a="http://schemas.openxmlformats.org/drawingml/2006/main">
            <a:pPr>
              <a:defRPr sz="2175" b="0">
                <a:solidFill>
                  <a:srgbClr val="ACB7C7"/>
                </a:solidFill>
                <a:latin typeface="Helvetica Neue"/>
                <a:ea typeface="Helvetica Neue"/>
                <a:cs typeface="Helvetica Neue"/>
              </a:defRPr>
            </a:pPr>
            <a:r>
              <a:rPr sz="2175" b="0">
                <a:solidFill>
                  <a:srgbClr val="ACB7C7"/>
                </a:solidFill>
                <a:latin typeface="Helvetica Neue"/>
                <a:ea typeface="Helvetica Neue"/>
                <a:cs typeface="Helvetica Neue"/>
              </a:rPr>
              <a:t>before a paid launch.</a:t>
            </a:r>
          </a:p>
        </p:txBody>
      </p:sp>
      <p:sp>
        <p:nvSpPr>
          <p:cNvPr id="8" name="Proposed paid offer">
            <a:extLst xmlns:a="http://schemas.openxmlformats.org/drawingml/2006/main">
              <a:ext uri="{FF2B5EF4-FFF2-40B4-BE49-F238E27FC236}">
                <a16:creationId xmlns:a16="http://schemas.microsoft.com/office/drawing/2014/main" id="{B70C1C88-94F2-42EE-97F6-A64CD90A60B1}"/>
              </a:ext>
            </a:extLst>
          </p:cNvPr>
          <p:cNvSpPr>
            <a:spLocks xmlns:a="http://schemas.openxmlformats.org/drawingml/2006/main" noGrp="1"/>
          </p:cNvSpPr>
          <p:nvPr/>
        </p:nvSpPr>
        <p:spPr>
          <a:xfrm xmlns:a="http://schemas.openxmlformats.org/drawingml/2006/main">
            <a:off x="6705600" y="4305300"/>
            <a:ext cx="4724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3F5F6"/>
                </a:solidFill>
                <a:latin typeface="Helvetica Neue"/>
                <a:ea typeface="Helvetica Neue"/>
                <a:cs typeface="Helvetica Neue"/>
              </a:defRPr>
            </a:defPPr>
            <a:lvl1pPr>
              <a:defRPr sz="2400" b="1">
                <a:solidFill>
                  <a:srgbClr val="F3F5F6"/>
                </a:solidFill>
                <a:latin typeface="Helvetica Neue"/>
                <a:ea typeface="Helvetica Neue"/>
                <a:cs typeface="Helvetica Neue"/>
              </a:defRPr>
            </a:lvl1pPr>
            <a:lvl2pPr>
              <a:defRPr sz="2400" b="1">
                <a:solidFill>
                  <a:srgbClr val="F3F5F6"/>
                </a:solidFill>
                <a:latin typeface="Helvetica Neue"/>
                <a:ea typeface="Helvetica Neue"/>
                <a:cs typeface="Helvetica Neue"/>
              </a:defRPr>
            </a:lvl2pPr>
            <a:lvl3pPr>
              <a:defRPr sz="2400" b="1">
                <a:solidFill>
                  <a:srgbClr val="F3F5F6"/>
                </a:solidFill>
                <a:latin typeface="Helvetica Neue"/>
                <a:ea typeface="Helvetica Neue"/>
                <a:cs typeface="Helvetica Neue"/>
              </a:defRPr>
            </a:lvl3pPr>
            <a:lvl4pPr>
              <a:defRPr sz="2400" b="1">
                <a:solidFill>
                  <a:srgbClr val="F3F5F6"/>
                </a:solidFill>
                <a:latin typeface="Helvetica Neue"/>
                <a:ea typeface="Helvetica Neue"/>
                <a:cs typeface="Helvetica Neue"/>
              </a:defRPr>
            </a:lvl4pPr>
            <a:lvl5pPr>
              <a:defRPr sz="2400" b="1">
                <a:solidFill>
                  <a:srgbClr val="F3F5F6"/>
                </a:solidFill>
                <a:latin typeface="Helvetica Neue"/>
                <a:ea typeface="Helvetica Neue"/>
                <a:cs typeface="Helvetica Neue"/>
              </a:defRPr>
            </a:lvl5pPr>
            <a:lvl6pPr>
              <a:defRPr sz="2400" b="1">
                <a:solidFill>
                  <a:srgbClr val="F3F5F6"/>
                </a:solidFill>
                <a:latin typeface="Helvetica Neue"/>
                <a:ea typeface="Helvetica Neue"/>
                <a:cs typeface="Helvetica Neue"/>
              </a:defRPr>
            </a:lvl6pPr>
            <a:lvl7pPr>
              <a:defRPr sz="2400" b="1">
                <a:solidFill>
                  <a:srgbClr val="F3F5F6"/>
                </a:solidFill>
                <a:latin typeface="Helvetica Neue"/>
                <a:ea typeface="Helvetica Neue"/>
                <a:cs typeface="Helvetica Neue"/>
              </a:defRPr>
            </a:lvl7pPr>
            <a:lvl8pPr>
              <a:defRPr sz="2400" b="1">
                <a:solidFill>
                  <a:srgbClr val="F3F5F6"/>
                </a:solidFill>
                <a:latin typeface="Helvetica Neue"/>
                <a:ea typeface="Helvetica Neue"/>
                <a:cs typeface="Helvetica Neue"/>
              </a:defRPr>
            </a:lvl8pPr>
            <a:lvl9pPr>
              <a:defRPr sz="2400" b="1">
                <a:solidFill>
                  <a:srgbClr val="F3F5F6"/>
                </a:solidFill>
                <a:latin typeface="Helvetica Neue"/>
                <a:ea typeface="Helvetica Neue"/>
                <a:cs typeface="Helvetica Neue"/>
              </a:defRPr>
            </a:lvl9pPr>
          </a:lstStyle>
          <a:p xmlns:a="http://schemas.openxmlformats.org/drawingml/2006/main">
            <a:pPr>
              <a:defRPr sz="2400" b="1">
                <a:solidFill>
                  <a:srgbClr val="F3F5F6"/>
                </a:solidFill>
                <a:latin typeface="Helvetica Neue"/>
                <a:ea typeface="Helvetica Neue"/>
                <a:cs typeface="Helvetica Neue"/>
              </a:defRPr>
            </a:pPr>
            <a:r>
              <a:rPr sz="2400" b="1">
                <a:solidFill>
                  <a:srgbClr val="F3F5F6"/>
                </a:solidFill>
                <a:latin typeface="Helvetica Neue"/>
                <a:ea typeface="Helvetica Neue"/>
                <a:cs typeface="Helvetica Neue"/>
              </a:rPr>
              <a:t>Proposed paid offer</a:t>
            </a:r>
          </a:p>
        </p:txBody>
      </p:sp>
      <p:sp>
        <p:nvSpPr>
          <p:cNvPr id="9" name="Supported lighting and music controls,&#10;with ongoin">
            <a:extLst xmlns:a="http://schemas.openxmlformats.org/drawingml/2006/main">
              <a:ext uri="{FF2B5EF4-FFF2-40B4-BE49-F238E27FC236}">
                <a16:creationId xmlns:a16="http://schemas.microsoft.com/office/drawing/2014/main" id="{0ABC5222-E0F4-463C-95FE-C39B74A72691}"/>
              </a:ext>
            </a:extLst>
          </p:cNvPr>
          <p:cNvSpPr>
            <a:spLocks xmlns:a="http://schemas.openxmlformats.org/drawingml/2006/main" noGrp="1"/>
          </p:cNvSpPr>
          <p:nvPr/>
        </p:nvSpPr>
        <p:spPr>
          <a:xfrm xmlns:a="http://schemas.openxmlformats.org/drawingml/2006/main">
            <a:off x="6705600" y="4895850"/>
            <a:ext cx="4705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B7C7"/>
                </a:solidFill>
                <a:latin typeface="Helvetica Neue"/>
                <a:ea typeface="Helvetica Neue"/>
                <a:cs typeface="Helvetica Neue"/>
              </a:defRPr>
            </a:defPPr>
            <a:lvl1pPr>
              <a:defRPr sz="2025" b="0">
                <a:solidFill>
                  <a:srgbClr val="ACB7C7"/>
                </a:solidFill>
                <a:latin typeface="Helvetica Neue"/>
                <a:ea typeface="Helvetica Neue"/>
                <a:cs typeface="Helvetica Neue"/>
              </a:defRPr>
            </a:lvl1pPr>
            <a:lvl2pPr>
              <a:defRPr sz="2025" b="0">
                <a:solidFill>
                  <a:srgbClr val="ACB7C7"/>
                </a:solidFill>
                <a:latin typeface="Helvetica Neue"/>
                <a:ea typeface="Helvetica Neue"/>
                <a:cs typeface="Helvetica Neue"/>
              </a:defRPr>
            </a:lvl2pPr>
            <a:lvl3pPr>
              <a:defRPr sz="2025" b="0">
                <a:solidFill>
                  <a:srgbClr val="ACB7C7"/>
                </a:solidFill>
                <a:latin typeface="Helvetica Neue"/>
                <a:ea typeface="Helvetica Neue"/>
                <a:cs typeface="Helvetica Neue"/>
              </a:defRPr>
            </a:lvl3pPr>
            <a:lvl4pPr>
              <a:defRPr sz="2025" b="0">
                <a:solidFill>
                  <a:srgbClr val="ACB7C7"/>
                </a:solidFill>
                <a:latin typeface="Helvetica Neue"/>
                <a:ea typeface="Helvetica Neue"/>
                <a:cs typeface="Helvetica Neue"/>
              </a:defRPr>
            </a:lvl4pPr>
            <a:lvl5pPr>
              <a:defRPr sz="2025" b="0">
                <a:solidFill>
                  <a:srgbClr val="ACB7C7"/>
                </a:solidFill>
                <a:latin typeface="Helvetica Neue"/>
                <a:ea typeface="Helvetica Neue"/>
                <a:cs typeface="Helvetica Neue"/>
              </a:defRPr>
            </a:lvl5pPr>
            <a:lvl6pPr>
              <a:defRPr sz="2025" b="0">
                <a:solidFill>
                  <a:srgbClr val="ACB7C7"/>
                </a:solidFill>
                <a:latin typeface="Helvetica Neue"/>
                <a:ea typeface="Helvetica Neue"/>
                <a:cs typeface="Helvetica Neue"/>
              </a:defRPr>
            </a:lvl6pPr>
            <a:lvl7pPr>
              <a:defRPr sz="2025" b="0">
                <a:solidFill>
                  <a:srgbClr val="ACB7C7"/>
                </a:solidFill>
                <a:latin typeface="Helvetica Neue"/>
                <a:ea typeface="Helvetica Neue"/>
                <a:cs typeface="Helvetica Neue"/>
              </a:defRPr>
            </a:lvl7pPr>
            <a:lvl8pPr>
              <a:defRPr sz="2025" b="0">
                <a:solidFill>
                  <a:srgbClr val="ACB7C7"/>
                </a:solidFill>
                <a:latin typeface="Helvetica Neue"/>
                <a:ea typeface="Helvetica Neue"/>
                <a:cs typeface="Helvetica Neue"/>
              </a:defRPr>
            </a:lvl8pPr>
            <a:lvl9pPr>
              <a:defRPr sz="2025" b="0">
                <a:solidFill>
                  <a:srgbClr val="ACB7C7"/>
                </a:solidFill>
                <a:latin typeface="Helvetica Neue"/>
                <a:ea typeface="Helvetica Neue"/>
                <a:cs typeface="Helvetica Neue"/>
              </a:defRPr>
            </a:lvl9pPr>
          </a:lstStyle>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Supported lighting and music controls,</a:t>
            </a:r>
          </a:p>
          <a:p xmlns:a="http://schemas.openxmlformats.org/drawingml/2006/main">
            <a:pPr>
              <a:defRPr sz="2025" b="0">
                <a:solidFill>
                  <a:srgbClr val="ACB7C7"/>
                </a:solidFill>
                <a:latin typeface="Helvetica Neue"/>
                <a:ea typeface="Helvetica Neue"/>
                <a:cs typeface="Helvetica Neue"/>
              </a:defRPr>
            </a:pPr>
            <a:r>
              <a:rPr sz="2025" b="0">
                <a:solidFill>
                  <a:srgbClr val="ACB7C7"/>
                </a:solidFill>
                <a:latin typeface="Helvetica Neue"/>
                <a:ea typeface="Helvetica Neue"/>
                <a:cs typeface="Helvetica Neue"/>
              </a:rPr>
              <a:t>with ongoing compatibility updates.</a:t>
            </a:r>
          </a:p>
        </p:txBody>
      </p:sp>
      <p:sp>
        <p:nvSpPr>
          <p:cNvPr id="10" name="Pricing hypothesis. Hardware and music service cos">
            <a:extLst xmlns:a="http://schemas.openxmlformats.org/drawingml/2006/main">
              <a:ext uri="{FF2B5EF4-FFF2-40B4-BE49-F238E27FC236}">
                <a16:creationId xmlns:a16="http://schemas.microsoft.com/office/drawing/2014/main" id="{A985A120-D888-4954-A30C-0BEEAF82315D}"/>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Pricing hypothesis. Hardware and music service costs are separate. No cloud video inference is required.</a:t>
            </a:r>
          </a:p>
        </p:txBody>
      </p:sp>
    </p:spTree>
    <p:extLst>
      <p:ext uri="{BB962C8B-B14F-4D97-AF65-F5344CB8AC3E}">
        <p14:creationId xmlns:p14="http://schemas.microsoft.com/office/powerpoint/2010/main" val="5110090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968A684-E82C-4899-AA0D-EF273658E991}"/>
              </a:ext>
            </a:extLst>
          </p:cNvPr>
          <p:cNvPicPr>
            <a:picLocks xmlns:a="http://schemas.openxmlformats.org/drawingml/2006/main" noChangeAspect="1"/>
          </p:cNvPicPr>
          <p:nvPr/>
        </p:nvPicPr>
        <p:blipFill>
          <a:blip xmlns:r="http://schemas.openxmlformats.org/officeDocument/2006/relationships" xmlns:a="http://schemas.openxmlformats.org/drawingml/2006/main" r:embed="R10ab907cda2246ba"/>
          <a:srcRect xmlns:a="http://schemas.openxmlformats.org/drawingml/2006/main" l="0" t="752" r="0" b="75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pellcast">
            <a:extLst xmlns:a="http://schemas.openxmlformats.org/drawingml/2006/main">
              <a:ext uri="{FF2B5EF4-FFF2-40B4-BE49-F238E27FC236}">
                <a16:creationId xmlns:a16="http://schemas.microsoft.com/office/drawing/2014/main" id="{1FF84FF1-680D-4A03-AB0D-2E298AF2A178}"/>
              </a:ext>
            </a:extLst>
          </p:cNvPr>
          <p:cNvSpPr>
            <a:spLocks xmlns:a="http://schemas.openxmlformats.org/drawingml/2006/main" noGrp="1"/>
          </p:cNvSpPr>
          <p:nvPr/>
        </p:nvSpPr>
        <p:spPr>
          <a:xfrm xmlns:a="http://schemas.openxmlformats.org/drawingml/2006/main">
            <a:off x="609600" y="600075"/>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3F5F6"/>
                </a:solidFill>
                <a:latin typeface="Helvetica Neue"/>
                <a:ea typeface="Helvetica Neue"/>
                <a:cs typeface="Helvetica Neue"/>
              </a:defRPr>
            </a:defPPr>
            <a:lvl1pPr>
              <a:defRPr sz="5850" b="1">
                <a:solidFill>
                  <a:srgbClr val="F3F5F6"/>
                </a:solidFill>
                <a:latin typeface="Helvetica Neue"/>
                <a:ea typeface="Helvetica Neue"/>
                <a:cs typeface="Helvetica Neue"/>
              </a:defRPr>
            </a:lvl1pPr>
            <a:lvl2pPr>
              <a:defRPr sz="5850" b="1">
                <a:solidFill>
                  <a:srgbClr val="F3F5F6"/>
                </a:solidFill>
                <a:latin typeface="Helvetica Neue"/>
                <a:ea typeface="Helvetica Neue"/>
                <a:cs typeface="Helvetica Neue"/>
              </a:defRPr>
            </a:lvl2pPr>
            <a:lvl3pPr>
              <a:defRPr sz="5850" b="1">
                <a:solidFill>
                  <a:srgbClr val="F3F5F6"/>
                </a:solidFill>
                <a:latin typeface="Helvetica Neue"/>
                <a:ea typeface="Helvetica Neue"/>
                <a:cs typeface="Helvetica Neue"/>
              </a:defRPr>
            </a:lvl3pPr>
            <a:lvl4pPr>
              <a:defRPr sz="5850" b="1">
                <a:solidFill>
                  <a:srgbClr val="F3F5F6"/>
                </a:solidFill>
                <a:latin typeface="Helvetica Neue"/>
                <a:ea typeface="Helvetica Neue"/>
                <a:cs typeface="Helvetica Neue"/>
              </a:defRPr>
            </a:lvl4pPr>
            <a:lvl5pPr>
              <a:defRPr sz="5850" b="1">
                <a:solidFill>
                  <a:srgbClr val="F3F5F6"/>
                </a:solidFill>
                <a:latin typeface="Helvetica Neue"/>
                <a:ea typeface="Helvetica Neue"/>
                <a:cs typeface="Helvetica Neue"/>
              </a:defRPr>
            </a:lvl5pPr>
            <a:lvl6pPr>
              <a:defRPr sz="5850" b="1">
                <a:solidFill>
                  <a:srgbClr val="F3F5F6"/>
                </a:solidFill>
                <a:latin typeface="Helvetica Neue"/>
                <a:ea typeface="Helvetica Neue"/>
                <a:cs typeface="Helvetica Neue"/>
              </a:defRPr>
            </a:lvl6pPr>
            <a:lvl7pPr>
              <a:defRPr sz="5850" b="1">
                <a:solidFill>
                  <a:srgbClr val="F3F5F6"/>
                </a:solidFill>
                <a:latin typeface="Helvetica Neue"/>
                <a:ea typeface="Helvetica Neue"/>
                <a:cs typeface="Helvetica Neue"/>
              </a:defRPr>
            </a:lvl7pPr>
            <a:lvl8pPr>
              <a:defRPr sz="5850" b="1">
                <a:solidFill>
                  <a:srgbClr val="F3F5F6"/>
                </a:solidFill>
                <a:latin typeface="Helvetica Neue"/>
                <a:ea typeface="Helvetica Neue"/>
                <a:cs typeface="Helvetica Neue"/>
              </a:defRPr>
            </a:lvl8pPr>
            <a:lvl9pPr>
              <a:defRPr sz="5850" b="1">
                <a:solidFill>
                  <a:srgbClr val="F3F5F6"/>
                </a:solidFill>
                <a:latin typeface="Helvetica Neue"/>
                <a:ea typeface="Helvetica Neue"/>
                <a:cs typeface="Helvetica Neue"/>
              </a:defRPr>
            </a:lvl9pPr>
          </a:lstStyle>
          <a:p xmlns:a="http://schemas.openxmlformats.org/drawingml/2006/main">
            <a:pPr>
              <a:defRPr sz="5850" b="1">
                <a:solidFill>
                  <a:srgbClr val="F3F5F6"/>
                </a:solidFill>
                <a:latin typeface="Helvetica Neue"/>
                <a:ea typeface="Helvetica Neue"/>
                <a:cs typeface="Helvetica Neue"/>
              </a:defRPr>
            </a:pPr>
            <a:r>
              <a:rPr sz="5850" b="1">
                <a:solidFill>
                  <a:srgbClr val="F3F5F6"/>
                </a:solidFill>
                <a:latin typeface="Helvetica Neue"/>
                <a:ea typeface="Helvetica Neue"/>
                <a:cs typeface="Helvetica Neue"/>
              </a:rPr>
              <a:t>Spellcast</a:t>
            </a:r>
          </a:p>
        </p:txBody>
      </p:sp>
      <p:sp>
        <p:nvSpPr>
          <p:cNvPr id="3" name="Your space,&#10;within reach.">
            <a:extLst xmlns:a="http://schemas.openxmlformats.org/drawingml/2006/main">
              <a:ext uri="{FF2B5EF4-FFF2-40B4-BE49-F238E27FC236}">
                <a16:creationId xmlns:a16="http://schemas.microsoft.com/office/drawing/2014/main" id="{81C2D987-58F7-40F6-AE75-B162326BF158}"/>
              </a:ext>
            </a:extLst>
          </p:cNvPr>
          <p:cNvSpPr>
            <a:spLocks xmlns:a="http://schemas.openxmlformats.org/drawingml/2006/main" noGrp="1"/>
          </p:cNvSpPr>
          <p:nvPr/>
        </p:nvSpPr>
        <p:spPr>
          <a:xfrm xmlns:a="http://schemas.openxmlformats.org/drawingml/2006/main">
            <a:off x="628650" y="207645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3F5F6"/>
                </a:solidFill>
                <a:latin typeface="Helvetica Neue"/>
                <a:ea typeface="Helvetica Neue"/>
                <a:cs typeface="Helvetica Neue"/>
              </a:defRPr>
            </a:defPPr>
            <a:lvl1pPr>
              <a:defRPr sz="4650" b="1">
                <a:solidFill>
                  <a:srgbClr val="F3F5F6"/>
                </a:solidFill>
                <a:latin typeface="Helvetica Neue"/>
                <a:ea typeface="Helvetica Neue"/>
                <a:cs typeface="Helvetica Neue"/>
              </a:defRPr>
            </a:lvl1pPr>
            <a:lvl2pPr>
              <a:defRPr sz="4650" b="1">
                <a:solidFill>
                  <a:srgbClr val="F3F5F6"/>
                </a:solidFill>
                <a:latin typeface="Helvetica Neue"/>
                <a:ea typeface="Helvetica Neue"/>
                <a:cs typeface="Helvetica Neue"/>
              </a:defRPr>
            </a:lvl2pPr>
            <a:lvl3pPr>
              <a:defRPr sz="4650" b="1">
                <a:solidFill>
                  <a:srgbClr val="F3F5F6"/>
                </a:solidFill>
                <a:latin typeface="Helvetica Neue"/>
                <a:ea typeface="Helvetica Neue"/>
                <a:cs typeface="Helvetica Neue"/>
              </a:defRPr>
            </a:lvl3pPr>
            <a:lvl4pPr>
              <a:defRPr sz="4650" b="1">
                <a:solidFill>
                  <a:srgbClr val="F3F5F6"/>
                </a:solidFill>
                <a:latin typeface="Helvetica Neue"/>
                <a:ea typeface="Helvetica Neue"/>
                <a:cs typeface="Helvetica Neue"/>
              </a:defRPr>
            </a:lvl4pPr>
            <a:lvl5pPr>
              <a:defRPr sz="4650" b="1">
                <a:solidFill>
                  <a:srgbClr val="F3F5F6"/>
                </a:solidFill>
                <a:latin typeface="Helvetica Neue"/>
                <a:ea typeface="Helvetica Neue"/>
                <a:cs typeface="Helvetica Neue"/>
              </a:defRPr>
            </a:lvl5pPr>
            <a:lvl6pPr>
              <a:defRPr sz="4650" b="1">
                <a:solidFill>
                  <a:srgbClr val="F3F5F6"/>
                </a:solidFill>
                <a:latin typeface="Helvetica Neue"/>
                <a:ea typeface="Helvetica Neue"/>
                <a:cs typeface="Helvetica Neue"/>
              </a:defRPr>
            </a:lvl6pPr>
            <a:lvl7pPr>
              <a:defRPr sz="4650" b="1">
                <a:solidFill>
                  <a:srgbClr val="F3F5F6"/>
                </a:solidFill>
                <a:latin typeface="Helvetica Neue"/>
                <a:ea typeface="Helvetica Neue"/>
                <a:cs typeface="Helvetica Neue"/>
              </a:defRPr>
            </a:lvl7pPr>
            <a:lvl8pPr>
              <a:defRPr sz="4650" b="1">
                <a:solidFill>
                  <a:srgbClr val="F3F5F6"/>
                </a:solidFill>
                <a:latin typeface="Helvetica Neue"/>
                <a:ea typeface="Helvetica Neue"/>
                <a:cs typeface="Helvetica Neue"/>
              </a:defRPr>
            </a:lvl8pPr>
            <a:lvl9pPr>
              <a:defRPr sz="4650" b="1">
                <a:solidFill>
                  <a:srgbClr val="F3F5F6"/>
                </a:solidFill>
                <a:latin typeface="Helvetica Neue"/>
                <a:ea typeface="Helvetica Neue"/>
                <a:cs typeface="Helvetica Neue"/>
              </a:defRPr>
            </a:lvl9pPr>
          </a:lstStyle>
          <a:p xmlns:a="http://schemas.openxmlformats.org/drawingml/2006/main">
            <a:pPr>
              <a:defRPr sz="4650" b="1">
                <a:solidFill>
                  <a:srgbClr val="F3F5F6"/>
                </a:solidFill>
                <a:latin typeface="Helvetica Neue"/>
                <a:ea typeface="Helvetica Neue"/>
                <a:cs typeface="Helvetica Neue"/>
              </a:defRPr>
            </a:pPr>
            <a:r>
              <a:rPr sz="4650" b="1">
                <a:solidFill>
                  <a:srgbClr val="F3F5F6"/>
                </a:solidFill>
                <a:latin typeface="Helvetica Neue"/>
                <a:ea typeface="Helvetica Neue"/>
                <a:cs typeface="Helvetica Neue"/>
              </a:rPr>
              <a:t>Your space,</a:t>
            </a:r>
          </a:p>
          <a:p xmlns:a="http://schemas.openxmlformats.org/drawingml/2006/main">
            <a:pPr>
              <a:defRPr sz="4650" b="1">
                <a:solidFill>
                  <a:srgbClr val="F3F5F6"/>
                </a:solidFill>
                <a:latin typeface="Helvetica Neue"/>
                <a:ea typeface="Helvetica Neue"/>
                <a:cs typeface="Helvetica Neue"/>
              </a:defRPr>
            </a:pPr>
            <a:r>
              <a:rPr sz="4650" b="1">
                <a:solidFill>
                  <a:srgbClr val="F3F5F6"/>
                </a:solidFill>
                <a:latin typeface="Helvetica Neue"/>
                <a:ea typeface="Helvetica Neue"/>
                <a:cs typeface="Helvetica Neue"/>
              </a:rPr>
              <a:t>within reach.</a:t>
            </a:r>
          </a:p>
        </p:txBody>
      </p:sp>
      <p:sp>
        <p:nvSpPr>
          <p:cNvPr id="4" name="20 students. One room each.">
            <a:extLst xmlns:a="http://schemas.openxmlformats.org/drawingml/2006/main">
              <a:ext uri="{FF2B5EF4-FFF2-40B4-BE49-F238E27FC236}">
                <a16:creationId xmlns:a16="http://schemas.microsoft.com/office/drawing/2014/main" id="{ABCF8638-CDD8-4614-BC19-B166244C0483}"/>
              </a:ext>
            </a:extLst>
          </p:cNvPr>
          <p:cNvSpPr>
            <a:spLocks xmlns:a="http://schemas.openxmlformats.org/drawingml/2006/main" noGrp="1"/>
          </p:cNvSpPr>
          <p:nvPr/>
        </p:nvSpPr>
        <p:spPr>
          <a:xfrm xmlns:a="http://schemas.openxmlformats.org/drawingml/2006/main">
            <a:off x="638175" y="4324350"/>
            <a:ext cx="733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83C9FA"/>
                </a:solidFill>
                <a:latin typeface="Helvetica Neue"/>
                <a:ea typeface="Helvetica Neue"/>
                <a:cs typeface="Helvetica Neue"/>
              </a:defRPr>
            </a:defPPr>
            <a:lvl1pPr>
              <a:defRPr sz="2775" b="1">
                <a:solidFill>
                  <a:srgbClr val="83C9FA"/>
                </a:solidFill>
                <a:latin typeface="Helvetica Neue"/>
                <a:ea typeface="Helvetica Neue"/>
                <a:cs typeface="Helvetica Neue"/>
              </a:defRPr>
            </a:lvl1pPr>
            <a:lvl2pPr>
              <a:defRPr sz="2775" b="1">
                <a:solidFill>
                  <a:srgbClr val="83C9FA"/>
                </a:solidFill>
                <a:latin typeface="Helvetica Neue"/>
                <a:ea typeface="Helvetica Neue"/>
                <a:cs typeface="Helvetica Neue"/>
              </a:defRPr>
            </a:lvl2pPr>
            <a:lvl3pPr>
              <a:defRPr sz="2775" b="1">
                <a:solidFill>
                  <a:srgbClr val="83C9FA"/>
                </a:solidFill>
                <a:latin typeface="Helvetica Neue"/>
                <a:ea typeface="Helvetica Neue"/>
                <a:cs typeface="Helvetica Neue"/>
              </a:defRPr>
            </a:lvl3pPr>
            <a:lvl4pPr>
              <a:defRPr sz="2775" b="1">
                <a:solidFill>
                  <a:srgbClr val="83C9FA"/>
                </a:solidFill>
                <a:latin typeface="Helvetica Neue"/>
                <a:ea typeface="Helvetica Neue"/>
                <a:cs typeface="Helvetica Neue"/>
              </a:defRPr>
            </a:lvl4pPr>
            <a:lvl5pPr>
              <a:defRPr sz="2775" b="1">
                <a:solidFill>
                  <a:srgbClr val="83C9FA"/>
                </a:solidFill>
                <a:latin typeface="Helvetica Neue"/>
                <a:ea typeface="Helvetica Neue"/>
                <a:cs typeface="Helvetica Neue"/>
              </a:defRPr>
            </a:lvl5pPr>
            <a:lvl6pPr>
              <a:defRPr sz="2775" b="1">
                <a:solidFill>
                  <a:srgbClr val="83C9FA"/>
                </a:solidFill>
                <a:latin typeface="Helvetica Neue"/>
                <a:ea typeface="Helvetica Neue"/>
                <a:cs typeface="Helvetica Neue"/>
              </a:defRPr>
            </a:lvl6pPr>
            <a:lvl7pPr>
              <a:defRPr sz="2775" b="1">
                <a:solidFill>
                  <a:srgbClr val="83C9FA"/>
                </a:solidFill>
                <a:latin typeface="Helvetica Neue"/>
                <a:ea typeface="Helvetica Neue"/>
                <a:cs typeface="Helvetica Neue"/>
              </a:defRPr>
            </a:lvl7pPr>
            <a:lvl8pPr>
              <a:defRPr sz="2775" b="1">
                <a:solidFill>
                  <a:srgbClr val="83C9FA"/>
                </a:solidFill>
                <a:latin typeface="Helvetica Neue"/>
                <a:ea typeface="Helvetica Neue"/>
                <a:cs typeface="Helvetica Neue"/>
              </a:defRPr>
            </a:lvl8pPr>
            <a:lvl9pPr>
              <a:defRPr sz="2775" b="1">
                <a:solidFill>
                  <a:srgbClr val="83C9FA"/>
                </a:solidFill>
                <a:latin typeface="Helvetica Neue"/>
                <a:ea typeface="Helvetica Neue"/>
                <a:cs typeface="Helvetica Neue"/>
              </a:defRPr>
            </a:lvl9pPr>
          </a:lstStyle>
          <a:p xmlns:a="http://schemas.openxmlformats.org/drawingml/2006/main">
            <a:pPr>
              <a:defRPr sz="2775" b="1">
                <a:solidFill>
                  <a:srgbClr val="83C9FA"/>
                </a:solidFill>
                <a:latin typeface="Helvetica Neue"/>
                <a:ea typeface="Helvetica Neue"/>
                <a:cs typeface="Helvetica Neue"/>
              </a:defRPr>
            </a:pPr>
            <a:r>
              <a:rPr sz="2775" b="1">
                <a:solidFill>
                  <a:srgbClr val="83C9FA"/>
                </a:solidFill>
                <a:latin typeface="Helvetica Neue"/>
                <a:ea typeface="Helvetica Neue"/>
                <a:cs typeface="Helvetica Neue"/>
              </a:rPr>
              <a:t>20 students. One room each.</a:t>
            </a:r>
          </a:p>
        </p:txBody>
      </p:sp>
      <p:sp>
        <p:nvSpPr>
          <p:cNvPr id="5" name="Join the first pilot.">
            <a:extLst xmlns:a="http://schemas.openxmlformats.org/drawingml/2006/main">
              <a:ext uri="{FF2B5EF4-FFF2-40B4-BE49-F238E27FC236}">
                <a16:creationId xmlns:a16="http://schemas.microsoft.com/office/drawing/2014/main" id="{1D72C527-31C7-4CB7-BD01-084D8BC4DB2E}"/>
              </a:ext>
            </a:extLst>
          </p:cNvPr>
          <p:cNvSpPr>
            <a:spLocks xmlns:a="http://schemas.openxmlformats.org/drawingml/2006/main" noGrp="1"/>
          </p:cNvSpPr>
          <p:nvPr/>
        </p:nvSpPr>
        <p:spPr>
          <a:xfrm xmlns:a="http://schemas.openxmlformats.org/drawingml/2006/main">
            <a:off x="647700" y="514350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6"/>
                </a:solidFill>
                <a:latin typeface="Helvetica Neue"/>
                <a:ea typeface="Helvetica Neue"/>
                <a:cs typeface="Helvetica Neue"/>
              </a:defRPr>
            </a:defPPr>
            <a:lvl1pPr>
              <a:defRPr sz="2250" b="0">
                <a:solidFill>
                  <a:srgbClr val="F3F5F6"/>
                </a:solidFill>
                <a:latin typeface="Helvetica Neue"/>
                <a:ea typeface="Helvetica Neue"/>
                <a:cs typeface="Helvetica Neue"/>
              </a:defRPr>
            </a:lvl1pPr>
            <a:lvl2pPr>
              <a:defRPr sz="2250" b="0">
                <a:solidFill>
                  <a:srgbClr val="F3F5F6"/>
                </a:solidFill>
                <a:latin typeface="Helvetica Neue"/>
                <a:ea typeface="Helvetica Neue"/>
                <a:cs typeface="Helvetica Neue"/>
              </a:defRPr>
            </a:lvl2pPr>
            <a:lvl3pPr>
              <a:defRPr sz="2250" b="0">
                <a:solidFill>
                  <a:srgbClr val="F3F5F6"/>
                </a:solidFill>
                <a:latin typeface="Helvetica Neue"/>
                <a:ea typeface="Helvetica Neue"/>
                <a:cs typeface="Helvetica Neue"/>
              </a:defRPr>
            </a:lvl3pPr>
            <a:lvl4pPr>
              <a:defRPr sz="2250" b="0">
                <a:solidFill>
                  <a:srgbClr val="F3F5F6"/>
                </a:solidFill>
                <a:latin typeface="Helvetica Neue"/>
                <a:ea typeface="Helvetica Neue"/>
                <a:cs typeface="Helvetica Neue"/>
              </a:defRPr>
            </a:lvl4pPr>
            <a:lvl5pPr>
              <a:defRPr sz="2250" b="0">
                <a:solidFill>
                  <a:srgbClr val="F3F5F6"/>
                </a:solidFill>
                <a:latin typeface="Helvetica Neue"/>
                <a:ea typeface="Helvetica Neue"/>
                <a:cs typeface="Helvetica Neue"/>
              </a:defRPr>
            </a:lvl5pPr>
            <a:lvl6pPr>
              <a:defRPr sz="2250" b="0">
                <a:solidFill>
                  <a:srgbClr val="F3F5F6"/>
                </a:solidFill>
                <a:latin typeface="Helvetica Neue"/>
                <a:ea typeface="Helvetica Neue"/>
                <a:cs typeface="Helvetica Neue"/>
              </a:defRPr>
            </a:lvl6pPr>
            <a:lvl7pPr>
              <a:defRPr sz="2250" b="0">
                <a:solidFill>
                  <a:srgbClr val="F3F5F6"/>
                </a:solidFill>
                <a:latin typeface="Helvetica Neue"/>
                <a:ea typeface="Helvetica Neue"/>
                <a:cs typeface="Helvetica Neue"/>
              </a:defRPr>
            </a:lvl7pPr>
            <a:lvl8pPr>
              <a:defRPr sz="2250" b="0">
                <a:solidFill>
                  <a:srgbClr val="F3F5F6"/>
                </a:solidFill>
                <a:latin typeface="Helvetica Neue"/>
                <a:ea typeface="Helvetica Neue"/>
                <a:cs typeface="Helvetica Neue"/>
              </a:defRPr>
            </a:lvl8pPr>
            <a:lvl9pPr>
              <a:defRPr sz="2250" b="0">
                <a:solidFill>
                  <a:srgbClr val="F3F5F6"/>
                </a:solidFill>
                <a:latin typeface="Helvetica Neue"/>
                <a:ea typeface="Helvetica Neue"/>
                <a:cs typeface="Helvetica Neue"/>
              </a:defRPr>
            </a:lvl9pPr>
          </a:lstStyle>
          <a:p xmlns:a="http://schemas.openxmlformats.org/drawingml/2006/main">
            <a:pPr>
              <a:defRPr sz="2250" b="0">
                <a:solidFill>
                  <a:srgbClr val="F3F5F6"/>
                </a:solidFill>
                <a:latin typeface="Helvetica Neue"/>
                <a:ea typeface="Helvetica Neue"/>
                <a:cs typeface="Helvetica Neue"/>
              </a:defRPr>
            </a:pPr>
            <a:r>
              <a:rPr sz="2250" b="0">
                <a:solidFill>
                  <a:srgbClr val="F3F5F6"/>
                </a:solidFill>
                <a:latin typeface="Helvetica Neue"/>
                <a:ea typeface="Helvetica Neue"/>
                <a:cs typeface="Helvetica Neue"/>
              </a:rPr>
              <a:t>Join the first pilot.</a:t>
            </a:r>
          </a:p>
        </p:txBody>
      </p:sp>
      <p:sp>
        <p:nvSpPr>
          <p:cNvPr id="6" name="Concept illustration">
            <a:extLst xmlns:a="http://schemas.openxmlformats.org/drawingml/2006/main">
              <a:ext uri="{FF2B5EF4-FFF2-40B4-BE49-F238E27FC236}">
                <a16:creationId xmlns:a16="http://schemas.microsoft.com/office/drawing/2014/main" id="{0AB7EB3A-2867-44C7-AA07-5C8C68D8DF10}"/>
              </a:ext>
            </a:extLst>
          </p:cNvPr>
          <p:cNvSpPr>
            <a:spLocks xmlns:a="http://schemas.openxmlformats.org/drawingml/2006/main" noGrp="1"/>
          </p:cNvSpPr>
          <p:nvPr/>
        </p:nvSpPr>
        <p:spPr>
          <a:xfrm xmlns:a="http://schemas.openxmlformats.org/drawingml/2006/main">
            <a:off x="9715500" y="62388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ACB7C7"/>
                </a:solidFill>
                <a:latin typeface="Helvetica Neue"/>
                <a:ea typeface="Helvetica Neue"/>
                <a:cs typeface="Helvetica Neue"/>
              </a:defRPr>
            </a:defPPr>
            <a:lvl1pPr>
              <a:defRPr sz="975" b="0">
                <a:solidFill>
                  <a:srgbClr val="ACB7C7"/>
                </a:solidFill>
                <a:latin typeface="Helvetica Neue"/>
                <a:ea typeface="Helvetica Neue"/>
                <a:cs typeface="Helvetica Neue"/>
              </a:defRPr>
            </a:lvl1pPr>
            <a:lvl2pPr>
              <a:defRPr sz="975" b="0">
                <a:solidFill>
                  <a:srgbClr val="ACB7C7"/>
                </a:solidFill>
                <a:latin typeface="Helvetica Neue"/>
                <a:ea typeface="Helvetica Neue"/>
                <a:cs typeface="Helvetica Neue"/>
              </a:defRPr>
            </a:lvl2pPr>
            <a:lvl3pPr>
              <a:defRPr sz="975" b="0">
                <a:solidFill>
                  <a:srgbClr val="ACB7C7"/>
                </a:solidFill>
                <a:latin typeface="Helvetica Neue"/>
                <a:ea typeface="Helvetica Neue"/>
                <a:cs typeface="Helvetica Neue"/>
              </a:defRPr>
            </a:lvl3pPr>
            <a:lvl4pPr>
              <a:defRPr sz="975" b="0">
                <a:solidFill>
                  <a:srgbClr val="ACB7C7"/>
                </a:solidFill>
                <a:latin typeface="Helvetica Neue"/>
                <a:ea typeface="Helvetica Neue"/>
                <a:cs typeface="Helvetica Neue"/>
              </a:defRPr>
            </a:lvl4pPr>
            <a:lvl5pPr>
              <a:defRPr sz="975" b="0">
                <a:solidFill>
                  <a:srgbClr val="ACB7C7"/>
                </a:solidFill>
                <a:latin typeface="Helvetica Neue"/>
                <a:ea typeface="Helvetica Neue"/>
                <a:cs typeface="Helvetica Neue"/>
              </a:defRPr>
            </a:lvl5pPr>
            <a:lvl6pPr>
              <a:defRPr sz="975" b="0">
                <a:solidFill>
                  <a:srgbClr val="ACB7C7"/>
                </a:solidFill>
                <a:latin typeface="Helvetica Neue"/>
                <a:ea typeface="Helvetica Neue"/>
                <a:cs typeface="Helvetica Neue"/>
              </a:defRPr>
            </a:lvl6pPr>
            <a:lvl7pPr>
              <a:defRPr sz="975" b="0">
                <a:solidFill>
                  <a:srgbClr val="ACB7C7"/>
                </a:solidFill>
                <a:latin typeface="Helvetica Neue"/>
                <a:ea typeface="Helvetica Neue"/>
                <a:cs typeface="Helvetica Neue"/>
              </a:defRPr>
            </a:lvl7pPr>
            <a:lvl8pPr>
              <a:defRPr sz="975" b="0">
                <a:solidFill>
                  <a:srgbClr val="ACB7C7"/>
                </a:solidFill>
                <a:latin typeface="Helvetica Neue"/>
                <a:ea typeface="Helvetica Neue"/>
                <a:cs typeface="Helvetica Neue"/>
              </a:defRPr>
            </a:lvl8pPr>
            <a:lvl9pPr>
              <a:defRPr sz="975" b="0">
                <a:solidFill>
                  <a:srgbClr val="ACB7C7"/>
                </a:solidFill>
                <a:latin typeface="Helvetica Neue"/>
                <a:ea typeface="Helvetica Neue"/>
                <a:cs typeface="Helvetica Neue"/>
              </a:defRPr>
            </a:lvl9pPr>
          </a:lstStyle>
          <a:p xmlns:a="http://schemas.openxmlformats.org/drawingml/2006/main">
            <a:pPr>
              <a:defRPr sz="975" b="0">
                <a:solidFill>
                  <a:srgbClr val="ACB7C7"/>
                </a:solidFill>
                <a:latin typeface="Helvetica Neue"/>
                <a:ea typeface="Helvetica Neue"/>
                <a:cs typeface="Helvetica Neue"/>
              </a:defRPr>
            </a:pPr>
            <a:r>
              <a:rPr sz="975" b="0">
                <a:solidFill>
                  <a:srgbClr val="ACB7C7"/>
                </a:solidFill>
                <a:latin typeface="Helvetica Neue"/>
                <a:ea typeface="Helvetica Neue"/>
                <a:cs typeface="Helvetica Neue"/>
              </a:rPr>
              <a:t>Concept illustration</a:t>
            </a:r>
          </a:p>
        </p:txBody>
      </p:sp>
    </p:spTree>
    <p:extLst>
      <p:ext uri="{BB962C8B-B14F-4D97-AF65-F5344CB8AC3E}">
        <p14:creationId xmlns:p14="http://schemas.microsoft.com/office/powerpoint/2010/main" val="1241134487"/>
      </p:ext>
    </p:extLst>
  </p:cSld>
</p:sld>
</file>

<file path=ppt/slides/slide10.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9" name="SPELLCAST / APPENDIX">
            <a:extLst xmlns:a="http://schemas.openxmlformats.org/drawingml/2006/main">
              <a:ext uri="{FF2B5EF4-FFF2-40B4-BE49-F238E27FC236}">
                <a16:creationId xmlns:a16="http://schemas.microsoft.com/office/drawing/2014/main" id="{F0275FDA-5449-43C1-B242-875CEE5A190F}"/>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 / APPENDIX</a:t>
            </a:r>
          </a:p>
        </p:txBody>
      </p:sp>
      <p:sp>
        <p:nvSpPr>
          <p:cNvPr id="2" name="10">
            <a:extLst xmlns:a="http://schemas.openxmlformats.org/drawingml/2006/main">
              <a:ext uri="{FF2B5EF4-FFF2-40B4-BE49-F238E27FC236}">
                <a16:creationId xmlns:a16="http://schemas.microsoft.com/office/drawing/2014/main" id="{E36D0B2E-E027-4868-986B-45266F08A081}"/>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10</a:t>
            </a:r>
          </a:p>
        </p:txBody>
      </p:sp>
      <p:sp>
        <p:nvSpPr>
          <p:cNvPr id="3" name="Prototype scope and boundaries">
            <a:extLst xmlns:a="http://schemas.openxmlformats.org/drawingml/2006/main">
              <a:ext uri="{FF2B5EF4-FFF2-40B4-BE49-F238E27FC236}">
                <a16:creationId xmlns:a16="http://schemas.microsoft.com/office/drawing/2014/main" id="{3595BCF2-95C8-4EC5-8C88-011016D699B9}"/>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Prototype scope and boundaries</a:t>
            </a:r>
          </a:p>
        </p:txBody>
      </p:sp>
      <p:sp>
        <p:nvSpPr>
          <p:cNvPr id="4" name="Implemented in the repo">
            <a:extLst xmlns:a="http://schemas.openxmlformats.org/drawingml/2006/main">
              <a:ext uri="{FF2B5EF4-FFF2-40B4-BE49-F238E27FC236}">
                <a16:creationId xmlns:a16="http://schemas.microsoft.com/office/drawing/2014/main" id="{786BA0D0-B0B5-4D24-854C-0A93A6CB2101}"/>
              </a:ext>
            </a:extLst>
          </p:cNvPr>
          <p:cNvSpPr>
            <a:spLocks xmlns:a="http://schemas.openxmlformats.org/drawingml/2006/main" noGrp="1"/>
          </p:cNvSpPr>
          <p:nvPr/>
        </p:nvSpPr>
        <p:spPr>
          <a:xfrm xmlns:a="http://schemas.openxmlformats.org/drawingml/2006/main">
            <a:off x="609600" y="224790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83C9FA"/>
                </a:solidFill>
                <a:latin typeface="Helvetica Neue"/>
                <a:ea typeface="Helvetica Neue"/>
                <a:cs typeface="Helvetica Neue"/>
              </a:defRPr>
            </a:defPPr>
            <a:lvl1pPr>
              <a:defRPr sz="2475" b="1">
                <a:solidFill>
                  <a:srgbClr val="83C9FA"/>
                </a:solidFill>
                <a:latin typeface="Helvetica Neue"/>
                <a:ea typeface="Helvetica Neue"/>
                <a:cs typeface="Helvetica Neue"/>
              </a:defRPr>
            </a:lvl1pPr>
            <a:lvl2pPr>
              <a:defRPr sz="2475" b="1">
                <a:solidFill>
                  <a:srgbClr val="83C9FA"/>
                </a:solidFill>
                <a:latin typeface="Helvetica Neue"/>
                <a:ea typeface="Helvetica Neue"/>
                <a:cs typeface="Helvetica Neue"/>
              </a:defRPr>
            </a:lvl2pPr>
            <a:lvl3pPr>
              <a:defRPr sz="2475" b="1">
                <a:solidFill>
                  <a:srgbClr val="83C9FA"/>
                </a:solidFill>
                <a:latin typeface="Helvetica Neue"/>
                <a:ea typeface="Helvetica Neue"/>
                <a:cs typeface="Helvetica Neue"/>
              </a:defRPr>
            </a:lvl3pPr>
            <a:lvl4pPr>
              <a:defRPr sz="2475" b="1">
                <a:solidFill>
                  <a:srgbClr val="83C9FA"/>
                </a:solidFill>
                <a:latin typeface="Helvetica Neue"/>
                <a:ea typeface="Helvetica Neue"/>
                <a:cs typeface="Helvetica Neue"/>
              </a:defRPr>
            </a:lvl4pPr>
            <a:lvl5pPr>
              <a:defRPr sz="2475" b="1">
                <a:solidFill>
                  <a:srgbClr val="83C9FA"/>
                </a:solidFill>
                <a:latin typeface="Helvetica Neue"/>
                <a:ea typeface="Helvetica Neue"/>
                <a:cs typeface="Helvetica Neue"/>
              </a:defRPr>
            </a:lvl5pPr>
            <a:lvl6pPr>
              <a:defRPr sz="2475" b="1">
                <a:solidFill>
                  <a:srgbClr val="83C9FA"/>
                </a:solidFill>
                <a:latin typeface="Helvetica Neue"/>
                <a:ea typeface="Helvetica Neue"/>
                <a:cs typeface="Helvetica Neue"/>
              </a:defRPr>
            </a:lvl6pPr>
            <a:lvl7pPr>
              <a:defRPr sz="2475" b="1">
                <a:solidFill>
                  <a:srgbClr val="83C9FA"/>
                </a:solidFill>
                <a:latin typeface="Helvetica Neue"/>
                <a:ea typeface="Helvetica Neue"/>
                <a:cs typeface="Helvetica Neue"/>
              </a:defRPr>
            </a:lvl7pPr>
            <a:lvl8pPr>
              <a:defRPr sz="2475" b="1">
                <a:solidFill>
                  <a:srgbClr val="83C9FA"/>
                </a:solidFill>
                <a:latin typeface="Helvetica Neue"/>
                <a:ea typeface="Helvetica Neue"/>
                <a:cs typeface="Helvetica Neue"/>
              </a:defRPr>
            </a:lvl8pPr>
            <a:lvl9pPr>
              <a:defRPr sz="2475" b="1">
                <a:solidFill>
                  <a:srgbClr val="83C9FA"/>
                </a:solidFill>
                <a:latin typeface="Helvetica Neue"/>
                <a:ea typeface="Helvetica Neue"/>
                <a:cs typeface="Helvetica Neue"/>
              </a:defRPr>
            </a:lvl9pPr>
          </a:lstStyle>
          <a:p xmlns:a="http://schemas.openxmlformats.org/drawingml/2006/main">
            <a:pPr>
              <a:defRPr sz="2475" b="1">
                <a:solidFill>
                  <a:srgbClr val="83C9FA"/>
                </a:solidFill>
                <a:latin typeface="Helvetica Neue"/>
                <a:ea typeface="Helvetica Neue"/>
                <a:cs typeface="Helvetica Neue"/>
              </a:defRPr>
            </a:pPr>
            <a:r>
              <a:rPr sz="2475" b="1">
                <a:solidFill>
                  <a:srgbClr val="83C9FA"/>
                </a:solidFill>
                <a:latin typeface="Helvetica Neue"/>
                <a:ea typeface="Helvetica Neue"/>
                <a:cs typeface="Helvetica Neue"/>
              </a:rPr>
              <a:t>Implemented in the repo</a:t>
            </a:r>
          </a:p>
        </p:txBody>
      </p:sp>
      <p:sp>
        <p:nvSpPr>
          <p:cNvPr id="5" name="Two-hand tracking and calibrated targeting&#10;Lamp po">
            <a:extLst xmlns:a="http://schemas.openxmlformats.org/drawingml/2006/main">
              <a:ext uri="{FF2B5EF4-FFF2-40B4-BE49-F238E27FC236}">
                <a16:creationId xmlns:a16="http://schemas.microsoft.com/office/drawing/2014/main" id="{15B02F48-1D59-4529-9A13-B10980B61C41}"/>
              </a:ext>
            </a:extLst>
          </p:cNvPr>
          <p:cNvSpPr>
            <a:spLocks xmlns:a="http://schemas.openxmlformats.org/drawingml/2006/main" noGrp="1"/>
          </p:cNvSpPr>
          <p:nvPr/>
        </p:nvSpPr>
        <p:spPr>
          <a:xfrm xmlns:a="http://schemas.openxmlformats.org/drawingml/2006/main">
            <a:off x="609600" y="2981325"/>
            <a:ext cx="54578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6"/>
                </a:solidFill>
                <a:latin typeface="Helvetica Neue"/>
                <a:ea typeface="Helvetica Neue"/>
                <a:cs typeface="Helvetica Neue"/>
              </a:defRPr>
            </a:defPPr>
            <a:lvl1pPr>
              <a:defRPr sz="2025" b="0">
                <a:solidFill>
                  <a:srgbClr val="F3F5F6"/>
                </a:solidFill>
                <a:latin typeface="Helvetica Neue"/>
                <a:ea typeface="Helvetica Neue"/>
                <a:cs typeface="Helvetica Neue"/>
              </a:defRPr>
            </a:lvl1pPr>
            <a:lvl2pPr>
              <a:defRPr sz="2025" b="0">
                <a:solidFill>
                  <a:srgbClr val="F3F5F6"/>
                </a:solidFill>
                <a:latin typeface="Helvetica Neue"/>
                <a:ea typeface="Helvetica Neue"/>
                <a:cs typeface="Helvetica Neue"/>
              </a:defRPr>
            </a:lvl2pPr>
            <a:lvl3pPr>
              <a:defRPr sz="2025" b="0">
                <a:solidFill>
                  <a:srgbClr val="F3F5F6"/>
                </a:solidFill>
                <a:latin typeface="Helvetica Neue"/>
                <a:ea typeface="Helvetica Neue"/>
                <a:cs typeface="Helvetica Neue"/>
              </a:defRPr>
            </a:lvl3pPr>
            <a:lvl4pPr>
              <a:defRPr sz="2025" b="0">
                <a:solidFill>
                  <a:srgbClr val="F3F5F6"/>
                </a:solidFill>
                <a:latin typeface="Helvetica Neue"/>
                <a:ea typeface="Helvetica Neue"/>
                <a:cs typeface="Helvetica Neue"/>
              </a:defRPr>
            </a:lvl4pPr>
            <a:lvl5pPr>
              <a:defRPr sz="2025" b="0">
                <a:solidFill>
                  <a:srgbClr val="F3F5F6"/>
                </a:solidFill>
                <a:latin typeface="Helvetica Neue"/>
                <a:ea typeface="Helvetica Neue"/>
                <a:cs typeface="Helvetica Neue"/>
              </a:defRPr>
            </a:lvl5pPr>
            <a:lvl6pPr>
              <a:defRPr sz="2025" b="0">
                <a:solidFill>
                  <a:srgbClr val="F3F5F6"/>
                </a:solidFill>
                <a:latin typeface="Helvetica Neue"/>
                <a:ea typeface="Helvetica Neue"/>
                <a:cs typeface="Helvetica Neue"/>
              </a:defRPr>
            </a:lvl6pPr>
            <a:lvl7pPr>
              <a:defRPr sz="2025" b="0">
                <a:solidFill>
                  <a:srgbClr val="F3F5F6"/>
                </a:solidFill>
                <a:latin typeface="Helvetica Neue"/>
                <a:ea typeface="Helvetica Neue"/>
                <a:cs typeface="Helvetica Neue"/>
              </a:defRPr>
            </a:lvl7pPr>
            <a:lvl8pPr>
              <a:defRPr sz="2025" b="0">
                <a:solidFill>
                  <a:srgbClr val="F3F5F6"/>
                </a:solidFill>
                <a:latin typeface="Helvetica Neue"/>
                <a:ea typeface="Helvetica Neue"/>
                <a:cs typeface="Helvetica Neue"/>
              </a:defRPr>
            </a:lvl8pPr>
            <a:lvl9pPr>
              <a:defRPr sz="2025" b="0">
                <a:solidFill>
                  <a:srgbClr val="F3F5F6"/>
                </a:solidFill>
                <a:latin typeface="Helvetica Neue"/>
                <a:ea typeface="Helvetica Neue"/>
                <a:cs typeface="Helvetica Neue"/>
              </a:defRPr>
            </a:lvl9pPr>
          </a:lstStyle>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Two-hand tracking and calibrated targeting</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Lamp power, brightness and colour</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Spotify controls and coordinated scenes</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Local model assets and camera processing</a:t>
            </a:r>
          </a:p>
        </p:txBody>
      </p:sp>
      <p:sp>
        <p:nvSpPr>
          <p:cNvPr id="6" name="Current limits">
            <a:extLst xmlns:a="http://schemas.openxmlformats.org/drawingml/2006/main">
              <a:ext uri="{FF2B5EF4-FFF2-40B4-BE49-F238E27FC236}">
                <a16:creationId xmlns:a16="http://schemas.microsoft.com/office/drawing/2014/main" id="{45EDDCA3-8C7D-475C-A00F-4BC863C0084A}"/>
              </a:ext>
            </a:extLst>
          </p:cNvPr>
          <p:cNvSpPr>
            <a:spLocks xmlns:a="http://schemas.openxmlformats.org/drawingml/2006/main" noGrp="1"/>
          </p:cNvSpPr>
          <p:nvPr/>
        </p:nvSpPr>
        <p:spPr>
          <a:xfrm xmlns:a="http://schemas.openxmlformats.org/drawingml/2006/main">
            <a:off x="6705600" y="2247900"/>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4C99D"/>
                </a:solidFill>
                <a:latin typeface="Helvetica Neue"/>
                <a:ea typeface="Helvetica Neue"/>
                <a:cs typeface="Helvetica Neue"/>
              </a:defRPr>
            </a:defPPr>
            <a:lvl1pPr>
              <a:defRPr sz="2475" b="1">
                <a:solidFill>
                  <a:srgbClr val="F4C99D"/>
                </a:solidFill>
                <a:latin typeface="Helvetica Neue"/>
                <a:ea typeface="Helvetica Neue"/>
                <a:cs typeface="Helvetica Neue"/>
              </a:defRPr>
            </a:lvl1pPr>
            <a:lvl2pPr>
              <a:defRPr sz="2475" b="1">
                <a:solidFill>
                  <a:srgbClr val="F4C99D"/>
                </a:solidFill>
                <a:latin typeface="Helvetica Neue"/>
                <a:ea typeface="Helvetica Neue"/>
                <a:cs typeface="Helvetica Neue"/>
              </a:defRPr>
            </a:lvl2pPr>
            <a:lvl3pPr>
              <a:defRPr sz="2475" b="1">
                <a:solidFill>
                  <a:srgbClr val="F4C99D"/>
                </a:solidFill>
                <a:latin typeface="Helvetica Neue"/>
                <a:ea typeface="Helvetica Neue"/>
                <a:cs typeface="Helvetica Neue"/>
              </a:defRPr>
            </a:lvl3pPr>
            <a:lvl4pPr>
              <a:defRPr sz="2475" b="1">
                <a:solidFill>
                  <a:srgbClr val="F4C99D"/>
                </a:solidFill>
                <a:latin typeface="Helvetica Neue"/>
                <a:ea typeface="Helvetica Neue"/>
                <a:cs typeface="Helvetica Neue"/>
              </a:defRPr>
            </a:lvl4pPr>
            <a:lvl5pPr>
              <a:defRPr sz="2475" b="1">
                <a:solidFill>
                  <a:srgbClr val="F4C99D"/>
                </a:solidFill>
                <a:latin typeface="Helvetica Neue"/>
                <a:ea typeface="Helvetica Neue"/>
                <a:cs typeface="Helvetica Neue"/>
              </a:defRPr>
            </a:lvl5pPr>
            <a:lvl6pPr>
              <a:defRPr sz="2475" b="1">
                <a:solidFill>
                  <a:srgbClr val="F4C99D"/>
                </a:solidFill>
                <a:latin typeface="Helvetica Neue"/>
                <a:ea typeface="Helvetica Neue"/>
                <a:cs typeface="Helvetica Neue"/>
              </a:defRPr>
            </a:lvl6pPr>
            <a:lvl7pPr>
              <a:defRPr sz="2475" b="1">
                <a:solidFill>
                  <a:srgbClr val="F4C99D"/>
                </a:solidFill>
                <a:latin typeface="Helvetica Neue"/>
                <a:ea typeface="Helvetica Neue"/>
                <a:cs typeface="Helvetica Neue"/>
              </a:defRPr>
            </a:lvl7pPr>
            <a:lvl8pPr>
              <a:defRPr sz="2475" b="1">
                <a:solidFill>
                  <a:srgbClr val="F4C99D"/>
                </a:solidFill>
                <a:latin typeface="Helvetica Neue"/>
                <a:ea typeface="Helvetica Neue"/>
                <a:cs typeface="Helvetica Neue"/>
              </a:defRPr>
            </a:lvl8pPr>
            <a:lvl9pPr>
              <a:defRPr sz="2475" b="1">
                <a:solidFill>
                  <a:srgbClr val="F4C99D"/>
                </a:solidFill>
                <a:latin typeface="Helvetica Neue"/>
                <a:ea typeface="Helvetica Neue"/>
                <a:cs typeface="Helvetica Neue"/>
              </a:defRPr>
            </a:lvl9pPr>
          </a:lstStyle>
          <a:p xmlns:a="http://schemas.openxmlformats.org/drawingml/2006/main">
            <a:pPr>
              <a:defRPr sz="2475" b="1">
                <a:solidFill>
                  <a:srgbClr val="F4C99D"/>
                </a:solidFill>
                <a:latin typeface="Helvetica Neue"/>
                <a:ea typeface="Helvetica Neue"/>
                <a:cs typeface="Helvetica Neue"/>
              </a:defRPr>
            </a:pPr>
            <a:r>
              <a:rPr sz="2475" b="1">
                <a:solidFill>
                  <a:srgbClr val="F4C99D"/>
                </a:solidFill>
                <a:latin typeface="Helvetica Neue"/>
                <a:ea typeface="Helvetica Neue"/>
                <a:cs typeface="Helvetica Neue"/>
              </a:rPr>
              <a:t>Current limits</a:t>
            </a:r>
          </a:p>
        </p:txBody>
      </p:sp>
      <p:sp>
        <p:nvSpPr>
          <p:cNvPr id="7" name="Mac must stay awake with camera in view&#10;Targets ne">
            <a:extLst xmlns:a="http://schemas.openxmlformats.org/drawingml/2006/main">
              <a:ext uri="{FF2B5EF4-FFF2-40B4-BE49-F238E27FC236}">
                <a16:creationId xmlns:a16="http://schemas.microsoft.com/office/drawing/2014/main" id="{FCD7475A-0909-4096-892F-2045B1EF724C}"/>
              </a:ext>
            </a:extLst>
          </p:cNvPr>
          <p:cNvSpPr>
            <a:spLocks xmlns:a="http://schemas.openxmlformats.org/drawingml/2006/main" noGrp="1"/>
          </p:cNvSpPr>
          <p:nvPr/>
        </p:nvSpPr>
        <p:spPr>
          <a:xfrm xmlns:a="http://schemas.openxmlformats.org/drawingml/2006/main">
            <a:off x="6705600" y="298132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6"/>
                </a:solidFill>
                <a:latin typeface="Helvetica Neue"/>
                <a:ea typeface="Helvetica Neue"/>
                <a:cs typeface="Helvetica Neue"/>
              </a:defRPr>
            </a:defPPr>
            <a:lvl1pPr>
              <a:defRPr sz="2025" b="0">
                <a:solidFill>
                  <a:srgbClr val="F3F5F6"/>
                </a:solidFill>
                <a:latin typeface="Helvetica Neue"/>
                <a:ea typeface="Helvetica Neue"/>
                <a:cs typeface="Helvetica Neue"/>
              </a:defRPr>
            </a:lvl1pPr>
            <a:lvl2pPr>
              <a:defRPr sz="2025" b="0">
                <a:solidFill>
                  <a:srgbClr val="F3F5F6"/>
                </a:solidFill>
                <a:latin typeface="Helvetica Neue"/>
                <a:ea typeface="Helvetica Neue"/>
                <a:cs typeface="Helvetica Neue"/>
              </a:defRPr>
            </a:lvl2pPr>
            <a:lvl3pPr>
              <a:defRPr sz="2025" b="0">
                <a:solidFill>
                  <a:srgbClr val="F3F5F6"/>
                </a:solidFill>
                <a:latin typeface="Helvetica Neue"/>
                <a:ea typeface="Helvetica Neue"/>
                <a:cs typeface="Helvetica Neue"/>
              </a:defRPr>
            </a:lvl3pPr>
            <a:lvl4pPr>
              <a:defRPr sz="2025" b="0">
                <a:solidFill>
                  <a:srgbClr val="F3F5F6"/>
                </a:solidFill>
                <a:latin typeface="Helvetica Neue"/>
                <a:ea typeface="Helvetica Neue"/>
                <a:cs typeface="Helvetica Neue"/>
              </a:defRPr>
            </a:lvl4pPr>
            <a:lvl5pPr>
              <a:defRPr sz="2025" b="0">
                <a:solidFill>
                  <a:srgbClr val="F3F5F6"/>
                </a:solidFill>
                <a:latin typeface="Helvetica Neue"/>
                <a:ea typeface="Helvetica Neue"/>
                <a:cs typeface="Helvetica Neue"/>
              </a:defRPr>
            </a:lvl5pPr>
            <a:lvl6pPr>
              <a:defRPr sz="2025" b="0">
                <a:solidFill>
                  <a:srgbClr val="F3F5F6"/>
                </a:solidFill>
                <a:latin typeface="Helvetica Neue"/>
                <a:ea typeface="Helvetica Neue"/>
                <a:cs typeface="Helvetica Neue"/>
              </a:defRPr>
            </a:lvl6pPr>
            <a:lvl7pPr>
              <a:defRPr sz="2025" b="0">
                <a:solidFill>
                  <a:srgbClr val="F3F5F6"/>
                </a:solidFill>
                <a:latin typeface="Helvetica Neue"/>
                <a:ea typeface="Helvetica Neue"/>
                <a:cs typeface="Helvetica Neue"/>
              </a:defRPr>
            </a:lvl7pPr>
            <a:lvl8pPr>
              <a:defRPr sz="2025" b="0">
                <a:solidFill>
                  <a:srgbClr val="F3F5F6"/>
                </a:solidFill>
                <a:latin typeface="Helvetica Neue"/>
                <a:ea typeface="Helvetica Neue"/>
                <a:cs typeface="Helvetica Neue"/>
              </a:defRPr>
            </a:lvl8pPr>
            <a:lvl9pPr>
              <a:defRPr sz="2025" b="0">
                <a:solidFill>
                  <a:srgbClr val="F3F5F6"/>
                </a:solidFill>
                <a:latin typeface="Helvetica Neue"/>
                <a:ea typeface="Helvetica Neue"/>
                <a:cs typeface="Helvetica Neue"/>
              </a:defRPr>
            </a:lvl9pPr>
          </a:lstStyle>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Mac must stay awake with camera in view</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Targets need manual calibration</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Lamp needs Zigbee2MQTT and a coordinator</a:t>
            </a:r>
          </a:p>
          <a:p xmlns:a="http://schemas.openxmlformats.org/drawingml/2006/main">
            <a:pPr>
              <a:defRPr sz="2025" b="0">
                <a:solidFill>
                  <a:srgbClr val="F3F5F6"/>
                </a:solidFill>
                <a:latin typeface="Helvetica Neue"/>
                <a:ea typeface="Helvetica Neue"/>
                <a:cs typeface="Helvetica Neue"/>
              </a:defRPr>
            </a:pPr>
            <a:r>
              <a:rPr sz="2025" b="0">
                <a:solidFill>
                  <a:srgbClr val="F3F5F6"/>
                </a:solidFill>
                <a:latin typeface="Helvetica Neue"/>
                <a:ea typeface="Helvetica Neue"/>
                <a:cs typeface="Helvetica Neue"/>
              </a:rPr>
              <a:t>Spotify needs macOS Automation access</a:t>
            </a:r>
          </a:p>
        </p:txBody>
      </p:sp>
      <p:sp>
        <p:nvSpPr>
          <p:cNvPr id="8" name="Hardware demo is the evidence for physical perform">
            <a:extLst xmlns:a="http://schemas.openxmlformats.org/drawingml/2006/main">
              <a:ext uri="{FF2B5EF4-FFF2-40B4-BE49-F238E27FC236}">
                <a16:creationId xmlns:a16="http://schemas.microsoft.com/office/drawing/2014/main" id="{49666722-BECD-4BE6-B938-9483E67B389E}"/>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Hardware demo is the evidence for physical performance. Other brands, arbitrary rooms and accessibility remain unvalidated.</a:t>
            </a:r>
          </a:p>
        </p:txBody>
      </p:sp>
    </p:spTree>
    <p:extLst>
      <p:ext uri="{BB962C8B-B14F-4D97-AF65-F5344CB8AC3E}">
        <p14:creationId xmlns:p14="http://schemas.microsoft.com/office/powerpoint/2010/main" val="1207167264"/>
      </p:ext>
    </p:extLst>
  </p:cSld>
</p:sld>
</file>

<file path=ppt/slides/slide11.xml><?xml version="1.0" encoding="utf-8"?>
<p:sld xmlns:p="http://schemas.openxmlformats.org/presentationml/2006/main">
  <p:cSld>
    <p:bg>
      <p:bgPr>
        <a:solidFill xmlns:a="http://schemas.openxmlformats.org/drawingml/2006/main">
          <a:srgbClr val="EBEDE9"/>
        </a:solidFill>
      </p:bgPr>
    </p:bg>
    <p:spTree>
      <p:nvGrpSpPr>
        <p:cNvPr id="1" name=""/>
        <p:cNvGrpSpPr/>
        <p:nvPr/>
      </p:nvGrpSpPr>
      <p:grpSpPr>
        <a:xfrm xmlns:a="http://schemas.openxmlformats.org/drawingml/2006/main"/>
      </p:grpSpPr>
      <p:sp>
        <p:nvSpPr>
          <p:cNvPr id="7" name="SPELLCAST / APPENDIX">
            <a:extLst xmlns:a="http://schemas.openxmlformats.org/drawingml/2006/main">
              <a:ext uri="{FF2B5EF4-FFF2-40B4-BE49-F238E27FC236}">
                <a16:creationId xmlns:a16="http://schemas.microsoft.com/office/drawing/2014/main" id="{27C7EBC6-9A6D-4744-B483-F2F2A9C58F0A}"/>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36073"/>
                </a:solidFill>
                <a:latin typeface="Helvetica Neue"/>
                <a:ea typeface="Helvetica Neue"/>
                <a:cs typeface="Helvetica Neue"/>
              </a:defRPr>
            </a:defPPr>
            <a:lvl1pPr>
              <a:defRPr sz="1125" b="1">
                <a:solidFill>
                  <a:srgbClr val="536073"/>
                </a:solidFill>
                <a:latin typeface="Helvetica Neue"/>
                <a:ea typeface="Helvetica Neue"/>
                <a:cs typeface="Helvetica Neue"/>
              </a:defRPr>
            </a:lvl1pPr>
            <a:lvl2pPr>
              <a:defRPr sz="1125" b="1">
                <a:solidFill>
                  <a:srgbClr val="536073"/>
                </a:solidFill>
                <a:latin typeface="Helvetica Neue"/>
                <a:ea typeface="Helvetica Neue"/>
                <a:cs typeface="Helvetica Neue"/>
              </a:defRPr>
            </a:lvl2pPr>
            <a:lvl3pPr>
              <a:defRPr sz="1125" b="1">
                <a:solidFill>
                  <a:srgbClr val="536073"/>
                </a:solidFill>
                <a:latin typeface="Helvetica Neue"/>
                <a:ea typeface="Helvetica Neue"/>
                <a:cs typeface="Helvetica Neue"/>
              </a:defRPr>
            </a:lvl3pPr>
            <a:lvl4pPr>
              <a:defRPr sz="1125" b="1">
                <a:solidFill>
                  <a:srgbClr val="536073"/>
                </a:solidFill>
                <a:latin typeface="Helvetica Neue"/>
                <a:ea typeface="Helvetica Neue"/>
                <a:cs typeface="Helvetica Neue"/>
              </a:defRPr>
            </a:lvl4pPr>
            <a:lvl5pPr>
              <a:defRPr sz="1125" b="1">
                <a:solidFill>
                  <a:srgbClr val="536073"/>
                </a:solidFill>
                <a:latin typeface="Helvetica Neue"/>
                <a:ea typeface="Helvetica Neue"/>
                <a:cs typeface="Helvetica Neue"/>
              </a:defRPr>
            </a:lvl5pPr>
            <a:lvl6pPr>
              <a:defRPr sz="1125" b="1">
                <a:solidFill>
                  <a:srgbClr val="536073"/>
                </a:solidFill>
                <a:latin typeface="Helvetica Neue"/>
                <a:ea typeface="Helvetica Neue"/>
                <a:cs typeface="Helvetica Neue"/>
              </a:defRPr>
            </a:lvl6pPr>
            <a:lvl7pPr>
              <a:defRPr sz="1125" b="1">
                <a:solidFill>
                  <a:srgbClr val="536073"/>
                </a:solidFill>
                <a:latin typeface="Helvetica Neue"/>
                <a:ea typeface="Helvetica Neue"/>
                <a:cs typeface="Helvetica Neue"/>
              </a:defRPr>
            </a:lvl7pPr>
            <a:lvl8pPr>
              <a:defRPr sz="1125" b="1">
                <a:solidFill>
                  <a:srgbClr val="536073"/>
                </a:solidFill>
                <a:latin typeface="Helvetica Neue"/>
                <a:ea typeface="Helvetica Neue"/>
                <a:cs typeface="Helvetica Neue"/>
              </a:defRPr>
            </a:lvl8pPr>
            <a:lvl9pPr>
              <a:defRPr sz="1125" b="1">
                <a:solidFill>
                  <a:srgbClr val="536073"/>
                </a:solidFill>
                <a:latin typeface="Helvetica Neue"/>
                <a:ea typeface="Helvetica Neue"/>
                <a:cs typeface="Helvetica Neue"/>
              </a:defRPr>
            </a:lvl9pPr>
          </a:lstStyle>
          <a:p xmlns:a="http://schemas.openxmlformats.org/drawingml/2006/main">
            <a:pPr>
              <a:defRPr sz="1125" b="1">
                <a:solidFill>
                  <a:srgbClr val="536073"/>
                </a:solidFill>
                <a:latin typeface="Helvetica Neue"/>
                <a:ea typeface="Helvetica Neue"/>
                <a:cs typeface="Helvetica Neue"/>
              </a:defRPr>
            </a:pPr>
            <a:r>
              <a:rPr sz="1125" b="1">
                <a:solidFill>
                  <a:srgbClr val="536073"/>
                </a:solidFill>
                <a:latin typeface="Helvetica Neue"/>
                <a:ea typeface="Helvetica Neue"/>
                <a:cs typeface="Helvetica Neue"/>
              </a:rPr>
              <a:t>SPELLCAST / APPENDIX</a:t>
            </a:r>
          </a:p>
        </p:txBody>
      </p:sp>
      <p:sp>
        <p:nvSpPr>
          <p:cNvPr id="2" name="11">
            <a:extLst xmlns:a="http://schemas.openxmlformats.org/drawingml/2006/main">
              <a:ext uri="{FF2B5EF4-FFF2-40B4-BE49-F238E27FC236}">
                <a16:creationId xmlns:a16="http://schemas.microsoft.com/office/drawing/2014/main" id="{F23325E7-6B02-479F-AD3B-B1041317C9D5}"/>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11</a:t>
            </a:r>
          </a:p>
        </p:txBody>
      </p:sp>
      <p:sp>
        <p:nvSpPr>
          <p:cNvPr id="3" name="Market assumptions and sensitivity">
            <a:extLst xmlns:a="http://schemas.openxmlformats.org/drawingml/2006/main">
              <a:ext uri="{FF2B5EF4-FFF2-40B4-BE49-F238E27FC236}">
                <a16:creationId xmlns:a16="http://schemas.microsoft.com/office/drawing/2014/main" id="{E4117C11-20EA-42DE-8FDE-F76C143D3692}"/>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52133"/>
                </a:solidFill>
                <a:latin typeface="Helvetica Neue"/>
                <a:ea typeface="Helvetica Neue"/>
                <a:cs typeface="Helvetica Neue"/>
              </a:defRPr>
            </a:defPPr>
            <a:lvl1pPr>
              <a:defRPr sz="3675" b="1">
                <a:solidFill>
                  <a:srgbClr val="152133"/>
                </a:solidFill>
                <a:latin typeface="Helvetica Neue"/>
                <a:ea typeface="Helvetica Neue"/>
                <a:cs typeface="Helvetica Neue"/>
              </a:defRPr>
            </a:lvl1pPr>
            <a:lvl2pPr>
              <a:defRPr sz="3675" b="1">
                <a:solidFill>
                  <a:srgbClr val="152133"/>
                </a:solidFill>
                <a:latin typeface="Helvetica Neue"/>
                <a:ea typeface="Helvetica Neue"/>
                <a:cs typeface="Helvetica Neue"/>
              </a:defRPr>
            </a:lvl2pPr>
            <a:lvl3pPr>
              <a:defRPr sz="3675" b="1">
                <a:solidFill>
                  <a:srgbClr val="152133"/>
                </a:solidFill>
                <a:latin typeface="Helvetica Neue"/>
                <a:ea typeface="Helvetica Neue"/>
                <a:cs typeface="Helvetica Neue"/>
              </a:defRPr>
            </a:lvl3pPr>
            <a:lvl4pPr>
              <a:defRPr sz="3675" b="1">
                <a:solidFill>
                  <a:srgbClr val="152133"/>
                </a:solidFill>
                <a:latin typeface="Helvetica Neue"/>
                <a:ea typeface="Helvetica Neue"/>
                <a:cs typeface="Helvetica Neue"/>
              </a:defRPr>
            </a:lvl4pPr>
            <a:lvl5pPr>
              <a:defRPr sz="3675" b="1">
                <a:solidFill>
                  <a:srgbClr val="152133"/>
                </a:solidFill>
                <a:latin typeface="Helvetica Neue"/>
                <a:ea typeface="Helvetica Neue"/>
                <a:cs typeface="Helvetica Neue"/>
              </a:defRPr>
            </a:lvl5pPr>
            <a:lvl6pPr>
              <a:defRPr sz="3675" b="1">
                <a:solidFill>
                  <a:srgbClr val="152133"/>
                </a:solidFill>
                <a:latin typeface="Helvetica Neue"/>
                <a:ea typeface="Helvetica Neue"/>
                <a:cs typeface="Helvetica Neue"/>
              </a:defRPr>
            </a:lvl6pPr>
            <a:lvl7pPr>
              <a:defRPr sz="3675" b="1">
                <a:solidFill>
                  <a:srgbClr val="152133"/>
                </a:solidFill>
                <a:latin typeface="Helvetica Neue"/>
                <a:ea typeface="Helvetica Neue"/>
                <a:cs typeface="Helvetica Neue"/>
              </a:defRPr>
            </a:lvl7pPr>
            <a:lvl8pPr>
              <a:defRPr sz="3675" b="1">
                <a:solidFill>
                  <a:srgbClr val="152133"/>
                </a:solidFill>
                <a:latin typeface="Helvetica Neue"/>
                <a:ea typeface="Helvetica Neue"/>
                <a:cs typeface="Helvetica Neue"/>
              </a:defRPr>
            </a:lvl8pPr>
            <a:lvl9pPr>
              <a:defRPr sz="3675" b="1">
                <a:solidFill>
                  <a:srgbClr val="152133"/>
                </a:solidFill>
                <a:latin typeface="Helvetica Neue"/>
                <a:ea typeface="Helvetica Neue"/>
                <a:cs typeface="Helvetica Neue"/>
              </a:defRPr>
            </a:lvl9pPr>
          </a:lstStyle>
          <a:p xmlns:a="http://schemas.openxmlformats.org/drawingml/2006/main">
            <a:pPr>
              <a:defRPr sz="3675" b="1">
                <a:solidFill>
                  <a:srgbClr val="152133"/>
                </a:solidFill>
                <a:latin typeface="Helvetica Neue"/>
                <a:ea typeface="Helvetica Neue"/>
                <a:cs typeface="Helvetica Neue"/>
              </a:defRPr>
            </a:pPr>
            <a:r>
              <a:rPr sz="3675" b="1">
                <a:solidFill>
                  <a:srgbClr val="152133"/>
                </a:solidFill>
                <a:latin typeface="Helvetica Neue"/>
                <a:ea typeface="Helvetica Neue"/>
                <a:cs typeface="Helvetica Neue"/>
              </a:rPr>
              <a:t>Market assumptions and sensitivity</a:t>
            </a:r>
          </a:p>
        </p:txBody>
      </p:sp>
      <p:graphicFrame>
        <p:nvGraphicFramePr>
          <p:cNvPr id="4" name="">
            <a:extLst xmlns:a="http://schemas.openxmlformats.org/drawingml/2006/main">
              <a:ext uri="{FF2B5EF4-FFF2-40B4-BE49-F238E27FC236}">
                <a16:creationId xmlns:a16="http://schemas.microsoft.com/office/drawing/2014/main" id="{FE02B6C3-37BD-4B45-8C7C-5AEE891C9B5A}"/>
              </a:ext>
            </a:extLst>
          </p:cNvPr>
          <p:cNvGraphicFramePr/>
          <p:nvPr/>
        </p:nvGraphicFramePr>
        <p:xfrm>
          <a:off xmlns:a="http://schemas.openxmlformats.org/drawingml/2006/main" x="609600" y="2257425"/>
          <a:ext xmlns:a="http://schemas.openxmlformats.org/drawingml/2006/main" cx="10953750" cy="2905125"/>
        </p:xfrm>
        <a:graphic xmlns:a="http://schemas.openxmlformats.org/drawingml/2006/main">
          <a:graphicData uri="http://schemas.openxmlformats.org/drawingml/2006/table">
            <a:tbl>
              <a:tblPr/>
              <a:tblGrid>
                <a:gridCol w="2333625"/>
                <a:gridCol w="5381625"/>
                <a:gridCol w="3238500"/>
              </a:tblGrid>
              <a:tr h="726281">
                <a:tc>
                  <a:txBody>
                    <a:bodyPr lIns="133350" tIns="133350" rIns="133350" bIns="133350">
                      <a:noAutofit/>
                    </a:bodyPr>
                    <a:lstStyle/>
                    <a:p>
                      <a:r>
                        <a:rPr sz="1800" b="1">
                          <a:solidFill>
                            <a:srgbClr val="152133"/>
                          </a:solidFill>
                          <a:latin typeface="Helvetica Neue"/>
                          <a:ea typeface="Helvetica Neue"/>
                          <a:cs typeface="Helvetica Neue"/>
                        </a:rPr>
                        <a:t>Scope</a:t>
                      </a:r>
                    </a:p>
                  </a:txBody>
                  <a:tcPr marL="91440" marR="91440" marT="45720" marB="45720">
                    <a:lnL w="6668">
                      <a:solidFill>
                        <a:srgbClr val="CBD1D0"/>
                      </a:solidFill>
                      <a:prstDash val="solid"/>
                    </a:lnL>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c>
                  <a:txBody>
                    <a:bodyPr lIns="133350" tIns="133350" rIns="133350" bIns="133350">
                      <a:noAutofit/>
                    </a:bodyPr>
                    <a:lstStyle/>
                    <a:p>
                      <a:r>
                        <a:rPr sz="1800" b="1">
                          <a:solidFill>
                            <a:srgbClr val="152133"/>
                          </a:solidFill>
                          <a:latin typeface="Helvetica Neue"/>
                          <a:ea typeface="Helvetica Neue"/>
                          <a:cs typeface="Helvetica Neue"/>
                        </a:rPr>
                        <a:t>Room / household calculation</a:t>
                      </a:r>
                    </a:p>
                  </a:txBody>
                  <a:tcPr marL="91440" marR="91440" marT="45720" marB="45720">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c>
                  <a:txBody>
                    <a:bodyPr lIns="133350" tIns="133350" rIns="133350" bIns="133350">
                      <a:noAutofit/>
                    </a:bodyPr>
                    <a:lstStyle/>
                    <a:p>
                      <a:r>
                        <a:rPr sz="1800" b="1">
                          <a:solidFill>
                            <a:srgbClr val="152133"/>
                          </a:solidFill>
                          <a:latin typeface="Helvetica Neue"/>
                          <a:ea typeface="Helvetica Neue"/>
                          <a:cs typeface="Helvetica Neue"/>
                        </a:rPr>
                        <a:t>Annual gross at £29</a:t>
                      </a:r>
                    </a:p>
                  </a:txBody>
                  <a:tcPr marL="91440" marR="91440" marT="45720" marB="45720">
                    <a:lnR w="6668">
                      <a:solidFill>
                        <a:srgbClr val="CBD1D0"/>
                      </a:solidFill>
                      <a:prstDash val="solid"/>
                    </a:lnR>
                    <a:lnT w="6668">
                      <a:solidFill>
                        <a:srgbClr val="CBD1D0"/>
                      </a:solidFill>
                      <a:prstDash val="solid"/>
                    </a:lnT>
                    <a:lnB w="6668">
                      <a:solidFill>
                        <a:srgbClr val="CBD1D0"/>
                      </a:solidFill>
                      <a:prstDash val="solid"/>
                    </a:lnB>
                    <a:solidFill>
                      <a:srgbClr val="D9DEDA"/>
                    </a:solidFill>
                  </a:tcPr>
                </a:tc>
              </a:tr>
              <a:tr h="726281">
                <a:tc>
                  <a:txBody>
                    <a:bodyPr lIns="133350" tIns="133350" rIns="133350" bIns="133350">
                      <a:noAutofit/>
                    </a:bodyPr>
                    <a:lstStyle/>
                    <a:p>
                      <a:r>
                        <a:rPr sz="1800" b="1">
                          <a:solidFill>
                            <a:srgbClr val="152133"/>
                          </a:solidFill>
                          <a:latin typeface="Helvetica Neue"/>
                          <a:ea typeface="Helvetica Neue"/>
                          <a:cs typeface="Helvetica Neue"/>
                        </a:rPr>
                        <a:t>TAM proxy</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29m UK households × 40% = 11.6m</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£336.4m theoretical</a:t>
                      </a:r>
                    </a:p>
                  </a:txBody>
                  <a:tcPr marL="91440" marR="91440" marT="45720" marB="45720">
                    <a:lnR w="6668">
                      <a:solidFill>
                        <a:srgbClr val="CBD1D0"/>
                      </a:solidFill>
                      <a:prstDash val="solid"/>
                    </a:lnR>
                    <a:lnB w="6668">
                      <a:solidFill>
                        <a:srgbClr val="CBD1D0"/>
                      </a:solidFill>
                      <a:prstDash val="solid"/>
                    </a:lnB>
                    <a:solidFill>
                      <a:srgbClr val="EBEDE9"/>
                    </a:solidFill>
                  </a:tcPr>
                </a:tc>
              </a:tr>
              <a:tr h="726281">
                <a:tc>
                  <a:txBody>
                    <a:bodyPr lIns="133350" tIns="133350" rIns="133350" bIns="133350">
                      <a:noAutofit/>
                    </a:bodyPr>
                    <a:lstStyle/>
                    <a:p>
                      <a:r>
                        <a:rPr sz="1800" b="1">
                          <a:solidFill>
                            <a:srgbClr val="152133"/>
                          </a:solidFill>
                          <a:latin typeface="Helvetica Neue"/>
                          <a:ea typeface="Helvetica Neue"/>
                          <a:cs typeface="Helvetica Neue"/>
                        </a:rPr>
                        <a:t>SAM scenario</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11.6m × assumed 1% fit = 116k</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£3.364m scenario</a:t>
                      </a:r>
                    </a:p>
                  </a:txBody>
                  <a:tcPr marL="91440" marR="91440" marT="45720" marB="45720">
                    <a:lnR w="6668">
                      <a:solidFill>
                        <a:srgbClr val="CBD1D0"/>
                      </a:solidFill>
                      <a:prstDash val="solid"/>
                    </a:lnR>
                    <a:lnB w="6668">
                      <a:solidFill>
                        <a:srgbClr val="CBD1D0"/>
                      </a:solidFill>
                      <a:prstDash val="solid"/>
                    </a:lnB>
                    <a:solidFill>
                      <a:srgbClr val="EBEDE9"/>
                    </a:solidFill>
                  </a:tcPr>
                </a:tc>
              </a:tr>
              <a:tr h="726281">
                <a:tc>
                  <a:txBody>
                    <a:bodyPr lIns="133350" tIns="133350" rIns="133350" bIns="133350">
                      <a:noAutofit/>
                    </a:bodyPr>
                    <a:lstStyle/>
                    <a:p>
                      <a:r>
                        <a:rPr sz="1800" b="1">
                          <a:solidFill>
                            <a:srgbClr val="152133"/>
                          </a:solidFill>
                          <a:latin typeface="Helvetica Neue"/>
                          <a:ea typeface="Helvetica Neue"/>
                          <a:cs typeface="Helvetica Neue"/>
                        </a:rPr>
                        <a:t>SOM target</a:t>
                      </a:r>
                    </a:p>
                  </a:txBody>
                  <a:tcPr marL="91440" marR="91440" marT="45720" marB="45720">
                    <a:lnL w="6668">
                      <a:solidFill>
                        <a:srgbClr val="CBD1D0"/>
                      </a:solidFill>
                      <a:prstDash val="solid"/>
                    </a:lnL>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1,000 paid rooms in year one</a:t>
                      </a:r>
                    </a:p>
                  </a:txBody>
                  <a:tcPr marL="91440" marR="91440" marT="45720" marB="45720">
                    <a:lnR w="6668">
                      <a:solidFill>
                        <a:srgbClr val="CBD1D0"/>
                      </a:solidFill>
                      <a:prstDash val="solid"/>
                    </a:lnR>
                    <a:lnB w="6668">
                      <a:solidFill>
                        <a:srgbClr val="CBD1D0"/>
                      </a:solidFill>
                      <a:prstDash val="solid"/>
                    </a:lnB>
                    <a:solidFill>
                      <a:srgbClr val="EBEDE9"/>
                    </a:solidFill>
                  </a:tcPr>
                </a:tc>
                <a:tc>
                  <a:txBody>
                    <a:bodyPr lIns="133350" tIns="133350" rIns="133350" bIns="133350">
                      <a:noAutofit/>
                    </a:bodyPr>
                    <a:lstStyle/>
                    <a:p>
                      <a:r>
                        <a:rPr sz="1800" b="0">
                          <a:solidFill>
                            <a:srgbClr val="152133"/>
                          </a:solidFill>
                          <a:latin typeface="Helvetica Neue"/>
                          <a:ea typeface="Helvetica Neue"/>
                          <a:cs typeface="Helvetica Neue"/>
                        </a:rPr>
                        <a:t>£29k target</a:t>
                      </a:r>
                    </a:p>
                  </a:txBody>
                  <a:tcPr marL="91440" marR="91440" marT="45720" marB="45720">
                    <a:lnR w="6668">
                      <a:solidFill>
                        <a:srgbClr val="CBD1D0"/>
                      </a:solidFill>
                      <a:prstDash val="solid"/>
                    </a:lnR>
                    <a:lnB w="6668">
                      <a:solidFill>
                        <a:srgbClr val="CBD1D0"/>
                      </a:solidFill>
                      <a:prstDash val="solid"/>
                    </a:lnB>
                    <a:solidFill>
                      <a:srgbClr val="EBEDE9"/>
                    </a:solidFill>
                  </a:tcPr>
                </a:tc>
              </a:tr>
            </a:tbl>
          </a:graphicData>
        </a:graphic>
      </p:graphicFrame>
      <p:sp>
        <p:nvSpPr>
          <p:cNvPr id="5" name="At 0.5% fit: 58k rooms. At 2% fit: 232k rooms.">
            <a:extLst xmlns:a="http://schemas.openxmlformats.org/drawingml/2006/main">
              <a:ext uri="{FF2B5EF4-FFF2-40B4-BE49-F238E27FC236}">
                <a16:creationId xmlns:a16="http://schemas.microsoft.com/office/drawing/2014/main" id="{7AB20BAC-9B49-47D6-9DFF-CC7B195B63B3}"/>
              </a:ext>
            </a:extLst>
          </p:cNvPr>
          <p:cNvSpPr>
            <a:spLocks xmlns:a="http://schemas.openxmlformats.org/drawingml/2006/main" noGrp="1"/>
          </p:cNvSpPr>
          <p:nvPr/>
        </p:nvSpPr>
        <p:spPr>
          <a:xfrm xmlns:a="http://schemas.openxmlformats.org/drawingml/2006/main">
            <a:off x="609600" y="550545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52133"/>
                </a:solidFill>
                <a:latin typeface="Helvetica Neue"/>
                <a:ea typeface="Helvetica Neue"/>
                <a:cs typeface="Helvetica Neue"/>
              </a:defRPr>
            </a:defPPr>
            <a:lvl1pPr>
              <a:defRPr sz="2250" b="1">
                <a:solidFill>
                  <a:srgbClr val="152133"/>
                </a:solidFill>
                <a:latin typeface="Helvetica Neue"/>
                <a:ea typeface="Helvetica Neue"/>
                <a:cs typeface="Helvetica Neue"/>
              </a:defRPr>
            </a:lvl1pPr>
            <a:lvl2pPr>
              <a:defRPr sz="2250" b="1">
                <a:solidFill>
                  <a:srgbClr val="152133"/>
                </a:solidFill>
                <a:latin typeface="Helvetica Neue"/>
                <a:ea typeface="Helvetica Neue"/>
                <a:cs typeface="Helvetica Neue"/>
              </a:defRPr>
            </a:lvl2pPr>
            <a:lvl3pPr>
              <a:defRPr sz="2250" b="1">
                <a:solidFill>
                  <a:srgbClr val="152133"/>
                </a:solidFill>
                <a:latin typeface="Helvetica Neue"/>
                <a:ea typeface="Helvetica Neue"/>
                <a:cs typeface="Helvetica Neue"/>
              </a:defRPr>
            </a:lvl3pPr>
            <a:lvl4pPr>
              <a:defRPr sz="2250" b="1">
                <a:solidFill>
                  <a:srgbClr val="152133"/>
                </a:solidFill>
                <a:latin typeface="Helvetica Neue"/>
                <a:ea typeface="Helvetica Neue"/>
                <a:cs typeface="Helvetica Neue"/>
              </a:defRPr>
            </a:lvl4pPr>
            <a:lvl5pPr>
              <a:defRPr sz="2250" b="1">
                <a:solidFill>
                  <a:srgbClr val="152133"/>
                </a:solidFill>
                <a:latin typeface="Helvetica Neue"/>
                <a:ea typeface="Helvetica Neue"/>
                <a:cs typeface="Helvetica Neue"/>
              </a:defRPr>
            </a:lvl5pPr>
            <a:lvl6pPr>
              <a:defRPr sz="2250" b="1">
                <a:solidFill>
                  <a:srgbClr val="152133"/>
                </a:solidFill>
                <a:latin typeface="Helvetica Neue"/>
                <a:ea typeface="Helvetica Neue"/>
                <a:cs typeface="Helvetica Neue"/>
              </a:defRPr>
            </a:lvl6pPr>
            <a:lvl7pPr>
              <a:defRPr sz="2250" b="1">
                <a:solidFill>
                  <a:srgbClr val="152133"/>
                </a:solidFill>
                <a:latin typeface="Helvetica Neue"/>
                <a:ea typeface="Helvetica Neue"/>
                <a:cs typeface="Helvetica Neue"/>
              </a:defRPr>
            </a:lvl7pPr>
            <a:lvl8pPr>
              <a:defRPr sz="2250" b="1">
                <a:solidFill>
                  <a:srgbClr val="152133"/>
                </a:solidFill>
                <a:latin typeface="Helvetica Neue"/>
                <a:ea typeface="Helvetica Neue"/>
                <a:cs typeface="Helvetica Neue"/>
              </a:defRPr>
            </a:lvl8pPr>
            <a:lvl9pPr>
              <a:defRPr sz="2250" b="1">
                <a:solidFill>
                  <a:srgbClr val="152133"/>
                </a:solidFill>
                <a:latin typeface="Helvetica Neue"/>
                <a:ea typeface="Helvetica Neue"/>
                <a:cs typeface="Helvetica Neue"/>
              </a:defRPr>
            </a:lvl9pPr>
          </a:lstStyle>
          <a:p xmlns:a="http://schemas.openxmlformats.org/drawingml/2006/main">
            <a:pPr>
              <a:defRPr sz="2250" b="1">
                <a:solidFill>
                  <a:srgbClr val="152133"/>
                </a:solidFill>
                <a:latin typeface="Helvetica Neue"/>
                <a:ea typeface="Helvetica Neue"/>
                <a:cs typeface="Helvetica Neue"/>
              </a:defRPr>
            </a:pPr>
            <a:r>
              <a:rPr sz="2250" b="1">
                <a:solidFill>
                  <a:srgbClr val="152133"/>
                </a:solidFill>
                <a:latin typeface="Helvetica Neue"/>
                <a:ea typeface="Helvetica Neue"/>
                <a:cs typeface="Helvetica Neue"/>
              </a:rPr>
              <a:t>At 0.5% fit: 58k rooms. At 2% fit: 232k rooms.</a:t>
            </a:r>
          </a:p>
        </p:txBody>
      </p:sp>
      <p:sp>
        <p:nvSpPr>
          <p:cNvPr id="6" name="Broad category proxy, assumed compatibility and ad">
            <a:extLst xmlns:a="http://schemas.openxmlformats.org/drawingml/2006/main">
              <a:ext uri="{FF2B5EF4-FFF2-40B4-BE49-F238E27FC236}">
                <a16:creationId xmlns:a16="http://schemas.microsoft.com/office/drawing/2014/main" id="{1048C725-E1AB-4F8D-BA16-1F368358C58B}"/>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Broad category proxy, assumed compatibility and adoption, then a sales target. None are measured product demand.</a:t>
            </a:r>
          </a:p>
        </p:txBody>
      </p:sp>
    </p:spTree>
    <p:extLst>
      <p:ext uri="{BB962C8B-B14F-4D97-AF65-F5344CB8AC3E}">
        <p14:creationId xmlns:p14="http://schemas.microsoft.com/office/powerpoint/2010/main" val="474236196"/>
      </p:ext>
    </p:extLst>
  </p:cSld>
</p:sld>
</file>

<file path=ppt/slides/slide12.xml><?xml version="1.0" encoding="utf-8"?>
<p:sld xmlns:p="http://schemas.openxmlformats.org/presentationml/2006/main">
  <p:cSld>
    <p:bg>
      <p:bgPr>
        <a:solidFill xmlns:a="http://schemas.openxmlformats.org/drawingml/2006/main">
          <a:srgbClr val="080F1C"/>
        </a:solidFill>
      </p:bgPr>
    </p:bg>
    <p:spTree>
      <p:nvGrpSpPr>
        <p:cNvPr id="1" name=""/>
        <p:cNvGrpSpPr/>
        <p:nvPr/>
      </p:nvGrpSpPr>
      <p:grpSpPr>
        <a:xfrm xmlns:a="http://schemas.openxmlformats.org/drawingml/2006/main"/>
      </p:grpSpPr>
      <p:sp>
        <p:nvSpPr>
          <p:cNvPr id="13" name="SPELLCAST / APPENDIX">
            <a:extLst xmlns:a="http://schemas.openxmlformats.org/drawingml/2006/main">
              <a:ext uri="{FF2B5EF4-FFF2-40B4-BE49-F238E27FC236}">
                <a16:creationId xmlns:a16="http://schemas.microsoft.com/office/drawing/2014/main" id="{3CF983A9-58CE-48C9-ABE3-6C6C7B35B45A}"/>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ACB7C7"/>
                </a:solidFill>
                <a:latin typeface="Helvetica Neue"/>
                <a:ea typeface="Helvetica Neue"/>
                <a:cs typeface="Helvetica Neue"/>
              </a:defRPr>
            </a:defPPr>
            <a:lvl1pPr>
              <a:defRPr sz="1125" b="1">
                <a:solidFill>
                  <a:srgbClr val="ACB7C7"/>
                </a:solidFill>
                <a:latin typeface="Helvetica Neue"/>
                <a:ea typeface="Helvetica Neue"/>
                <a:cs typeface="Helvetica Neue"/>
              </a:defRPr>
            </a:lvl1pPr>
            <a:lvl2pPr>
              <a:defRPr sz="1125" b="1">
                <a:solidFill>
                  <a:srgbClr val="ACB7C7"/>
                </a:solidFill>
                <a:latin typeface="Helvetica Neue"/>
                <a:ea typeface="Helvetica Neue"/>
                <a:cs typeface="Helvetica Neue"/>
              </a:defRPr>
            </a:lvl2pPr>
            <a:lvl3pPr>
              <a:defRPr sz="1125" b="1">
                <a:solidFill>
                  <a:srgbClr val="ACB7C7"/>
                </a:solidFill>
                <a:latin typeface="Helvetica Neue"/>
                <a:ea typeface="Helvetica Neue"/>
                <a:cs typeface="Helvetica Neue"/>
              </a:defRPr>
            </a:lvl3pPr>
            <a:lvl4pPr>
              <a:defRPr sz="1125" b="1">
                <a:solidFill>
                  <a:srgbClr val="ACB7C7"/>
                </a:solidFill>
                <a:latin typeface="Helvetica Neue"/>
                <a:ea typeface="Helvetica Neue"/>
                <a:cs typeface="Helvetica Neue"/>
              </a:defRPr>
            </a:lvl4pPr>
            <a:lvl5pPr>
              <a:defRPr sz="1125" b="1">
                <a:solidFill>
                  <a:srgbClr val="ACB7C7"/>
                </a:solidFill>
                <a:latin typeface="Helvetica Neue"/>
                <a:ea typeface="Helvetica Neue"/>
                <a:cs typeface="Helvetica Neue"/>
              </a:defRPr>
            </a:lvl5pPr>
            <a:lvl6pPr>
              <a:defRPr sz="1125" b="1">
                <a:solidFill>
                  <a:srgbClr val="ACB7C7"/>
                </a:solidFill>
                <a:latin typeface="Helvetica Neue"/>
                <a:ea typeface="Helvetica Neue"/>
                <a:cs typeface="Helvetica Neue"/>
              </a:defRPr>
            </a:lvl6pPr>
            <a:lvl7pPr>
              <a:defRPr sz="1125" b="1">
                <a:solidFill>
                  <a:srgbClr val="ACB7C7"/>
                </a:solidFill>
                <a:latin typeface="Helvetica Neue"/>
                <a:ea typeface="Helvetica Neue"/>
                <a:cs typeface="Helvetica Neue"/>
              </a:defRPr>
            </a:lvl7pPr>
            <a:lvl8pPr>
              <a:defRPr sz="1125" b="1">
                <a:solidFill>
                  <a:srgbClr val="ACB7C7"/>
                </a:solidFill>
                <a:latin typeface="Helvetica Neue"/>
                <a:ea typeface="Helvetica Neue"/>
                <a:cs typeface="Helvetica Neue"/>
              </a:defRPr>
            </a:lvl8pPr>
            <a:lvl9pPr>
              <a:defRPr sz="1125" b="1">
                <a:solidFill>
                  <a:srgbClr val="ACB7C7"/>
                </a:solidFill>
                <a:latin typeface="Helvetica Neue"/>
                <a:ea typeface="Helvetica Neue"/>
                <a:cs typeface="Helvetica Neue"/>
              </a:defRPr>
            </a:lvl9pPr>
          </a:lstStyle>
          <a:p xmlns:a="http://schemas.openxmlformats.org/drawingml/2006/main">
            <a:pPr>
              <a:defRPr sz="1125" b="1">
                <a:solidFill>
                  <a:srgbClr val="ACB7C7"/>
                </a:solidFill>
                <a:latin typeface="Helvetica Neue"/>
                <a:ea typeface="Helvetica Neue"/>
                <a:cs typeface="Helvetica Neue"/>
              </a:defRPr>
            </a:pPr>
            <a:r>
              <a:rPr sz="1125" b="1">
                <a:solidFill>
                  <a:srgbClr val="ACB7C7"/>
                </a:solidFill>
                <a:latin typeface="Helvetica Neue"/>
                <a:ea typeface="Helvetica Neue"/>
                <a:cs typeface="Helvetica Neue"/>
              </a:rPr>
              <a:t>SPELLCAST / APPENDIX</a:t>
            </a:r>
          </a:p>
        </p:txBody>
      </p:sp>
      <p:sp>
        <p:nvSpPr>
          <p:cNvPr id="2" name="12">
            <a:extLst xmlns:a="http://schemas.openxmlformats.org/drawingml/2006/main">
              <a:ext uri="{FF2B5EF4-FFF2-40B4-BE49-F238E27FC236}">
                <a16:creationId xmlns:a16="http://schemas.microsoft.com/office/drawing/2014/main" id="{6706BC82-3495-44BE-AE83-90FE0EC63D15}"/>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12</a:t>
            </a:r>
          </a:p>
        </p:txBody>
      </p:sp>
      <p:sp>
        <p:nvSpPr>
          <p:cNvPr id="3" name="The pilot tests everyday usefulness">
            <a:extLst xmlns:a="http://schemas.openxmlformats.org/drawingml/2006/main">
              <a:ext uri="{FF2B5EF4-FFF2-40B4-BE49-F238E27FC236}">
                <a16:creationId xmlns:a16="http://schemas.microsoft.com/office/drawing/2014/main" id="{37011DB7-652B-4B7B-9664-E78DB5ED7148}"/>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3F5F6"/>
                </a:solidFill>
                <a:latin typeface="Helvetica Neue"/>
                <a:ea typeface="Helvetica Neue"/>
                <a:cs typeface="Helvetica Neue"/>
              </a:defRPr>
            </a:defPPr>
            <a:lvl1pPr>
              <a:defRPr sz="3675" b="1">
                <a:solidFill>
                  <a:srgbClr val="F3F5F6"/>
                </a:solidFill>
                <a:latin typeface="Helvetica Neue"/>
                <a:ea typeface="Helvetica Neue"/>
                <a:cs typeface="Helvetica Neue"/>
              </a:defRPr>
            </a:lvl1pPr>
            <a:lvl2pPr>
              <a:defRPr sz="3675" b="1">
                <a:solidFill>
                  <a:srgbClr val="F3F5F6"/>
                </a:solidFill>
                <a:latin typeface="Helvetica Neue"/>
                <a:ea typeface="Helvetica Neue"/>
                <a:cs typeface="Helvetica Neue"/>
              </a:defRPr>
            </a:lvl2pPr>
            <a:lvl3pPr>
              <a:defRPr sz="3675" b="1">
                <a:solidFill>
                  <a:srgbClr val="F3F5F6"/>
                </a:solidFill>
                <a:latin typeface="Helvetica Neue"/>
                <a:ea typeface="Helvetica Neue"/>
                <a:cs typeface="Helvetica Neue"/>
              </a:defRPr>
            </a:lvl3pPr>
            <a:lvl4pPr>
              <a:defRPr sz="3675" b="1">
                <a:solidFill>
                  <a:srgbClr val="F3F5F6"/>
                </a:solidFill>
                <a:latin typeface="Helvetica Neue"/>
                <a:ea typeface="Helvetica Neue"/>
                <a:cs typeface="Helvetica Neue"/>
              </a:defRPr>
            </a:lvl4pPr>
            <a:lvl5pPr>
              <a:defRPr sz="3675" b="1">
                <a:solidFill>
                  <a:srgbClr val="F3F5F6"/>
                </a:solidFill>
                <a:latin typeface="Helvetica Neue"/>
                <a:ea typeface="Helvetica Neue"/>
                <a:cs typeface="Helvetica Neue"/>
              </a:defRPr>
            </a:lvl5pPr>
            <a:lvl6pPr>
              <a:defRPr sz="3675" b="1">
                <a:solidFill>
                  <a:srgbClr val="F3F5F6"/>
                </a:solidFill>
                <a:latin typeface="Helvetica Neue"/>
                <a:ea typeface="Helvetica Neue"/>
                <a:cs typeface="Helvetica Neue"/>
              </a:defRPr>
            </a:lvl6pPr>
            <a:lvl7pPr>
              <a:defRPr sz="3675" b="1">
                <a:solidFill>
                  <a:srgbClr val="F3F5F6"/>
                </a:solidFill>
                <a:latin typeface="Helvetica Neue"/>
                <a:ea typeface="Helvetica Neue"/>
                <a:cs typeface="Helvetica Neue"/>
              </a:defRPr>
            </a:lvl7pPr>
            <a:lvl8pPr>
              <a:defRPr sz="3675" b="1">
                <a:solidFill>
                  <a:srgbClr val="F3F5F6"/>
                </a:solidFill>
                <a:latin typeface="Helvetica Neue"/>
                <a:ea typeface="Helvetica Neue"/>
                <a:cs typeface="Helvetica Neue"/>
              </a:defRPr>
            </a:lvl8pPr>
            <a:lvl9pPr>
              <a:defRPr sz="3675" b="1">
                <a:solidFill>
                  <a:srgbClr val="F3F5F6"/>
                </a:solidFill>
                <a:latin typeface="Helvetica Neue"/>
                <a:ea typeface="Helvetica Neue"/>
                <a:cs typeface="Helvetica Neue"/>
              </a:defRPr>
            </a:lvl9pPr>
          </a:lstStyle>
          <a:p xmlns:a="http://schemas.openxmlformats.org/drawingml/2006/main">
            <a:pPr>
              <a:defRPr sz="3675" b="1">
                <a:solidFill>
                  <a:srgbClr val="F3F5F6"/>
                </a:solidFill>
                <a:latin typeface="Helvetica Neue"/>
                <a:ea typeface="Helvetica Neue"/>
                <a:cs typeface="Helvetica Neue"/>
              </a:defRPr>
            </a:pPr>
            <a:r>
              <a:rPr sz="3675" b="1">
                <a:solidFill>
                  <a:srgbClr val="F3F5F6"/>
                </a:solidFill>
                <a:latin typeface="Helvetica Neue"/>
                <a:ea typeface="Helvetica Neue"/>
                <a:cs typeface="Helvetica Neue"/>
              </a:rPr>
              <a:t>The pilot tests everyday usefulness</a:t>
            </a:r>
          </a:p>
        </p:txBody>
      </p:sp>
      <p:sp>
        <p:nvSpPr>
          <p:cNvPr id="4" name="Task reliability">
            <a:extLst xmlns:a="http://schemas.openxmlformats.org/drawingml/2006/main">
              <a:ext uri="{FF2B5EF4-FFF2-40B4-BE49-F238E27FC236}">
                <a16:creationId xmlns:a16="http://schemas.microsoft.com/office/drawing/2014/main" id="{B61DB14F-B6CA-4147-BCD9-4FAE78E51799}"/>
              </a:ext>
            </a:extLst>
          </p:cNvPr>
          <p:cNvSpPr>
            <a:spLocks xmlns:a="http://schemas.openxmlformats.org/drawingml/2006/main" noGrp="1"/>
          </p:cNvSpPr>
          <p:nvPr/>
        </p:nvSpPr>
        <p:spPr>
          <a:xfrm xmlns:a="http://schemas.openxmlformats.org/drawingml/2006/main">
            <a:off x="609600" y="2333625"/>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3C9FA"/>
                </a:solidFill>
                <a:latin typeface="Helvetica Neue"/>
                <a:ea typeface="Helvetica Neue"/>
                <a:cs typeface="Helvetica Neue"/>
              </a:defRPr>
            </a:defPPr>
            <a:lvl1pPr>
              <a:defRPr sz="2175" b="1">
                <a:solidFill>
                  <a:srgbClr val="83C9FA"/>
                </a:solidFill>
                <a:latin typeface="Helvetica Neue"/>
                <a:ea typeface="Helvetica Neue"/>
                <a:cs typeface="Helvetica Neue"/>
              </a:defRPr>
            </a:lvl1pPr>
            <a:lvl2pPr>
              <a:defRPr sz="2175" b="1">
                <a:solidFill>
                  <a:srgbClr val="83C9FA"/>
                </a:solidFill>
                <a:latin typeface="Helvetica Neue"/>
                <a:ea typeface="Helvetica Neue"/>
                <a:cs typeface="Helvetica Neue"/>
              </a:defRPr>
            </a:lvl2pPr>
            <a:lvl3pPr>
              <a:defRPr sz="2175" b="1">
                <a:solidFill>
                  <a:srgbClr val="83C9FA"/>
                </a:solidFill>
                <a:latin typeface="Helvetica Neue"/>
                <a:ea typeface="Helvetica Neue"/>
                <a:cs typeface="Helvetica Neue"/>
              </a:defRPr>
            </a:lvl3pPr>
            <a:lvl4pPr>
              <a:defRPr sz="2175" b="1">
                <a:solidFill>
                  <a:srgbClr val="83C9FA"/>
                </a:solidFill>
                <a:latin typeface="Helvetica Neue"/>
                <a:ea typeface="Helvetica Neue"/>
                <a:cs typeface="Helvetica Neue"/>
              </a:defRPr>
            </a:lvl4pPr>
            <a:lvl5pPr>
              <a:defRPr sz="2175" b="1">
                <a:solidFill>
                  <a:srgbClr val="83C9FA"/>
                </a:solidFill>
                <a:latin typeface="Helvetica Neue"/>
                <a:ea typeface="Helvetica Neue"/>
                <a:cs typeface="Helvetica Neue"/>
              </a:defRPr>
            </a:lvl5pPr>
            <a:lvl6pPr>
              <a:defRPr sz="2175" b="1">
                <a:solidFill>
                  <a:srgbClr val="83C9FA"/>
                </a:solidFill>
                <a:latin typeface="Helvetica Neue"/>
                <a:ea typeface="Helvetica Neue"/>
                <a:cs typeface="Helvetica Neue"/>
              </a:defRPr>
            </a:lvl6pPr>
            <a:lvl7pPr>
              <a:defRPr sz="2175" b="1">
                <a:solidFill>
                  <a:srgbClr val="83C9FA"/>
                </a:solidFill>
                <a:latin typeface="Helvetica Neue"/>
                <a:ea typeface="Helvetica Neue"/>
                <a:cs typeface="Helvetica Neue"/>
              </a:defRPr>
            </a:lvl7pPr>
            <a:lvl8pPr>
              <a:defRPr sz="2175" b="1">
                <a:solidFill>
                  <a:srgbClr val="83C9FA"/>
                </a:solidFill>
                <a:latin typeface="Helvetica Neue"/>
                <a:ea typeface="Helvetica Neue"/>
                <a:cs typeface="Helvetica Neue"/>
              </a:defRPr>
            </a:lvl8pPr>
            <a:lvl9pPr>
              <a:defRPr sz="2175" b="1">
                <a:solidFill>
                  <a:srgbClr val="83C9FA"/>
                </a:solidFill>
                <a:latin typeface="Helvetica Neue"/>
                <a:ea typeface="Helvetica Neue"/>
                <a:cs typeface="Helvetica Neue"/>
              </a:defRPr>
            </a:lvl9pPr>
          </a:lstStyle>
          <a:p xmlns:a="http://schemas.openxmlformats.org/drawingml/2006/main">
            <a:pPr>
              <a:defRPr sz="2175" b="1">
                <a:solidFill>
                  <a:srgbClr val="83C9FA"/>
                </a:solidFill>
                <a:latin typeface="Helvetica Neue"/>
                <a:ea typeface="Helvetica Neue"/>
                <a:cs typeface="Helvetica Neue"/>
              </a:defRPr>
            </a:pPr>
            <a:r>
              <a:rPr sz="2175" b="1">
                <a:solidFill>
                  <a:srgbClr val="83C9FA"/>
                </a:solidFill>
                <a:latin typeface="Helvetica Neue"/>
                <a:ea typeface="Helvetica Neue"/>
                <a:cs typeface="Helvetica Neue"/>
              </a:rPr>
              <a:t>Task reliability</a:t>
            </a:r>
          </a:p>
        </p:txBody>
      </p:sp>
      <p:sp>
        <p:nvSpPr>
          <p:cNvPr id="5" name="At least 90% of prompted actions succeed across pi">
            <a:extLst xmlns:a="http://schemas.openxmlformats.org/drawingml/2006/main">
              <a:ext uri="{FF2B5EF4-FFF2-40B4-BE49-F238E27FC236}">
                <a16:creationId xmlns:a16="http://schemas.microsoft.com/office/drawing/2014/main" id="{2DF90EE2-41EF-49C9-BC90-3C36157E7B0A}"/>
              </a:ext>
            </a:extLst>
          </p:cNvPr>
          <p:cNvSpPr>
            <a:spLocks xmlns:a="http://schemas.openxmlformats.org/drawingml/2006/main" noGrp="1"/>
          </p:cNvSpPr>
          <p:nvPr/>
        </p:nvSpPr>
        <p:spPr>
          <a:xfrm xmlns:a="http://schemas.openxmlformats.org/drawingml/2006/main">
            <a:off x="4476750" y="2343150"/>
            <a:ext cx="6981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5F6"/>
                </a:solidFill>
                <a:latin typeface="Helvetica Neue"/>
                <a:ea typeface="Helvetica Neue"/>
                <a:cs typeface="Helvetica Neue"/>
              </a:defRPr>
            </a:defPPr>
            <a:lvl1pPr>
              <a:defRPr sz="1950" b="0">
                <a:solidFill>
                  <a:srgbClr val="F3F5F6"/>
                </a:solidFill>
                <a:latin typeface="Helvetica Neue"/>
                <a:ea typeface="Helvetica Neue"/>
                <a:cs typeface="Helvetica Neue"/>
              </a:defRPr>
            </a:lvl1pPr>
            <a:lvl2pPr>
              <a:defRPr sz="1950" b="0">
                <a:solidFill>
                  <a:srgbClr val="F3F5F6"/>
                </a:solidFill>
                <a:latin typeface="Helvetica Neue"/>
                <a:ea typeface="Helvetica Neue"/>
                <a:cs typeface="Helvetica Neue"/>
              </a:defRPr>
            </a:lvl2pPr>
            <a:lvl3pPr>
              <a:defRPr sz="1950" b="0">
                <a:solidFill>
                  <a:srgbClr val="F3F5F6"/>
                </a:solidFill>
                <a:latin typeface="Helvetica Neue"/>
                <a:ea typeface="Helvetica Neue"/>
                <a:cs typeface="Helvetica Neue"/>
              </a:defRPr>
            </a:lvl3pPr>
            <a:lvl4pPr>
              <a:defRPr sz="1950" b="0">
                <a:solidFill>
                  <a:srgbClr val="F3F5F6"/>
                </a:solidFill>
                <a:latin typeface="Helvetica Neue"/>
                <a:ea typeface="Helvetica Neue"/>
                <a:cs typeface="Helvetica Neue"/>
              </a:defRPr>
            </a:lvl4pPr>
            <a:lvl5pPr>
              <a:defRPr sz="1950" b="0">
                <a:solidFill>
                  <a:srgbClr val="F3F5F6"/>
                </a:solidFill>
                <a:latin typeface="Helvetica Neue"/>
                <a:ea typeface="Helvetica Neue"/>
                <a:cs typeface="Helvetica Neue"/>
              </a:defRPr>
            </a:lvl5pPr>
            <a:lvl6pPr>
              <a:defRPr sz="1950" b="0">
                <a:solidFill>
                  <a:srgbClr val="F3F5F6"/>
                </a:solidFill>
                <a:latin typeface="Helvetica Neue"/>
                <a:ea typeface="Helvetica Neue"/>
                <a:cs typeface="Helvetica Neue"/>
              </a:defRPr>
            </a:lvl6pPr>
            <a:lvl7pPr>
              <a:defRPr sz="1950" b="0">
                <a:solidFill>
                  <a:srgbClr val="F3F5F6"/>
                </a:solidFill>
                <a:latin typeface="Helvetica Neue"/>
                <a:ea typeface="Helvetica Neue"/>
                <a:cs typeface="Helvetica Neue"/>
              </a:defRPr>
            </a:lvl7pPr>
            <a:lvl8pPr>
              <a:defRPr sz="1950" b="0">
                <a:solidFill>
                  <a:srgbClr val="F3F5F6"/>
                </a:solidFill>
                <a:latin typeface="Helvetica Neue"/>
                <a:ea typeface="Helvetica Neue"/>
                <a:cs typeface="Helvetica Neue"/>
              </a:defRPr>
            </a:lvl8pPr>
            <a:lvl9pPr>
              <a:defRPr sz="1950" b="0">
                <a:solidFill>
                  <a:srgbClr val="F3F5F6"/>
                </a:solidFill>
                <a:latin typeface="Helvetica Neue"/>
                <a:ea typeface="Helvetica Neue"/>
                <a:cs typeface="Helvetica Neue"/>
              </a:defRPr>
            </a:lvl9pPr>
          </a:lstStyle>
          <a:p xmlns:a="http://schemas.openxmlformats.org/drawingml/2006/main">
            <a:pPr>
              <a:defRPr sz="1950" b="0">
                <a:solidFill>
                  <a:srgbClr val="F3F5F6"/>
                </a:solidFill>
                <a:latin typeface="Helvetica Neue"/>
                <a:ea typeface="Helvetica Neue"/>
                <a:cs typeface="Helvetica Neue"/>
              </a:defRPr>
            </a:pPr>
            <a:r>
              <a:rPr sz="1950" b="0">
                <a:solidFill>
                  <a:srgbClr val="F3F5F6"/>
                </a:solidFill>
                <a:latin typeface="Helvetica Neue"/>
                <a:ea typeface="Helvetica Neue"/>
                <a:cs typeface="Helvetica Neue"/>
              </a:rPr>
              <a:t>At least 90% of prompted actions succeed across pilot tasks</a:t>
            </a:r>
          </a:p>
        </p:txBody>
      </p:sp>
      <p:sp>
        <p:nvSpPr>
          <p:cNvPr id="6" name="Accidental control">
            <a:extLst xmlns:a="http://schemas.openxmlformats.org/drawingml/2006/main">
              <a:ext uri="{FF2B5EF4-FFF2-40B4-BE49-F238E27FC236}">
                <a16:creationId xmlns:a16="http://schemas.microsoft.com/office/drawing/2014/main" id="{FDBBF0B9-4EA3-4E65-8C07-8DABCFCB7227}"/>
              </a:ext>
            </a:extLst>
          </p:cNvPr>
          <p:cNvSpPr>
            <a:spLocks xmlns:a="http://schemas.openxmlformats.org/drawingml/2006/main" noGrp="1"/>
          </p:cNvSpPr>
          <p:nvPr/>
        </p:nvSpPr>
        <p:spPr>
          <a:xfrm xmlns:a="http://schemas.openxmlformats.org/drawingml/2006/main">
            <a:off x="609600" y="3162300"/>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3C9FA"/>
                </a:solidFill>
                <a:latin typeface="Helvetica Neue"/>
                <a:ea typeface="Helvetica Neue"/>
                <a:cs typeface="Helvetica Neue"/>
              </a:defRPr>
            </a:defPPr>
            <a:lvl1pPr>
              <a:defRPr sz="2175" b="1">
                <a:solidFill>
                  <a:srgbClr val="83C9FA"/>
                </a:solidFill>
                <a:latin typeface="Helvetica Neue"/>
                <a:ea typeface="Helvetica Neue"/>
                <a:cs typeface="Helvetica Neue"/>
              </a:defRPr>
            </a:lvl1pPr>
            <a:lvl2pPr>
              <a:defRPr sz="2175" b="1">
                <a:solidFill>
                  <a:srgbClr val="83C9FA"/>
                </a:solidFill>
                <a:latin typeface="Helvetica Neue"/>
                <a:ea typeface="Helvetica Neue"/>
                <a:cs typeface="Helvetica Neue"/>
              </a:defRPr>
            </a:lvl2pPr>
            <a:lvl3pPr>
              <a:defRPr sz="2175" b="1">
                <a:solidFill>
                  <a:srgbClr val="83C9FA"/>
                </a:solidFill>
                <a:latin typeface="Helvetica Neue"/>
                <a:ea typeface="Helvetica Neue"/>
                <a:cs typeface="Helvetica Neue"/>
              </a:defRPr>
            </a:lvl3pPr>
            <a:lvl4pPr>
              <a:defRPr sz="2175" b="1">
                <a:solidFill>
                  <a:srgbClr val="83C9FA"/>
                </a:solidFill>
                <a:latin typeface="Helvetica Neue"/>
                <a:ea typeface="Helvetica Neue"/>
                <a:cs typeface="Helvetica Neue"/>
              </a:defRPr>
            </a:lvl4pPr>
            <a:lvl5pPr>
              <a:defRPr sz="2175" b="1">
                <a:solidFill>
                  <a:srgbClr val="83C9FA"/>
                </a:solidFill>
                <a:latin typeface="Helvetica Neue"/>
                <a:ea typeface="Helvetica Neue"/>
                <a:cs typeface="Helvetica Neue"/>
              </a:defRPr>
            </a:lvl5pPr>
            <a:lvl6pPr>
              <a:defRPr sz="2175" b="1">
                <a:solidFill>
                  <a:srgbClr val="83C9FA"/>
                </a:solidFill>
                <a:latin typeface="Helvetica Neue"/>
                <a:ea typeface="Helvetica Neue"/>
                <a:cs typeface="Helvetica Neue"/>
              </a:defRPr>
            </a:lvl6pPr>
            <a:lvl7pPr>
              <a:defRPr sz="2175" b="1">
                <a:solidFill>
                  <a:srgbClr val="83C9FA"/>
                </a:solidFill>
                <a:latin typeface="Helvetica Neue"/>
                <a:ea typeface="Helvetica Neue"/>
                <a:cs typeface="Helvetica Neue"/>
              </a:defRPr>
            </a:lvl7pPr>
            <a:lvl8pPr>
              <a:defRPr sz="2175" b="1">
                <a:solidFill>
                  <a:srgbClr val="83C9FA"/>
                </a:solidFill>
                <a:latin typeface="Helvetica Neue"/>
                <a:ea typeface="Helvetica Neue"/>
                <a:cs typeface="Helvetica Neue"/>
              </a:defRPr>
            </a:lvl8pPr>
            <a:lvl9pPr>
              <a:defRPr sz="2175" b="1">
                <a:solidFill>
                  <a:srgbClr val="83C9FA"/>
                </a:solidFill>
                <a:latin typeface="Helvetica Neue"/>
                <a:ea typeface="Helvetica Neue"/>
                <a:cs typeface="Helvetica Neue"/>
              </a:defRPr>
            </a:lvl9pPr>
          </a:lstStyle>
          <a:p xmlns:a="http://schemas.openxmlformats.org/drawingml/2006/main">
            <a:pPr>
              <a:defRPr sz="2175" b="1">
                <a:solidFill>
                  <a:srgbClr val="83C9FA"/>
                </a:solidFill>
                <a:latin typeface="Helvetica Neue"/>
                <a:ea typeface="Helvetica Neue"/>
                <a:cs typeface="Helvetica Neue"/>
              </a:defRPr>
            </a:pPr>
            <a:r>
              <a:rPr sz="2175" b="1">
                <a:solidFill>
                  <a:srgbClr val="83C9FA"/>
                </a:solidFill>
                <a:latin typeface="Helvetica Neue"/>
                <a:ea typeface="Helvetica Neue"/>
                <a:cs typeface="Helvetica Neue"/>
              </a:rPr>
              <a:t>Accidental control</a:t>
            </a:r>
          </a:p>
        </p:txBody>
      </p:sp>
      <p:sp>
        <p:nvSpPr>
          <p:cNvPr id="7" name="No more than one unintended command per user-hour">
            <a:extLst xmlns:a="http://schemas.openxmlformats.org/drawingml/2006/main">
              <a:ext uri="{FF2B5EF4-FFF2-40B4-BE49-F238E27FC236}">
                <a16:creationId xmlns:a16="http://schemas.microsoft.com/office/drawing/2014/main" id="{682B3990-1A14-4643-9762-7D026672BF88}"/>
              </a:ext>
            </a:extLst>
          </p:cNvPr>
          <p:cNvSpPr>
            <a:spLocks xmlns:a="http://schemas.openxmlformats.org/drawingml/2006/main" noGrp="1"/>
          </p:cNvSpPr>
          <p:nvPr/>
        </p:nvSpPr>
        <p:spPr>
          <a:xfrm xmlns:a="http://schemas.openxmlformats.org/drawingml/2006/main">
            <a:off x="4476750" y="3171825"/>
            <a:ext cx="6981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5F6"/>
                </a:solidFill>
                <a:latin typeface="Helvetica Neue"/>
                <a:ea typeface="Helvetica Neue"/>
                <a:cs typeface="Helvetica Neue"/>
              </a:defRPr>
            </a:defPPr>
            <a:lvl1pPr>
              <a:defRPr sz="1950" b="0">
                <a:solidFill>
                  <a:srgbClr val="F3F5F6"/>
                </a:solidFill>
                <a:latin typeface="Helvetica Neue"/>
                <a:ea typeface="Helvetica Neue"/>
                <a:cs typeface="Helvetica Neue"/>
              </a:defRPr>
            </a:lvl1pPr>
            <a:lvl2pPr>
              <a:defRPr sz="1950" b="0">
                <a:solidFill>
                  <a:srgbClr val="F3F5F6"/>
                </a:solidFill>
                <a:latin typeface="Helvetica Neue"/>
                <a:ea typeface="Helvetica Neue"/>
                <a:cs typeface="Helvetica Neue"/>
              </a:defRPr>
            </a:lvl2pPr>
            <a:lvl3pPr>
              <a:defRPr sz="1950" b="0">
                <a:solidFill>
                  <a:srgbClr val="F3F5F6"/>
                </a:solidFill>
                <a:latin typeface="Helvetica Neue"/>
                <a:ea typeface="Helvetica Neue"/>
                <a:cs typeface="Helvetica Neue"/>
              </a:defRPr>
            </a:lvl3pPr>
            <a:lvl4pPr>
              <a:defRPr sz="1950" b="0">
                <a:solidFill>
                  <a:srgbClr val="F3F5F6"/>
                </a:solidFill>
                <a:latin typeface="Helvetica Neue"/>
                <a:ea typeface="Helvetica Neue"/>
                <a:cs typeface="Helvetica Neue"/>
              </a:defRPr>
            </a:lvl4pPr>
            <a:lvl5pPr>
              <a:defRPr sz="1950" b="0">
                <a:solidFill>
                  <a:srgbClr val="F3F5F6"/>
                </a:solidFill>
                <a:latin typeface="Helvetica Neue"/>
                <a:ea typeface="Helvetica Neue"/>
                <a:cs typeface="Helvetica Neue"/>
              </a:defRPr>
            </a:lvl5pPr>
            <a:lvl6pPr>
              <a:defRPr sz="1950" b="0">
                <a:solidFill>
                  <a:srgbClr val="F3F5F6"/>
                </a:solidFill>
                <a:latin typeface="Helvetica Neue"/>
                <a:ea typeface="Helvetica Neue"/>
                <a:cs typeface="Helvetica Neue"/>
              </a:defRPr>
            </a:lvl6pPr>
            <a:lvl7pPr>
              <a:defRPr sz="1950" b="0">
                <a:solidFill>
                  <a:srgbClr val="F3F5F6"/>
                </a:solidFill>
                <a:latin typeface="Helvetica Neue"/>
                <a:ea typeface="Helvetica Neue"/>
                <a:cs typeface="Helvetica Neue"/>
              </a:defRPr>
            </a:lvl7pPr>
            <a:lvl8pPr>
              <a:defRPr sz="1950" b="0">
                <a:solidFill>
                  <a:srgbClr val="F3F5F6"/>
                </a:solidFill>
                <a:latin typeface="Helvetica Neue"/>
                <a:ea typeface="Helvetica Neue"/>
                <a:cs typeface="Helvetica Neue"/>
              </a:defRPr>
            </a:lvl8pPr>
            <a:lvl9pPr>
              <a:defRPr sz="1950" b="0">
                <a:solidFill>
                  <a:srgbClr val="F3F5F6"/>
                </a:solidFill>
                <a:latin typeface="Helvetica Neue"/>
                <a:ea typeface="Helvetica Neue"/>
                <a:cs typeface="Helvetica Neue"/>
              </a:defRPr>
            </a:lvl9pPr>
          </a:lstStyle>
          <a:p xmlns:a="http://schemas.openxmlformats.org/drawingml/2006/main">
            <a:pPr>
              <a:defRPr sz="1950" b="0">
                <a:solidFill>
                  <a:srgbClr val="F3F5F6"/>
                </a:solidFill>
                <a:latin typeface="Helvetica Neue"/>
                <a:ea typeface="Helvetica Neue"/>
                <a:cs typeface="Helvetica Neue"/>
              </a:defRPr>
            </a:pPr>
            <a:r>
              <a:rPr sz="1950" b="0">
                <a:solidFill>
                  <a:srgbClr val="F3F5F6"/>
                </a:solidFill>
                <a:latin typeface="Helvetica Neue"/>
                <a:ea typeface="Helvetica Neue"/>
                <a:cs typeface="Helvetica Neue"/>
              </a:rPr>
              <a:t>No more than one unintended command per user-hour</a:t>
            </a:r>
          </a:p>
        </p:txBody>
      </p:sp>
      <p:sp>
        <p:nvSpPr>
          <p:cNvPr id="8" name="Continued use">
            <a:extLst xmlns:a="http://schemas.openxmlformats.org/drawingml/2006/main">
              <a:ext uri="{FF2B5EF4-FFF2-40B4-BE49-F238E27FC236}">
                <a16:creationId xmlns:a16="http://schemas.microsoft.com/office/drawing/2014/main" id="{79ECDE3B-1FEE-4E4E-8E19-3F07F2C3478E}"/>
              </a:ext>
            </a:extLst>
          </p:cNvPr>
          <p:cNvSpPr>
            <a:spLocks xmlns:a="http://schemas.openxmlformats.org/drawingml/2006/main" noGrp="1"/>
          </p:cNvSpPr>
          <p:nvPr/>
        </p:nvSpPr>
        <p:spPr>
          <a:xfrm xmlns:a="http://schemas.openxmlformats.org/drawingml/2006/main">
            <a:off x="609600" y="3990975"/>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3C9FA"/>
                </a:solidFill>
                <a:latin typeface="Helvetica Neue"/>
                <a:ea typeface="Helvetica Neue"/>
                <a:cs typeface="Helvetica Neue"/>
              </a:defRPr>
            </a:defPPr>
            <a:lvl1pPr>
              <a:defRPr sz="2175" b="1">
                <a:solidFill>
                  <a:srgbClr val="83C9FA"/>
                </a:solidFill>
                <a:latin typeface="Helvetica Neue"/>
                <a:ea typeface="Helvetica Neue"/>
                <a:cs typeface="Helvetica Neue"/>
              </a:defRPr>
            </a:lvl1pPr>
            <a:lvl2pPr>
              <a:defRPr sz="2175" b="1">
                <a:solidFill>
                  <a:srgbClr val="83C9FA"/>
                </a:solidFill>
                <a:latin typeface="Helvetica Neue"/>
                <a:ea typeface="Helvetica Neue"/>
                <a:cs typeface="Helvetica Neue"/>
              </a:defRPr>
            </a:lvl2pPr>
            <a:lvl3pPr>
              <a:defRPr sz="2175" b="1">
                <a:solidFill>
                  <a:srgbClr val="83C9FA"/>
                </a:solidFill>
                <a:latin typeface="Helvetica Neue"/>
                <a:ea typeface="Helvetica Neue"/>
                <a:cs typeface="Helvetica Neue"/>
              </a:defRPr>
            </a:lvl3pPr>
            <a:lvl4pPr>
              <a:defRPr sz="2175" b="1">
                <a:solidFill>
                  <a:srgbClr val="83C9FA"/>
                </a:solidFill>
                <a:latin typeface="Helvetica Neue"/>
                <a:ea typeface="Helvetica Neue"/>
                <a:cs typeface="Helvetica Neue"/>
              </a:defRPr>
            </a:lvl4pPr>
            <a:lvl5pPr>
              <a:defRPr sz="2175" b="1">
                <a:solidFill>
                  <a:srgbClr val="83C9FA"/>
                </a:solidFill>
                <a:latin typeface="Helvetica Neue"/>
                <a:ea typeface="Helvetica Neue"/>
                <a:cs typeface="Helvetica Neue"/>
              </a:defRPr>
            </a:lvl5pPr>
            <a:lvl6pPr>
              <a:defRPr sz="2175" b="1">
                <a:solidFill>
                  <a:srgbClr val="83C9FA"/>
                </a:solidFill>
                <a:latin typeface="Helvetica Neue"/>
                <a:ea typeface="Helvetica Neue"/>
                <a:cs typeface="Helvetica Neue"/>
              </a:defRPr>
            </a:lvl6pPr>
            <a:lvl7pPr>
              <a:defRPr sz="2175" b="1">
                <a:solidFill>
                  <a:srgbClr val="83C9FA"/>
                </a:solidFill>
                <a:latin typeface="Helvetica Neue"/>
                <a:ea typeface="Helvetica Neue"/>
                <a:cs typeface="Helvetica Neue"/>
              </a:defRPr>
            </a:lvl7pPr>
            <a:lvl8pPr>
              <a:defRPr sz="2175" b="1">
                <a:solidFill>
                  <a:srgbClr val="83C9FA"/>
                </a:solidFill>
                <a:latin typeface="Helvetica Neue"/>
                <a:ea typeface="Helvetica Neue"/>
                <a:cs typeface="Helvetica Neue"/>
              </a:defRPr>
            </a:lvl8pPr>
            <a:lvl9pPr>
              <a:defRPr sz="2175" b="1">
                <a:solidFill>
                  <a:srgbClr val="83C9FA"/>
                </a:solidFill>
                <a:latin typeface="Helvetica Neue"/>
                <a:ea typeface="Helvetica Neue"/>
                <a:cs typeface="Helvetica Neue"/>
              </a:defRPr>
            </a:lvl9pPr>
          </a:lstStyle>
          <a:p xmlns:a="http://schemas.openxmlformats.org/drawingml/2006/main">
            <a:pPr>
              <a:defRPr sz="2175" b="1">
                <a:solidFill>
                  <a:srgbClr val="83C9FA"/>
                </a:solidFill>
                <a:latin typeface="Helvetica Neue"/>
                <a:ea typeface="Helvetica Neue"/>
                <a:cs typeface="Helvetica Neue"/>
              </a:defRPr>
            </a:pPr>
            <a:r>
              <a:rPr sz="2175" b="1">
                <a:solidFill>
                  <a:srgbClr val="83C9FA"/>
                </a:solidFill>
                <a:latin typeface="Helvetica Neue"/>
                <a:ea typeface="Helvetica Neue"/>
                <a:cs typeface="Helvetica Neue"/>
              </a:rPr>
              <a:t>Continued use</a:t>
            </a:r>
          </a:p>
        </p:txBody>
      </p:sp>
      <p:sp>
        <p:nvSpPr>
          <p:cNvPr id="9" name="At least 10 of 20 testers choose to use it after o">
            <a:extLst xmlns:a="http://schemas.openxmlformats.org/drawingml/2006/main">
              <a:ext uri="{FF2B5EF4-FFF2-40B4-BE49-F238E27FC236}">
                <a16:creationId xmlns:a16="http://schemas.microsoft.com/office/drawing/2014/main" id="{B6DBAFCA-858A-4EE1-AAD5-6AD61531E7EA}"/>
              </a:ext>
            </a:extLst>
          </p:cNvPr>
          <p:cNvSpPr>
            <a:spLocks xmlns:a="http://schemas.openxmlformats.org/drawingml/2006/main" noGrp="1"/>
          </p:cNvSpPr>
          <p:nvPr/>
        </p:nvSpPr>
        <p:spPr>
          <a:xfrm xmlns:a="http://schemas.openxmlformats.org/drawingml/2006/main">
            <a:off x="4476750" y="4000500"/>
            <a:ext cx="6981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5F6"/>
                </a:solidFill>
                <a:latin typeface="Helvetica Neue"/>
                <a:ea typeface="Helvetica Neue"/>
                <a:cs typeface="Helvetica Neue"/>
              </a:defRPr>
            </a:defPPr>
            <a:lvl1pPr>
              <a:defRPr sz="1950" b="0">
                <a:solidFill>
                  <a:srgbClr val="F3F5F6"/>
                </a:solidFill>
                <a:latin typeface="Helvetica Neue"/>
                <a:ea typeface="Helvetica Neue"/>
                <a:cs typeface="Helvetica Neue"/>
              </a:defRPr>
            </a:lvl1pPr>
            <a:lvl2pPr>
              <a:defRPr sz="1950" b="0">
                <a:solidFill>
                  <a:srgbClr val="F3F5F6"/>
                </a:solidFill>
                <a:latin typeface="Helvetica Neue"/>
                <a:ea typeface="Helvetica Neue"/>
                <a:cs typeface="Helvetica Neue"/>
              </a:defRPr>
            </a:lvl2pPr>
            <a:lvl3pPr>
              <a:defRPr sz="1950" b="0">
                <a:solidFill>
                  <a:srgbClr val="F3F5F6"/>
                </a:solidFill>
                <a:latin typeface="Helvetica Neue"/>
                <a:ea typeface="Helvetica Neue"/>
                <a:cs typeface="Helvetica Neue"/>
              </a:defRPr>
            </a:lvl3pPr>
            <a:lvl4pPr>
              <a:defRPr sz="1950" b="0">
                <a:solidFill>
                  <a:srgbClr val="F3F5F6"/>
                </a:solidFill>
                <a:latin typeface="Helvetica Neue"/>
                <a:ea typeface="Helvetica Neue"/>
                <a:cs typeface="Helvetica Neue"/>
              </a:defRPr>
            </a:lvl4pPr>
            <a:lvl5pPr>
              <a:defRPr sz="1950" b="0">
                <a:solidFill>
                  <a:srgbClr val="F3F5F6"/>
                </a:solidFill>
                <a:latin typeface="Helvetica Neue"/>
                <a:ea typeface="Helvetica Neue"/>
                <a:cs typeface="Helvetica Neue"/>
              </a:defRPr>
            </a:lvl5pPr>
            <a:lvl6pPr>
              <a:defRPr sz="1950" b="0">
                <a:solidFill>
                  <a:srgbClr val="F3F5F6"/>
                </a:solidFill>
                <a:latin typeface="Helvetica Neue"/>
                <a:ea typeface="Helvetica Neue"/>
                <a:cs typeface="Helvetica Neue"/>
              </a:defRPr>
            </a:lvl6pPr>
            <a:lvl7pPr>
              <a:defRPr sz="1950" b="0">
                <a:solidFill>
                  <a:srgbClr val="F3F5F6"/>
                </a:solidFill>
                <a:latin typeface="Helvetica Neue"/>
                <a:ea typeface="Helvetica Neue"/>
                <a:cs typeface="Helvetica Neue"/>
              </a:defRPr>
            </a:lvl7pPr>
            <a:lvl8pPr>
              <a:defRPr sz="1950" b="0">
                <a:solidFill>
                  <a:srgbClr val="F3F5F6"/>
                </a:solidFill>
                <a:latin typeface="Helvetica Neue"/>
                <a:ea typeface="Helvetica Neue"/>
                <a:cs typeface="Helvetica Neue"/>
              </a:defRPr>
            </a:lvl8pPr>
            <a:lvl9pPr>
              <a:defRPr sz="1950" b="0">
                <a:solidFill>
                  <a:srgbClr val="F3F5F6"/>
                </a:solidFill>
                <a:latin typeface="Helvetica Neue"/>
                <a:ea typeface="Helvetica Neue"/>
                <a:cs typeface="Helvetica Neue"/>
              </a:defRPr>
            </a:lvl9pPr>
          </a:lstStyle>
          <a:p xmlns:a="http://schemas.openxmlformats.org/drawingml/2006/main">
            <a:pPr>
              <a:defRPr sz="1950" b="0">
                <a:solidFill>
                  <a:srgbClr val="F3F5F6"/>
                </a:solidFill>
                <a:latin typeface="Helvetica Neue"/>
                <a:ea typeface="Helvetica Neue"/>
                <a:cs typeface="Helvetica Neue"/>
              </a:defRPr>
            </a:pPr>
            <a:r>
              <a:rPr sz="1950" b="0">
                <a:solidFill>
                  <a:srgbClr val="F3F5F6"/>
                </a:solidFill>
                <a:latin typeface="Helvetica Neue"/>
                <a:ea typeface="Helvetica Neue"/>
                <a:cs typeface="Helvetica Neue"/>
              </a:rPr>
              <a:t>At least 10 of 20 testers choose to use it after one week</a:t>
            </a:r>
          </a:p>
        </p:txBody>
      </p:sp>
      <p:sp>
        <p:nvSpPr>
          <p:cNvPr id="10" name="Payment signal">
            <a:extLst xmlns:a="http://schemas.openxmlformats.org/drawingml/2006/main">
              <a:ext uri="{FF2B5EF4-FFF2-40B4-BE49-F238E27FC236}">
                <a16:creationId xmlns:a16="http://schemas.microsoft.com/office/drawing/2014/main" id="{1A60D14F-7BB1-4680-BCB8-21B77AAACB36}"/>
              </a:ext>
            </a:extLst>
          </p:cNvPr>
          <p:cNvSpPr>
            <a:spLocks xmlns:a="http://schemas.openxmlformats.org/drawingml/2006/main" noGrp="1"/>
          </p:cNvSpPr>
          <p:nvPr/>
        </p:nvSpPr>
        <p:spPr>
          <a:xfrm xmlns:a="http://schemas.openxmlformats.org/drawingml/2006/main">
            <a:off x="609600" y="4819650"/>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3C9FA"/>
                </a:solidFill>
                <a:latin typeface="Helvetica Neue"/>
                <a:ea typeface="Helvetica Neue"/>
                <a:cs typeface="Helvetica Neue"/>
              </a:defRPr>
            </a:defPPr>
            <a:lvl1pPr>
              <a:defRPr sz="2175" b="1">
                <a:solidFill>
                  <a:srgbClr val="83C9FA"/>
                </a:solidFill>
                <a:latin typeface="Helvetica Neue"/>
                <a:ea typeface="Helvetica Neue"/>
                <a:cs typeface="Helvetica Neue"/>
              </a:defRPr>
            </a:lvl1pPr>
            <a:lvl2pPr>
              <a:defRPr sz="2175" b="1">
                <a:solidFill>
                  <a:srgbClr val="83C9FA"/>
                </a:solidFill>
                <a:latin typeface="Helvetica Neue"/>
                <a:ea typeface="Helvetica Neue"/>
                <a:cs typeface="Helvetica Neue"/>
              </a:defRPr>
            </a:lvl2pPr>
            <a:lvl3pPr>
              <a:defRPr sz="2175" b="1">
                <a:solidFill>
                  <a:srgbClr val="83C9FA"/>
                </a:solidFill>
                <a:latin typeface="Helvetica Neue"/>
                <a:ea typeface="Helvetica Neue"/>
                <a:cs typeface="Helvetica Neue"/>
              </a:defRPr>
            </a:lvl3pPr>
            <a:lvl4pPr>
              <a:defRPr sz="2175" b="1">
                <a:solidFill>
                  <a:srgbClr val="83C9FA"/>
                </a:solidFill>
                <a:latin typeface="Helvetica Neue"/>
                <a:ea typeface="Helvetica Neue"/>
                <a:cs typeface="Helvetica Neue"/>
              </a:defRPr>
            </a:lvl4pPr>
            <a:lvl5pPr>
              <a:defRPr sz="2175" b="1">
                <a:solidFill>
                  <a:srgbClr val="83C9FA"/>
                </a:solidFill>
                <a:latin typeface="Helvetica Neue"/>
                <a:ea typeface="Helvetica Neue"/>
                <a:cs typeface="Helvetica Neue"/>
              </a:defRPr>
            </a:lvl5pPr>
            <a:lvl6pPr>
              <a:defRPr sz="2175" b="1">
                <a:solidFill>
                  <a:srgbClr val="83C9FA"/>
                </a:solidFill>
                <a:latin typeface="Helvetica Neue"/>
                <a:ea typeface="Helvetica Neue"/>
                <a:cs typeface="Helvetica Neue"/>
              </a:defRPr>
            </a:lvl6pPr>
            <a:lvl7pPr>
              <a:defRPr sz="2175" b="1">
                <a:solidFill>
                  <a:srgbClr val="83C9FA"/>
                </a:solidFill>
                <a:latin typeface="Helvetica Neue"/>
                <a:ea typeface="Helvetica Neue"/>
                <a:cs typeface="Helvetica Neue"/>
              </a:defRPr>
            </a:lvl7pPr>
            <a:lvl8pPr>
              <a:defRPr sz="2175" b="1">
                <a:solidFill>
                  <a:srgbClr val="83C9FA"/>
                </a:solidFill>
                <a:latin typeface="Helvetica Neue"/>
                <a:ea typeface="Helvetica Neue"/>
                <a:cs typeface="Helvetica Neue"/>
              </a:defRPr>
            </a:lvl8pPr>
            <a:lvl9pPr>
              <a:defRPr sz="2175" b="1">
                <a:solidFill>
                  <a:srgbClr val="83C9FA"/>
                </a:solidFill>
                <a:latin typeface="Helvetica Neue"/>
                <a:ea typeface="Helvetica Neue"/>
                <a:cs typeface="Helvetica Neue"/>
              </a:defRPr>
            </a:lvl9pPr>
          </a:lstStyle>
          <a:p xmlns:a="http://schemas.openxmlformats.org/drawingml/2006/main">
            <a:pPr>
              <a:defRPr sz="2175" b="1">
                <a:solidFill>
                  <a:srgbClr val="83C9FA"/>
                </a:solidFill>
                <a:latin typeface="Helvetica Neue"/>
                <a:ea typeface="Helvetica Neue"/>
                <a:cs typeface="Helvetica Neue"/>
              </a:defRPr>
            </a:pPr>
            <a:r>
              <a:rPr sz="2175" b="1">
                <a:solidFill>
                  <a:srgbClr val="83C9FA"/>
                </a:solidFill>
                <a:latin typeface="Helvetica Neue"/>
                <a:ea typeface="Helvetica Neue"/>
                <a:cs typeface="Helvetica Neue"/>
              </a:rPr>
              <a:t>Payment signal</a:t>
            </a:r>
          </a:p>
        </p:txBody>
      </p:sp>
      <p:sp>
        <p:nvSpPr>
          <p:cNvPr id="11" name="At least 5 of 20 make a paid reservation after the">
            <a:extLst xmlns:a="http://schemas.openxmlformats.org/drawingml/2006/main">
              <a:ext uri="{FF2B5EF4-FFF2-40B4-BE49-F238E27FC236}">
                <a16:creationId xmlns:a16="http://schemas.microsoft.com/office/drawing/2014/main" id="{2A364D98-A5A8-41FF-AE0A-A686971798E0}"/>
              </a:ext>
            </a:extLst>
          </p:cNvPr>
          <p:cNvSpPr>
            <a:spLocks xmlns:a="http://schemas.openxmlformats.org/drawingml/2006/main" noGrp="1"/>
          </p:cNvSpPr>
          <p:nvPr/>
        </p:nvSpPr>
        <p:spPr>
          <a:xfrm xmlns:a="http://schemas.openxmlformats.org/drawingml/2006/main">
            <a:off x="4476750" y="4829175"/>
            <a:ext cx="6981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5F6"/>
                </a:solidFill>
                <a:latin typeface="Helvetica Neue"/>
                <a:ea typeface="Helvetica Neue"/>
                <a:cs typeface="Helvetica Neue"/>
              </a:defRPr>
            </a:defPPr>
            <a:lvl1pPr>
              <a:defRPr sz="1950" b="0">
                <a:solidFill>
                  <a:srgbClr val="F3F5F6"/>
                </a:solidFill>
                <a:latin typeface="Helvetica Neue"/>
                <a:ea typeface="Helvetica Neue"/>
                <a:cs typeface="Helvetica Neue"/>
              </a:defRPr>
            </a:lvl1pPr>
            <a:lvl2pPr>
              <a:defRPr sz="1950" b="0">
                <a:solidFill>
                  <a:srgbClr val="F3F5F6"/>
                </a:solidFill>
                <a:latin typeface="Helvetica Neue"/>
                <a:ea typeface="Helvetica Neue"/>
                <a:cs typeface="Helvetica Neue"/>
              </a:defRPr>
            </a:lvl2pPr>
            <a:lvl3pPr>
              <a:defRPr sz="1950" b="0">
                <a:solidFill>
                  <a:srgbClr val="F3F5F6"/>
                </a:solidFill>
                <a:latin typeface="Helvetica Neue"/>
                <a:ea typeface="Helvetica Neue"/>
                <a:cs typeface="Helvetica Neue"/>
              </a:defRPr>
            </a:lvl3pPr>
            <a:lvl4pPr>
              <a:defRPr sz="1950" b="0">
                <a:solidFill>
                  <a:srgbClr val="F3F5F6"/>
                </a:solidFill>
                <a:latin typeface="Helvetica Neue"/>
                <a:ea typeface="Helvetica Neue"/>
                <a:cs typeface="Helvetica Neue"/>
              </a:defRPr>
            </a:lvl4pPr>
            <a:lvl5pPr>
              <a:defRPr sz="1950" b="0">
                <a:solidFill>
                  <a:srgbClr val="F3F5F6"/>
                </a:solidFill>
                <a:latin typeface="Helvetica Neue"/>
                <a:ea typeface="Helvetica Neue"/>
                <a:cs typeface="Helvetica Neue"/>
              </a:defRPr>
            </a:lvl5pPr>
            <a:lvl6pPr>
              <a:defRPr sz="1950" b="0">
                <a:solidFill>
                  <a:srgbClr val="F3F5F6"/>
                </a:solidFill>
                <a:latin typeface="Helvetica Neue"/>
                <a:ea typeface="Helvetica Neue"/>
                <a:cs typeface="Helvetica Neue"/>
              </a:defRPr>
            </a:lvl6pPr>
            <a:lvl7pPr>
              <a:defRPr sz="1950" b="0">
                <a:solidFill>
                  <a:srgbClr val="F3F5F6"/>
                </a:solidFill>
                <a:latin typeface="Helvetica Neue"/>
                <a:ea typeface="Helvetica Neue"/>
                <a:cs typeface="Helvetica Neue"/>
              </a:defRPr>
            </a:lvl7pPr>
            <a:lvl8pPr>
              <a:defRPr sz="1950" b="0">
                <a:solidFill>
                  <a:srgbClr val="F3F5F6"/>
                </a:solidFill>
                <a:latin typeface="Helvetica Neue"/>
                <a:ea typeface="Helvetica Neue"/>
                <a:cs typeface="Helvetica Neue"/>
              </a:defRPr>
            </a:lvl8pPr>
            <a:lvl9pPr>
              <a:defRPr sz="1950" b="0">
                <a:solidFill>
                  <a:srgbClr val="F3F5F6"/>
                </a:solidFill>
                <a:latin typeface="Helvetica Neue"/>
                <a:ea typeface="Helvetica Neue"/>
                <a:cs typeface="Helvetica Neue"/>
              </a:defRPr>
            </a:lvl9pPr>
          </a:lstStyle>
          <a:p xmlns:a="http://schemas.openxmlformats.org/drawingml/2006/main">
            <a:pPr>
              <a:defRPr sz="1950" b="0">
                <a:solidFill>
                  <a:srgbClr val="F3F5F6"/>
                </a:solidFill>
                <a:latin typeface="Helvetica Neue"/>
                <a:ea typeface="Helvetica Neue"/>
                <a:cs typeface="Helvetica Neue"/>
              </a:defRPr>
            </a:pPr>
            <a:r>
              <a:rPr sz="1950" b="0">
                <a:solidFill>
                  <a:srgbClr val="F3F5F6"/>
                </a:solidFill>
                <a:latin typeface="Helvetica Neue"/>
                <a:ea typeface="Helvetica Neue"/>
                <a:cs typeface="Helvetica Neue"/>
              </a:rPr>
              <a:t>At least 5 of 20 make a paid reservation after the trial</a:t>
            </a:r>
          </a:p>
        </p:txBody>
      </p:sp>
      <p:sp>
        <p:nvSpPr>
          <p:cNvPr id="12" name="Proposed go / no-go thresholds. Compare with curre">
            <a:extLst xmlns:a="http://schemas.openxmlformats.org/drawingml/2006/main">
              <a:ext uri="{FF2B5EF4-FFF2-40B4-BE49-F238E27FC236}">
                <a16:creationId xmlns:a16="http://schemas.microsoft.com/office/drawing/2014/main" id="{BBA6D78D-A66F-4F41-98E0-AED548227015}"/>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CB7C7"/>
                </a:solidFill>
                <a:latin typeface="Helvetica Neue"/>
                <a:ea typeface="Helvetica Neue"/>
                <a:cs typeface="Helvetica Neue"/>
              </a:defRPr>
            </a:defPPr>
            <a:lvl1pPr>
              <a:defRPr sz="1125" b="0">
                <a:solidFill>
                  <a:srgbClr val="ACB7C7"/>
                </a:solidFill>
                <a:latin typeface="Helvetica Neue"/>
                <a:ea typeface="Helvetica Neue"/>
                <a:cs typeface="Helvetica Neue"/>
              </a:defRPr>
            </a:lvl1pPr>
            <a:lvl2pPr>
              <a:defRPr sz="1125" b="0">
                <a:solidFill>
                  <a:srgbClr val="ACB7C7"/>
                </a:solidFill>
                <a:latin typeface="Helvetica Neue"/>
                <a:ea typeface="Helvetica Neue"/>
                <a:cs typeface="Helvetica Neue"/>
              </a:defRPr>
            </a:lvl2pPr>
            <a:lvl3pPr>
              <a:defRPr sz="1125" b="0">
                <a:solidFill>
                  <a:srgbClr val="ACB7C7"/>
                </a:solidFill>
                <a:latin typeface="Helvetica Neue"/>
                <a:ea typeface="Helvetica Neue"/>
                <a:cs typeface="Helvetica Neue"/>
              </a:defRPr>
            </a:lvl3pPr>
            <a:lvl4pPr>
              <a:defRPr sz="1125" b="0">
                <a:solidFill>
                  <a:srgbClr val="ACB7C7"/>
                </a:solidFill>
                <a:latin typeface="Helvetica Neue"/>
                <a:ea typeface="Helvetica Neue"/>
                <a:cs typeface="Helvetica Neue"/>
              </a:defRPr>
            </a:lvl4pPr>
            <a:lvl5pPr>
              <a:defRPr sz="1125" b="0">
                <a:solidFill>
                  <a:srgbClr val="ACB7C7"/>
                </a:solidFill>
                <a:latin typeface="Helvetica Neue"/>
                <a:ea typeface="Helvetica Neue"/>
                <a:cs typeface="Helvetica Neue"/>
              </a:defRPr>
            </a:lvl5pPr>
            <a:lvl6pPr>
              <a:defRPr sz="1125" b="0">
                <a:solidFill>
                  <a:srgbClr val="ACB7C7"/>
                </a:solidFill>
                <a:latin typeface="Helvetica Neue"/>
                <a:ea typeface="Helvetica Neue"/>
                <a:cs typeface="Helvetica Neue"/>
              </a:defRPr>
            </a:lvl6pPr>
            <a:lvl7pPr>
              <a:defRPr sz="1125" b="0">
                <a:solidFill>
                  <a:srgbClr val="ACB7C7"/>
                </a:solidFill>
                <a:latin typeface="Helvetica Neue"/>
                <a:ea typeface="Helvetica Neue"/>
                <a:cs typeface="Helvetica Neue"/>
              </a:defRPr>
            </a:lvl7pPr>
            <a:lvl8pPr>
              <a:defRPr sz="1125" b="0">
                <a:solidFill>
                  <a:srgbClr val="ACB7C7"/>
                </a:solidFill>
                <a:latin typeface="Helvetica Neue"/>
                <a:ea typeface="Helvetica Neue"/>
                <a:cs typeface="Helvetica Neue"/>
              </a:defRPr>
            </a:lvl8pPr>
            <a:lvl9pPr>
              <a:defRPr sz="1125" b="0">
                <a:solidFill>
                  <a:srgbClr val="ACB7C7"/>
                </a:solidFill>
                <a:latin typeface="Helvetica Neue"/>
                <a:ea typeface="Helvetica Neue"/>
                <a:cs typeface="Helvetica Neue"/>
              </a:defRPr>
            </a:lvl9pPr>
          </a:lstStyle>
          <a:p xmlns:a="http://schemas.openxmlformats.org/drawingml/2006/main">
            <a:pPr>
              <a:defRPr sz="1125" b="0">
                <a:solidFill>
                  <a:srgbClr val="ACB7C7"/>
                </a:solidFill>
                <a:latin typeface="Helvetica Neue"/>
                <a:ea typeface="Helvetica Neue"/>
                <a:cs typeface="Helvetica Neue"/>
              </a:defRPr>
            </a:pPr>
            <a:r>
              <a:rPr sz="1125" b="0">
                <a:solidFill>
                  <a:srgbClr val="ACB7C7"/>
                </a:solidFill>
                <a:latin typeface="Helvetica Neue"/>
                <a:ea typeface="Helvetica Neue"/>
                <a:cs typeface="Helvetica Neue"/>
              </a:rPr>
              <a:t>Proposed go / no-go thresholds. Compare with current controls and measure camera comfort, fatigue and setup friction.</a:t>
            </a:r>
          </a:p>
        </p:txBody>
      </p:sp>
    </p:spTree>
    <p:extLst>
      <p:ext uri="{BB962C8B-B14F-4D97-AF65-F5344CB8AC3E}">
        <p14:creationId xmlns:p14="http://schemas.microsoft.com/office/powerpoint/2010/main" val="145618854"/>
      </p:ext>
    </p:extLst>
  </p:cSld>
</p:sld>
</file>

<file path=ppt/slides/slide13.xml><?xml version="1.0" encoding="utf-8"?>
<p:sld xmlns:p="http://schemas.openxmlformats.org/presentationml/2006/main">
  <p:cSld>
    <p:bg>
      <p:bgPr>
        <a:solidFill xmlns:a="http://schemas.openxmlformats.org/drawingml/2006/main">
          <a:srgbClr val="EBEDE9"/>
        </a:solidFill>
      </p:bgPr>
    </p:bg>
    <p:spTree>
      <p:nvGrpSpPr>
        <p:cNvPr id="1" name=""/>
        <p:cNvGrpSpPr/>
        <p:nvPr/>
      </p:nvGrpSpPr>
      <p:grpSpPr>
        <a:xfrm xmlns:a="http://schemas.openxmlformats.org/drawingml/2006/main"/>
      </p:grpSpPr>
      <p:sp>
        <p:nvSpPr>
          <p:cNvPr id="20" name="SPELLCAST / APPENDIX">
            <a:extLst xmlns:a="http://schemas.openxmlformats.org/drawingml/2006/main">
              <a:ext uri="{FF2B5EF4-FFF2-40B4-BE49-F238E27FC236}">
                <a16:creationId xmlns:a16="http://schemas.microsoft.com/office/drawing/2014/main" id="{CC283524-1888-4B3F-AD87-11CEEC6E2A9F}"/>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36073"/>
                </a:solidFill>
                <a:latin typeface="Helvetica Neue"/>
                <a:ea typeface="Helvetica Neue"/>
                <a:cs typeface="Helvetica Neue"/>
              </a:defRPr>
            </a:defPPr>
            <a:lvl1pPr>
              <a:defRPr sz="1125" b="1">
                <a:solidFill>
                  <a:srgbClr val="536073"/>
                </a:solidFill>
                <a:latin typeface="Helvetica Neue"/>
                <a:ea typeface="Helvetica Neue"/>
                <a:cs typeface="Helvetica Neue"/>
              </a:defRPr>
            </a:lvl1pPr>
            <a:lvl2pPr>
              <a:defRPr sz="1125" b="1">
                <a:solidFill>
                  <a:srgbClr val="536073"/>
                </a:solidFill>
                <a:latin typeface="Helvetica Neue"/>
                <a:ea typeface="Helvetica Neue"/>
                <a:cs typeface="Helvetica Neue"/>
              </a:defRPr>
            </a:lvl2pPr>
            <a:lvl3pPr>
              <a:defRPr sz="1125" b="1">
                <a:solidFill>
                  <a:srgbClr val="536073"/>
                </a:solidFill>
                <a:latin typeface="Helvetica Neue"/>
                <a:ea typeface="Helvetica Neue"/>
                <a:cs typeface="Helvetica Neue"/>
              </a:defRPr>
            </a:lvl3pPr>
            <a:lvl4pPr>
              <a:defRPr sz="1125" b="1">
                <a:solidFill>
                  <a:srgbClr val="536073"/>
                </a:solidFill>
                <a:latin typeface="Helvetica Neue"/>
                <a:ea typeface="Helvetica Neue"/>
                <a:cs typeface="Helvetica Neue"/>
              </a:defRPr>
            </a:lvl4pPr>
            <a:lvl5pPr>
              <a:defRPr sz="1125" b="1">
                <a:solidFill>
                  <a:srgbClr val="536073"/>
                </a:solidFill>
                <a:latin typeface="Helvetica Neue"/>
                <a:ea typeface="Helvetica Neue"/>
                <a:cs typeface="Helvetica Neue"/>
              </a:defRPr>
            </a:lvl5pPr>
            <a:lvl6pPr>
              <a:defRPr sz="1125" b="1">
                <a:solidFill>
                  <a:srgbClr val="536073"/>
                </a:solidFill>
                <a:latin typeface="Helvetica Neue"/>
                <a:ea typeface="Helvetica Neue"/>
                <a:cs typeface="Helvetica Neue"/>
              </a:defRPr>
            </a:lvl6pPr>
            <a:lvl7pPr>
              <a:defRPr sz="1125" b="1">
                <a:solidFill>
                  <a:srgbClr val="536073"/>
                </a:solidFill>
                <a:latin typeface="Helvetica Neue"/>
                <a:ea typeface="Helvetica Neue"/>
                <a:cs typeface="Helvetica Neue"/>
              </a:defRPr>
            </a:lvl7pPr>
            <a:lvl8pPr>
              <a:defRPr sz="1125" b="1">
                <a:solidFill>
                  <a:srgbClr val="536073"/>
                </a:solidFill>
                <a:latin typeface="Helvetica Neue"/>
                <a:ea typeface="Helvetica Neue"/>
                <a:cs typeface="Helvetica Neue"/>
              </a:defRPr>
            </a:lvl8pPr>
            <a:lvl9pPr>
              <a:defRPr sz="1125" b="1">
                <a:solidFill>
                  <a:srgbClr val="536073"/>
                </a:solidFill>
                <a:latin typeface="Helvetica Neue"/>
                <a:ea typeface="Helvetica Neue"/>
                <a:cs typeface="Helvetica Neue"/>
              </a:defRPr>
            </a:lvl9pPr>
          </a:lstStyle>
          <a:p xmlns:a="http://schemas.openxmlformats.org/drawingml/2006/main">
            <a:pPr>
              <a:defRPr sz="1125" b="1">
                <a:solidFill>
                  <a:srgbClr val="536073"/>
                </a:solidFill>
                <a:latin typeface="Helvetica Neue"/>
                <a:ea typeface="Helvetica Neue"/>
                <a:cs typeface="Helvetica Neue"/>
              </a:defRPr>
            </a:pPr>
            <a:r>
              <a:rPr sz="1125" b="1">
                <a:solidFill>
                  <a:srgbClr val="536073"/>
                </a:solidFill>
                <a:latin typeface="Helvetica Neue"/>
                <a:ea typeface="Helvetica Neue"/>
                <a:cs typeface="Helvetica Neue"/>
              </a:rPr>
              <a:t>SPELLCAST / APPENDIX</a:t>
            </a:r>
          </a:p>
        </p:txBody>
      </p:sp>
      <p:sp>
        <p:nvSpPr>
          <p:cNvPr id="2" name="13">
            <a:extLst xmlns:a="http://schemas.openxmlformats.org/drawingml/2006/main">
              <a:ext uri="{FF2B5EF4-FFF2-40B4-BE49-F238E27FC236}">
                <a16:creationId xmlns:a16="http://schemas.microsoft.com/office/drawing/2014/main" id="{669646F4-FC27-4100-BCFD-62E65AD48F50}"/>
              </a:ext>
            </a:extLst>
          </p:cNvPr>
          <p:cNvSpPr>
            <a:spLocks xmlns:a="http://schemas.openxmlformats.org/drawingml/2006/main" noGrp="1"/>
          </p:cNvSpPr>
          <p:nvPr/>
        </p:nvSpPr>
        <p:spPr>
          <a:xfrm xmlns:a="http://schemas.openxmlformats.org/drawingml/2006/main">
            <a:off x="1116330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13</a:t>
            </a:r>
          </a:p>
        </p:txBody>
      </p:sp>
      <p:sp>
        <p:nvSpPr>
          <p:cNvPr id="3" name="Research sources">
            <a:extLst xmlns:a="http://schemas.openxmlformats.org/drawingml/2006/main">
              <a:ext uri="{FF2B5EF4-FFF2-40B4-BE49-F238E27FC236}">
                <a16:creationId xmlns:a16="http://schemas.microsoft.com/office/drawing/2014/main" id="{6D31883A-C17E-4696-B4BD-E8947020D294}"/>
              </a:ext>
            </a:extLst>
          </p:cNvPr>
          <p:cNvSpPr>
            <a:spLocks xmlns:a="http://schemas.openxmlformats.org/drawingml/2006/main" noGrp="1"/>
          </p:cNvSpPr>
          <p:nvPr/>
        </p:nvSpPr>
        <p:spPr>
          <a:xfrm xmlns:a="http://schemas.openxmlformats.org/drawingml/2006/main">
            <a:off x="609600" y="9525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52133"/>
                </a:solidFill>
                <a:latin typeface="Helvetica Neue"/>
                <a:ea typeface="Helvetica Neue"/>
                <a:cs typeface="Helvetica Neue"/>
              </a:defRPr>
            </a:defPPr>
            <a:lvl1pPr>
              <a:defRPr sz="3675" b="1">
                <a:solidFill>
                  <a:srgbClr val="152133"/>
                </a:solidFill>
                <a:latin typeface="Helvetica Neue"/>
                <a:ea typeface="Helvetica Neue"/>
                <a:cs typeface="Helvetica Neue"/>
              </a:defRPr>
            </a:lvl1pPr>
            <a:lvl2pPr>
              <a:defRPr sz="3675" b="1">
                <a:solidFill>
                  <a:srgbClr val="152133"/>
                </a:solidFill>
                <a:latin typeface="Helvetica Neue"/>
                <a:ea typeface="Helvetica Neue"/>
                <a:cs typeface="Helvetica Neue"/>
              </a:defRPr>
            </a:lvl2pPr>
            <a:lvl3pPr>
              <a:defRPr sz="3675" b="1">
                <a:solidFill>
                  <a:srgbClr val="152133"/>
                </a:solidFill>
                <a:latin typeface="Helvetica Neue"/>
                <a:ea typeface="Helvetica Neue"/>
                <a:cs typeface="Helvetica Neue"/>
              </a:defRPr>
            </a:lvl3pPr>
            <a:lvl4pPr>
              <a:defRPr sz="3675" b="1">
                <a:solidFill>
                  <a:srgbClr val="152133"/>
                </a:solidFill>
                <a:latin typeface="Helvetica Neue"/>
                <a:ea typeface="Helvetica Neue"/>
                <a:cs typeface="Helvetica Neue"/>
              </a:defRPr>
            </a:lvl4pPr>
            <a:lvl5pPr>
              <a:defRPr sz="3675" b="1">
                <a:solidFill>
                  <a:srgbClr val="152133"/>
                </a:solidFill>
                <a:latin typeface="Helvetica Neue"/>
                <a:ea typeface="Helvetica Neue"/>
                <a:cs typeface="Helvetica Neue"/>
              </a:defRPr>
            </a:lvl5pPr>
            <a:lvl6pPr>
              <a:defRPr sz="3675" b="1">
                <a:solidFill>
                  <a:srgbClr val="152133"/>
                </a:solidFill>
                <a:latin typeface="Helvetica Neue"/>
                <a:ea typeface="Helvetica Neue"/>
                <a:cs typeface="Helvetica Neue"/>
              </a:defRPr>
            </a:lvl6pPr>
            <a:lvl7pPr>
              <a:defRPr sz="3675" b="1">
                <a:solidFill>
                  <a:srgbClr val="152133"/>
                </a:solidFill>
                <a:latin typeface="Helvetica Neue"/>
                <a:ea typeface="Helvetica Neue"/>
                <a:cs typeface="Helvetica Neue"/>
              </a:defRPr>
            </a:lvl7pPr>
            <a:lvl8pPr>
              <a:defRPr sz="3675" b="1">
                <a:solidFill>
                  <a:srgbClr val="152133"/>
                </a:solidFill>
                <a:latin typeface="Helvetica Neue"/>
                <a:ea typeface="Helvetica Neue"/>
                <a:cs typeface="Helvetica Neue"/>
              </a:defRPr>
            </a:lvl8pPr>
            <a:lvl9pPr>
              <a:defRPr sz="3675" b="1">
                <a:solidFill>
                  <a:srgbClr val="152133"/>
                </a:solidFill>
                <a:latin typeface="Helvetica Neue"/>
                <a:ea typeface="Helvetica Neue"/>
                <a:cs typeface="Helvetica Neue"/>
              </a:defRPr>
            </a:lvl9pPr>
          </a:lstStyle>
          <a:p xmlns:a="http://schemas.openxmlformats.org/drawingml/2006/main">
            <a:pPr>
              <a:defRPr sz="3675" b="1">
                <a:solidFill>
                  <a:srgbClr val="152133"/>
                </a:solidFill>
                <a:latin typeface="Helvetica Neue"/>
                <a:ea typeface="Helvetica Neue"/>
                <a:cs typeface="Helvetica Neue"/>
              </a:defRPr>
            </a:pPr>
            <a:r>
              <a:rPr sz="3675" b="1">
                <a:solidFill>
                  <a:srgbClr val="152133"/>
                </a:solidFill>
                <a:latin typeface="Helvetica Neue"/>
                <a:ea typeface="Helvetica Neue"/>
                <a:cs typeface="Helvetica Neue"/>
              </a:rPr>
              <a:t>Research sources</a:t>
            </a:r>
          </a:p>
        </p:txBody>
      </p:sp>
      <p:sp>
        <p:nvSpPr>
          <p:cNvPr id="4" name="01">
            <a:extLst xmlns:a="http://schemas.openxmlformats.org/drawingml/2006/main">
              <a:ext uri="{FF2B5EF4-FFF2-40B4-BE49-F238E27FC236}">
                <a16:creationId xmlns:a16="http://schemas.microsoft.com/office/drawing/2014/main" id="{06D4E179-EAE7-4658-89AC-53E30D63AE4F}"/>
              </a:ext>
            </a:extLst>
          </p:cNvPr>
          <p:cNvSpPr>
            <a:spLocks xmlns:a="http://schemas.openxmlformats.org/drawingml/2006/main" noGrp="1"/>
          </p:cNvSpPr>
          <p:nvPr/>
        </p:nvSpPr>
        <p:spPr>
          <a:xfrm xmlns:a="http://schemas.openxmlformats.org/drawingml/2006/main">
            <a:off x="609600" y="21717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01</a:t>
            </a:r>
          </a:p>
        </p:txBody>
      </p:sp>
      <p:sp>
        <p:nvSpPr>
          <p:cNvPr id="5" name="Ofcom / Media Nations 2025">
            <a:extLst xmlns:a="http://schemas.openxmlformats.org/drawingml/2006/main">
              <a:ext uri="{FF2B5EF4-FFF2-40B4-BE49-F238E27FC236}">
                <a16:creationId xmlns:a16="http://schemas.microsoft.com/office/drawing/2014/main" id="{BBA80C29-FCC0-4994-9A8D-424C9EACE38A}"/>
              </a:ext>
            </a:extLst>
          </p:cNvPr>
          <p:cNvSpPr>
            <a:spLocks xmlns:a="http://schemas.openxmlformats.org/drawingml/2006/main" noGrp="1"/>
          </p:cNvSpPr>
          <p:nvPr/>
        </p:nvSpPr>
        <p:spPr>
          <a:xfrm xmlns:a="http://schemas.openxmlformats.org/drawingml/2006/main">
            <a:off x="1524000" y="21717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133"/>
                </a:solidFill>
                <a:latin typeface="Helvetica Neue"/>
                <a:ea typeface="Helvetica Neue"/>
                <a:cs typeface="Helvetica Neue"/>
              </a:defRPr>
            </a:defPPr>
            <a:lvl1pPr>
              <a:defRPr sz="2025" b="1">
                <a:solidFill>
                  <a:srgbClr val="152133"/>
                </a:solidFill>
                <a:latin typeface="Helvetica Neue"/>
                <a:ea typeface="Helvetica Neue"/>
                <a:cs typeface="Helvetica Neue"/>
              </a:defRPr>
            </a:lvl1pPr>
            <a:lvl2pPr>
              <a:defRPr sz="2025" b="1">
                <a:solidFill>
                  <a:srgbClr val="152133"/>
                </a:solidFill>
                <a:latin typeface="Helvetica Neue"/>
                <a:ea typeface="Helvetica Neue"/>
                <a:cs typeface="Helvetica Neue"/>
              </a:defRPr>
            </a:lvl2pPr>
            <a:lvl3pPr>
              <a:defRPr sz="2025" b="1">
                <a:solidFill>
                  <a:srgbClr val="152133"/>
                </a:solidFill>
                <a:latin typeface="Helvetica Neue"/>
                <a:ea typeface="Helvetica Neue"/>
                <a:cs typeface="Helvetica Neue"/>
              </a:defRPr>
            </a:lvl3pPr>
            <a:lvl4pPr>
              <a:defRPr sz="2025" b="1">
                <a:solidFill>
                  <a:srgbClr val="152133"/>
                </a:solidFill>
                <a:latin typeface="Helvetica Neue"/>
                <a:ea typeface="Helvetica Neue"/>
                <a:cs typeface="Helvetica Neue"/>
              </a:defRPr>
            </a:lvl4pPr>
            <a:lvl5pPr>
              <a:defRPr sz="2025" b="1">
                <a:solidFill>
                  <a:srgbClr val="152133"/>
                </a:solidFill>
                <a:latin typeface="Helvetica Neue"/>
                <a:ea typeface="Helvetica Neue"/>
                <a:cs typeface="Helvetica Neue"/>
              </a:defRPr>
            </a:lvl5pPr>
            <a:lvl6pPr>
              <a:defRPr sz="2025" b="1">
                <a:solidFill>
                  <a:srgbClr val="152133"/>
                </a:solidFill>
                <a:latin typeface="Helvetica Neue"/>
                <a:ea typeface="Helvetica Neue"/>
                <a:cs typeface="Helvetica Neue"/>
              </a:defRPr>
            </a:lvl6pPr>
            <a:lvl7pPr>
              <a:defRPr sz="2025" b="1">
                <a:solidFill>
                  <a:srgbClr val="152133"/>
                </a:solidFill>
                <a:latin typeface="Helvetica Neue"/>
                <a:ea typeface="Helvetica Neue"/>
                <a:cs typeface="Helvetica Neue"/>
              </a:defRPr>
            </a:lvl7pPr>
            <a:lvl8pPr>
              <a:defRPr sz="2025" b="1">
                <a:solidFill>
                  <a:srgbClr val="152133"/>
                </a:solidFill>
                <a:latin typeface="Helvetica Neue"/>
                <a:ea typeface="Helvetica Neue"/>
                <a:cs typeface="Helvetica Neue"/>
              </a:defRPr>
            </a:lvl8pPr>
            <a:lvl9pPr>
              <a:defRPr sz="2025" b="1">
                <a:solidFill>
                  <a:srgbClr val="152133"/>
                </a:solidFill>
                <a:latin typeface="Helvetica Neue"/>
                <a:ea typeface="Helvetica Neue"/>
                <a:cs typeface="Helvetica Neue"/>
              </a:defRPr>
            </a:lvl9pPr>
          </a:lstStyle>
          <a:p xmlns:a="http://schemas.openxmlformats.org/drawingml/2006/main">
            <a:pPr>
              <a:defRPr sz="2025" b="1">
                <a:solidFill>
                  <a:srgbClr val="152133"/>
                </a:solidFill>
                <a:latin typeface="Helvetica Neue"/>
                <a:ea typeface="Helvetica Neue"/>
                <a:cs typeface="Helvetica Neue"/>
              </a:defRPr>
            </a:pPr>
            <a:r>
              <a:rPr sz="2025" b="1">
                <a:solidFill>
                  <a:srgbClr val="152133"/>
                </a:solidFill>
                <a:latin typeface="Helvetica Neue"/>
                <a:ea typeface="Helvetica Neue"/>
                <a:cs typeface="Helvetica Neue"/>
                <a:hlinkClick xmlns:r="http://schemas.openxmlformats.org/officeDocument/2006/relationships" r:id="R2c483ad6ef404b87"/>
              </a:rPr>
              <a:t>Ofcom / Media Nations 2025</a:t>
            </a:r>
          </a:p>
        </p:txBody>
      </p:sp>
      <p:sp>
        <p:nvSpPr>
          <p:cNvPr id="6" name="40% UK household smart-speaker ownership. Printed ">
            <a:extLst xmlns:a="http://schemas.openxmlformats.org/drawingml/2006/main">
              <a:ext uri="{FF2B5EF4-FFF2-40B4-BE49-F238E27FC236}">
                <a16:creationId xmlns:a16="http://schemas.microsoft.com/office/drawing/2014/main" id="{BB7A5643-881F-475C-9291-4EB629ED7716}"/>
              </a:ext>
            </a:extLst>
          </p:cNvPr>
          <p:cNvSpPr>
            <a:spLocks xmlns:a="http://schemas.openxmlformats.org/drawingml/2006/main" noGrp="1"/>
          </p:cNvSpPr>
          <p:nvPr/>
        </p:nvSpPr>
        <p:spPr>
          <a:xfrm xmlns:a="http://schemas.openxmlformats.org/drawingml/2006/main">
            <a:off x="1524000" y="25336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073"/>
                </a:solidFill>
                <a:latin typeface="Helvetica Neue"/>
                <a:ea typeface="Helvetica Neue"/>
                <a:cs typeface="Helvetica Neue"/>
              </a:defRPr>
            </a:defPPr>
            <a:lvl1pPr>
              <a:defRPr sz="1575" b="0">
                <a:solidFill>
                  <a:srgbClr val="536073"/>
                </a:solidFill>
                <a:latin typeface="Helvetica Neue"/>
                <a:ea typeface="Helvetica Neue"/>
                <a:cs typeface="Helvetica Neue"/>
              </a:defRPr>
            </a:lvl1pPr>
            <a:lvl2pPr>
              <a:defRPr sz="1575" b="0">
                <a:solidFill>
                  <a:srgbClr val="536073"/>
                </a:solidFill>
                <a:latin typeface="Helvetica Neue"/>
                <a:ea typeface="Helvetica Neue"/>
                <a:cs typeface="Helvetica Neue"/>
              </a:defRPr>
            </a:lvl2pPr>
            <a:lvl3pPr>
              <a:defRPr sz="1575" b="0">
                <a:solidFill>
                  <a:srgbClr val="536073"/>
                </a:solidFill>
                <a:latin typeface="Helvetica Neue"/>
                <a:ea typeface="Helvetica Neue"/>
                <a:cs typeface="Helvetica Neue"/>
              </a:defRPr>
            </a:lvl3pPr>
            <a:lvl4pPr>
              <a:defRPr sz="1575" b="0">
                <a:solidFill>
                  <a:srgbClr val="536073"/>
                </a:solidFill>
                <a:latin typeface="Helvetica Neue"/>
                <a:ea typeface="Helvetica Neue"/>
                <a:cs typeface="Helvetica Neue"/>
              </a:defRPr>
            </a:lvl4pPr>
            <a:lvl5pPr>
              <a:defRPr sz="1575" b="0">
                <a:solidFill>
                  <a:srgbClr val="536073"/>
                </a:solidFill>
                <a:latin typeface="Helvetica Neue"/>
                <a:ea typeface="Helvetica Neue"/>
                <a:cs typeface="Helvetica Neue"/>
              </a:defRPr>
            </a:lvl5pPr>
            <a:lvl6pPr>
              <a:defRPr sz="1575" b="0">
                <a:solidFill>
                  <a:srgbClr val="536073"/>
                </a:solidFill>
                <a:latin typeface="Helvetica Neue"/>
                <a:ea typeface="Helvetica Neue"/>
                <a:cs typeface="Helvetica Neue"/>
              </a:defRPr>
            </a:lvl6pPr>
            <a:lvl7pPr>
              <a:defRPr sz="1575" b="0">
                <a:solidFill>
                  <a:srgbClr val="536073"/>
                </a:solidFill>
                <a:latin typeface="Helvetica Neue"/>
                <a:ea typeface="Helvetica Neue"/>
                <a:cs typeface="Helvetica Neue"/>
              </a:defRPr>
            </a:lvl7pPr>
            <a:lvl8pPr>
              <a:defRPr sz="1575" b="0">
                <a:solidFill>
                  <a:srgbClr val="536073"/>
                </a:solidFill>
                <a:latin typeface="Helvetica Neue"/>
                <a:ea typeface="Helvetica Neue"/>
                <a:cs typeface="Helvetica Neue"/>
              </a:defRPr>
            </a:lvl8pPr>
            <a:lvl9pPr>
              <a:defRPr sz="1575" b="0">
                <a:solidFill>
                  <a:srgbClr val="536073"/>
                </a:solidFill>
                <a:latin typeface="Helvetica Neue"/>
                <a:ea typeface="Helvetica Neue"/>
                <a:cs typeface="Helvetica Neue"/>
              </a:defRPr>
            </a:lvl9pPr>
          </a:lstStyle>
          <a:p xmlns:a="http://schemas.openxmlformats.org/drawingml/2006/main">
            <a:pPr>
              <a:defRPr sz="1575" b="0">
                <a:solidFill>
                  <a:srgbClr val="536073"/>
                </a:solidFill>
                <a:latin typeface="Helvetica Neue"/>
                <a:ea typeface="Helvetica Neue"/>
                <a:cs typeface="Helvetica Neue"/>
              </a:defRPr>
            </a:pPr>
            <a:r>
              <a:rPr sz="1575" b="0">
                <a:solidFill>
                  <a:srgbClr val="536073"/>
                </a:solidFill>
                <a:latin typeface="Helvetica Neue"/>
                <a:ea typeface="Helvetica Neue"/>
                <a:cs typeface="Helvetica Neue"/>
              </a:rPr>
              <a:t>40% UK household smart-speaker ownership. Printed page 92.</a:t>
            </a:r>
          </a:p>
        </p:txBody>
      </p:sp>
      <p:sp>
        <p:nvSpPr>
          <p:cNvPr id="7" name="02">
            <a:extLst xmlns:a="http://schemas.openxmlformats.org/drawingml/2006/main">
              <a:ext uri="{FF2B5EF4-FFF2-40B4-BE49-F238E27FC236}">
                <a16:creationId xmlns:a16="http://schemas.microsoft.com/office/drawing/2014/main" id="{68C720F1-B753-4065-AB0D-856B001E5CD4}"/>
              </a:ext>
            </a:extLst>
          </p:cNvPr>
          <p:cNvSpPr>
            <a:spLocks xmlns:a="http://schemas.openxmlformats.org/drawingml/2006/main" noGrp="1"/>
          </p:cNvSpPr>
          <p:nvPr/>
        </p:nvSpPr>
        <p:spPr>
          <a:xfrm xmlns:a="http://schemas.openxmlformats.org/drawingml/2006/main">
            <a:off x="609600" y="29146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02</a:t>
            </a:r>
          </a:p>
        </p:txBody>
      </p:sp>
      <p:sp>
        <p:nvSpPr>
          <p:cNvPr id="8" name="Ofcom / UK listening habits 2025">
            <a:extLst xmlns:a="http://schemas.openxmlformats.org/drawingml/2006/main">
              <a:ext uri="{FF2B5EF4-FFF2-40B4-BE49-F238E27FC236}">
                <a16:creationId xmlns:a16="http://schemas.microsoft.com/office/drawing/2014/main" id="{ABFF0D3F-6080-4476-949F-D80FE74C9584}"/>
              </a:ext>
            </a:extLst>
          </p:cNvPr>
          <p:cNvSpPr>
            <a:spLocks xmlns:a="http://schemas.openxmlformats.org/drawingml/2006/main" noGrp="1"/>
          </p:cNvSpPr>
          <p:nvPr/>
        </p:nvSpPr>
        <p:spPr>
          <a:xfrm xmlns:a="http://schemas.openxmlformats.org/drawingml/2006/main">
            <a:off x="1524000" y="29146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133"/>
                </a:solidFill>
                <a:latin typeface="Helvetica Neue"/>
                <a:ea typeface="Helvetica Neue"/>
                <a:cs typeface="Helvetica Neue"/>
              </a:defRPr>
            </a:defPPr>
            <a:lvl1pPr>
              <a:defRPr sz="2025" b="1">
                <a:solidFill>
                  <a:srgbClr val="152133"/>
                </a:solidFill>
                <a:latin typeface="Helvetica Neue"/>
                <a:ea typeface="Helvetica Neue"/>
                <a:cs typeface="Helvetica Neue"/>
              </a:defRPr>
            </a:lvl1pPr>
            <a:lvl2pPr>
              <a:defRPr sz="2025" b="1">
                <a:solidFill>
                  <a:srgbClr val="152133"/>
                </a:solidFill>
                <a:latin typeface="Helvetica Neue"/>
                <a:ea typeface="Helvetica Neue"/>
                <a:cs typeface="Helvetica Neue"/>
              </a:defRPr>
            </a:lvl2pPr>
            <a:lvl3pPr>
              <a:defRPr sz="2025" b="1">
                <a:solidFill>
                  <a:srgbClr val="152133"/>
                </a:solidFill>
                <a:latin typeface="Helvetica Neue"/>
                <a:ea typeface="Helvetica Neue"/>
                <a:cs typeface="Helvetica Neue"/>
              </a:defRPr>
            </a:lvl3pPr>
            <a:lvl4pPr>
              <a:defRPr sz="2025" b="1">
                <a:solidFill>
                  <a:srgbClr val="152133"/>
                </a:solidFill>
                <a:latin typeface="Helvetica Neue"/>
                <a:ea typeface="Helvetica Neue"/>
                <a:cs typeface="Helvetica Neue"/>
              </a:defRPr>
            </a:lvl4pPr>
            <a:lvl5pPr>
              <a:defRPr sz="2025" b="1">
                <a:solidFill>
                  <a:srgbClr val="152133"/>
                </a:solidFill>
                <a:latin typeface="Helvetica Neue"/>
                <a:ea typeface="Helvetica Neue"/>
                <a:cs typeface="Helvetica Neue"/>
              </a:defRPr>
            </a:lvl5pPr>
            <a:lvl6pPr>
              <a:defRPr sz="2025" b="1">
                <a:solidFill>
                  <a:srgbClr val="152133"/>
                </a:solidFill>
                <a:latin typeface="Helvetica Neue"/>
                <a:ea typeface="Helvetica Neue"/>
                <a:cs typeface="Helvetica Neue"/>
              </a:defRPr>
            </a:lvl6pPr>
            <a:lvl7pPr>
              <a:defRPr sz="2025" b="1">
                <a:solidFill>
                  <a:srgbClr val="152133"/>
                </a:solidFill>
                <a:latin typeface="Helvetica Neue"/>
                <a:ea typeface="Helvetica Neue"/>
                <a:cs typeface="Helvetica Neue"/>
              </a:defRPr>
            </a:lvl7pPr>
            <a:lvl8pPr>
              <a:defRPr sz="2025" b="1">
                <a:solidFill>
                  <a:srgbClr val="152133"/>
                </a:solidFill>
                <a:latin typeface="Helvetica Neue"/>
                <a:ea typeface="Helvetica Neue"/>
                <a:cs typeface="Helvetica Neue"/>
              </a:defRPr>
            </a:lvl8pPr>
            <a:lvl9pPr>
              <a:defRPr sz="2025" b="1">
                <a:solidFill>
                  <a:srgbClr val="152133"/>
                </a:solidFill>
                <a:latin typeface="Helvetica Neue"/>
                <a:ea typeface="Helvetica Neue"/>
                <a:cs typeface="Helvetica Neue"/>
              </a:defRPr>
            </a:lvl9pPr>
          </a:lstStyle>
          <a:p xmlns:a="http://schemas.openxmlformats.org/drawingml/2006/main">
            <a:pPr>
              <a:defRPr sz="2025" b="1">
                <a:solidFill>
                  <a:srgbClr val="152133"/>
                </a:solidFill>
                <a:latin typeface="Helvetica Neue"/>
                <a:ea typeface="Helvetica Neue"/>
                <a:cs typeface="Helvetica Neue"/>
              </a:defRPr>
            </a:pPr>
            <a:r>
              <a:rPr sz="2025" b="1">
                <a:solidFill>
                  <a:srgbClr val="152133"/>
                </a:solidFill>
                <a:latin typeface="Helvetica Neue"/>
                <a:ea typeface="Helvetica Neue"/>
                <a:cs typeface="Helvetica Neue"/>
                <a:hlinkClick xmlns:r="http://schemas.openxmlformats.org/officeDocument/2006/relationships" r:id="Rbc9dfb8edf6843ce"/>
              </a:rPr>
              <a:t>Ofcom / UK listening habits 2025</a:t>
            </a:r>
          </a:p>
        </p:txBody>
      </p:sp>
      <p:sp>
        <p:nvSpPr>
          <p:cNvPr id="9" name="Three in five users report incorrect radio-station">
            <a:extLst xmlns:a="http://schemas.openxmlformats.org/drawingml/2006/main">
              <a:ext uri="{FF2B5EF4-FFF2-40B4-BE49-F238E27FC236}">
                <a16:creationId xmlns:a16="http://schemas.microsoft.com/office/drawing/2014/main" id="{F6B53F56-BAC1-41C4-A562-2F2AB7FAEFF8}"/>
              </a:ext>
            </a:extLst>
          </p:cNvPr>
          <p:cNvSpPr>
            <a:spLocks xmlns:a="http://schemas.openxmlformats.org/drawingml/2006/main" noGrp="1"/>
          </p:cNvSpPr>
          <p:nvPr/>
        </p:nvSpPr>
        <p:spPr>
          <a:xfrm xmlns:a="http://schemas.openxmlformats.org/drawingml/2006/main">
            <a:off x="1524000" y="327660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073"/>
                </a:solidFill>
                <a:latin typeface="Helvetica Neue"/>
                <a:ea typeface="Helvetica Neue"/>
                <a:cs typeface="Helvetica Neue"/>
              </a:defRPr>
            </a:defPPr>
            <a:lvl1pPr>
              <a:defRPr sz="1575" b="0">
                <a:solidFill>
                  <a:srgbClr val="536073"/>
                </a:solidFill>
                <a:latin typeface="Helvetica Neue"/>
                <a:ea typeface="Helvetica Neue"/>
                <a:cs typeface="Helvetica Neue"/>
              </a:defRPr>
            </a:lvl1pPr>
            <a:lvl2pPr>
              <a:defRPr sz="1575" b="0">
                <a:solidFill>
                  <a:srgbClr val="536073"/>
                </a:solidFill>
                <a:latin typeface="Helvetica Neue"/>
                <a:ea typeface="Helvetica Neue"/>
                <a:cs typeface="Helvetica Neue"/>
              </a:defRPr>
            </a:lvl2pPr>
            <a:lvl3pPr>
              <a:defRPr sz="1575" b="0">
                <a:solidFill>
                  <a:srgbClr val="536073"/>
                </a:solidFill>
                <a:latin typeface="Helvetica Neue"/>
                <a:ea typeface="Helvetica Neue"/>
                <a:cs typeface="Helvetica Neue"/>
              </a:defRPr>
            </a:lvl3pPr>
            <a:lvl4pPr>
              <a:defRPr sz="1575" b="0">
                <a:solidFill>
                  <a:srgbClr val="536073"/>
                </a:solidFill>
                <a:latin typeface="Helvetica Neue"/>
                <a:ea typeface="Helvetica Neue"/>
                <a:cs typeface="Helvetica Neue"/>
              </a:defRPr>
            </a:lvl4pPr>
            <a:lvl5pPr>
              <a:defRPr sz="1575" b="0">
                <a:solidFill>
                  <a:srgbClr val="536073"/>
                </a:solidFill>
                <a:latin typeface="Helvetica Neue"/>
                <a:ea typeface="Helvetica Neue"/>
                <a:cs typeface="Helvetica Neue"/>
              </a:defRPr>
            </a:lvl5pPr>
            <a:lvl6pPr>
              <a:defRPr sz="1575" b="0">
                <a:solidFill>
                  <a:srgbClr val="536073"/>
                </a:solidFill>
                <a:latin typeface="Helvetica Neue"/>
                <a:ea typeface="Helvetica Neue"/>
                <a:cs typeface="Helvetica Neue"/>
              </a:defRPr>
            </a:lvl6pPr>
            <a:lvl7pPr>
              <a:defRPr sz="1575" b="0">
                <a:solidFill>
                  <a:srgbClr val="536073"/>
                </a:solidFill>
                <a:latin typeface="Helvetica Neue"/>
                <a:ea typeface="Helvetica Neue"/>
                <a:cs typeface="Helvetica Neue"/>
              </a:defRPr>
            </a:lvl7pPr>
            <a:lvl8pPr>
              <a:defRPr sz="1575" b="0">
                <a:solidFill>
                  <a:srgbClr val="536073"/>
                </a:solidFill>
                <a:latin typeface="Helvetica Neue"/>
                <a:ea typeface="Helvetica Neue"/>
                <a:cs typeface="Helvetica Neue"/>
              </a:defRPr>
            </a:lvl8pPr>
            <a:lvl9pPr>
              <a:defRPr sz="1575" b="0">
                <a:solidFill>
                  <a:srgbClr val="536073"/>
                </a:solidFill>
                <a:latin typeface="Helvetica Neue"/>
                <a:ea typeface="Helvetica Neue"/>
                <a:cs typeface="Helvetica Neue"/>
              </a:defRPr>
            </a:lvl9pPr>
          </a:lstStyle>
          <a:p xmlns:a="http://schemas.openxmlformats.org/drawingml/2006/main">
            <a:pPr>
              <a:defRPr sz="1575" b="0">
                <a:solidFill>
                  <a:srgbClr val="536073"/>
                </a:solidFill>
                <a:latin typeface="Helvetica Neue"/>
                <a:ea typeface="Helvetica Neue"/>
                <a:cs typeface="Helvetica Neue"/>
              </a:defRPr>
            </a:pPr>
            <a:r>
              <a:rPr sz="1575" b="0">
                <a:solidFill>
                  <a:srgbClr val="536073"/>
                </a:solidFill>
                <a:latin typeface="Helvetica Neue"/>
                <a:ea typeface="Helvetica Neue"/>
                <a:cs typeface="Helvetica Neue"/>
              </a:rPr>
              <a:t>Three in five users report incorrect radio-station playback.</a:t>
            </a:r>
          </a:p>
        </p:txBody>
      </p:sp>
      <p:sp>
        <p:nvSpPr>
          <p:cNvPr id="10" name="03">
            <a:extLst xmlns:a="http://schemas.openxmlformats.org/drawingml/2006/main">
              <a:ext uri="{FF2B5EF4-FFF2-40B4-BE49-F238E27FC236}">
                <a16:creationId xmlns:a16="http://schemas.microsoft.com/office/drawing/2014/main" id="{AD93F3A9-5551-421B-A629-0E910B529533}"/>
              </a:ext>
            </a:extLst>
          </p:cNvPr>
          <p:cNvSpPr>
            <a:spLocks xmlns:a="http://schemas.openxmlformats.org/drawingml/2006/main" noGrp="1"/>
          </p:cNvSpPr>
          <p:nvPr/>
        </p:nvSpPr>
        <p:spPr>
          <a:xfrm xmlns:a="http://schemas.openxmlformats.org/drawingml/2006/main">
            <a:off x="609600" y="3657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03</a:t>
            </a:r>
          </a:p>
        </p:txBody>
      </p:sp>
      <p:sp>
        <p:nvSpPr>
          <p:cNvPr id="11" name="ONS / Families and households, 2025">
            <a:extLst xmlns:a="http://schemas.openxmlformats.org/drawingml/2006/main">
              <a:ext uri="{FF2B5EF4-FFF2-40B4-BE49-F238E27FC236}">
                <a16:creationId xmlns:a16="http://schemas.microsoft.com/office/drawing/2014/main" id="{31EFC436-FE53-4AC5-BDD9-A30B6934F1FE}"/>
              </a:ext>
            </a:extLst>
          </p:cNvPr>
          <p:cNvSpPr>
            <a:spLocks xmlns:a="http://schemas.openxmlformats.org/drawingml/2006/main" noGrp="1"/>
          </p:cNvSpPr>
          <p:nvPr/>
        </p:nvSpPr>
        <p:spPr>
          <a:xfrm xmlns:a="http://schemas.openxmlformats.org/drawingml/2006/main">
            <a:off x="1524000" y="36576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133"/>
                </a:solidFill>
                <a:latin typeface="Helvetica Neue"/>
                <a:ea typeface="Helvetica Neue"/>
                <a:cs typeface="Helvetica Neue"/>
              </a:defRPr>
            </a:defPPr>
            <a:lvl1pPr>
              <a:defRPr sz="2025" b="1">
                <a:solidFill>
                  <a:srgbClr val="152133"/>
                </a:solidFill>
                <a:latin typeface="Helvetica Neue"/>
                <a:ea typeface="Helvetica Neue"/>
                <a:cs typeface="Helvetica Neue"/>
              </a:defRPr>
            </a:lvl1pPr>
            <a:lvl2pPr>
              <a:defRPr sz="2025" b="1">
                <a:solidFill>
                  <a:srgbClr val="152133"/>
                </a:solidFill>
                <a:latin typeface="Helvetica Neue"/>
                <a:ea typeface="Helvetica Neue"/>
                <a:cs typeface="Helvetica Neue"/>
              </a:defRPr>
            </a:lvl2pPr>
            <a:lvl3pPr>
              <a:defRPr sz="2025" b="1">
                <a:solidFill>
                  <a:srgbClr val="152133"/>
                </a:solidFill>
                <a:latin typeface="Helvetica Neue"/>
                <a:ea typeface="Helvetica Neue"/>
                <a:cs typeface="Helvetica Neue"/>
              </a:defRPr>
            </a:lvl3pPr>
            <a:lvl4pPr>
              <a:defRPr sz="2025" b="1">
                <a:solidFill>
                  <a:srgbClr val="152133"/>
                </a:solidFill>
                <a:latin typeface="Helvetica Neue"/>
                <a:ea typeface="Helvetica Neue"/>
                <a:cs typeface="Helvetica Neue"/>
              </a:defRPr>
            </a:lvl4pPr>
            <a:lvl5pPr>
              <a:defRPr sz="2025" b="1">
                <a:solidFill>
                  <a:srgbClr val="152133"/>
                </a:solidFill>
                <a:latin typeface="Helvetica Neue"/>
                <a:ea typeface="Helvetica Neue"/>
                <a:cs typeface="Helvetica Neue"/>
              </a:defRPr>
            </a:lvl5pPr>
            <a:lvl6pPr>
              <a:defRPr sz="2025" b="1">
                <a:solidFill>
                  <a:srgbClr val="152133"/>
                </a:solidFill>
                <a:latin typeface="Helvetica Neue"/>
                <a:ea typeface="Helvetica Neue"/>
                <a:cs typeface="Helvetica Neue"/>
              </a:defRPr>
            </a:lvl6pPr>
            <a:lvl7pPr>
              <a:defRPr sz="2025" b="1">
                <a:solidFill>
                  <a:srgbClr val="152133"/>
                </a:solidFill>
                <a:latin typeface="Helvetica Neue"/>
                <a:ea typeface="Helvetica Neue"/>
                <a:cs typeface="Helvetica Neue"/>
              </a:defRPr>
            </a:lvl7pPr>
            <a:lvl8pPr>
              <a:defRPr sz="2025" b="1">
                <a:solidFill>
                  <a:srgbClr val="152133"/>
                </a:solidFill>
                <a:latin typeface="Helvetica Neue"/>
                <a:ea typeface="Helvetica Neue"/>
                <a:cs typeface="Helvetica Neue"/>
              </a:defRPr>
            </a:lvl8pPr>
            <a:lvl9pPr>
              <a:defRPr sz="2025" b="1">
                <a:solidFill>
                  <a:srgbClr val="152133"/>
                </a:solidFill>
                <a:latin typeface="Helvetica Neue"/>
                <a:ea typeface="Helvetica Neue"/>
                <a:cs typeface="Helvetica Neue"/>
              </a:defRPr>
            </a:lvl9pPr>
          </a:lstStyle>
          <a:p xmlns:a="http://schemas.openxmlformats.org/drawingml/2006/main">
            <a:pPr>
              <a:defRPr sz="2025" b="1">
                <a:solidFill>
                  <a:srgbClr val="152133"/>
                </a:solidFill>
                <a:latin typeface="Helvetica Neue"/>
                <a:ea typeface="Helvetica Neue"/>
                <a:cs typeface="Helvetica Neue"/>
              </a:defRPr>
            </a:pPr>
            <a:r>
              <a:rPr sz="2025" b="1">
                <a:solidFill>
                  <a:srgbClr val="152133"/>
                </a:solidFill>
                <a:latin typeface="Helvetica Neue"/>
                <a:ea typeface="Helvetica Neue"/>
                <a:cs typeface="Helvetica Neue"/>
                <a:hlinkClick xmlns:r="http://schemas.openxmlformats.org/officeDocument/2006/relationships" r:id="R54a277cff11a491f"/>
              </a:rPr>
              <a:t>ONS / Families and households, 2025</a:t>
            </a:r>
          </a:p>
        </p:txBody>
      </p:sp>
      <p:sp>
        <p:nvSpPr>
          <p:cNvPr id="12" name="29.0 million UK households. Released 17 April 2026">
            <a:extLst xmlns:a="http://schemas.openxmlformats.org/drawingml/2006/main">
              <a:ext uri="{FF2B5EF4-FFF2-40B4-BE49-F238E27FC236}">
                <a16:creationId xmlns:a16="http://schemas.microsoft.com/office/drawing/2014/main" id="{5EB3A1FA-664B-4B06-A255-406A9B48EDD7}"/>
              </a:ext>
            </a:extLst>
          </p:cNvPr>
          <p:cNvSpPr>
            <a:spLocks xmlns:a="http://schemas.openxmlformats.org/drawingml/2006/main" noGrp="1"/>
          </p:cNvSpPr>
          <p:nvPr/>
        </p:nvSpPr>
        <p:spPr>
          <a:xfrm xmlns:a="http://schemas.openxmlformats.org/drawingml/2006/main">
            <a:off x="1524000" y="40195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073"/>
                </a:solidFill>
                <a:latin typeface="Helvetica Neue"/>
                <a:ea typeface="Helvetica Neue"/>
                <a:cs typeface="Helvetica Neue"/>
              </a:defRPr>
            </a:defPPr>
            <a:lvl1pPr>
              <a:defRPr sz="1575" b="0">
                <a:solidFill>
                  <a:srgbClr val="536073"/>
                </a:solidFill>
                <a:latin typeface="Helvetica Neue"/>
                <a:ea typeface="Helvetica Neue"/>
                <a:cs typeface="Helvetica Neue"/>
              </a:defRPr>
            </a:lvl1pPr>
            <a:lvl2pPr>
              <a:defRPr sz="1575" b="0">
                <a:solidFill>
                  <a:srgbClr val="536073"/>
                </a:solidFill>
                <a:latin typeface="Helvetica Neue"/>
                <a:ea typeface="Helvetica Neue"/>
                <a:cs typeface="Helvetica Neue"/>
              </a:defRPr>
            </a:lvl2pPr>
            <a:lvl3pPr>
              <a:defRPr sz="1575" b="0">
                <a:solidFill>
                  <a:srgbClr val="536073"/>
                </a:solidFill>
                <a:latin typeface="Helvetica Neue"/>
                <a:ea typeface="Helvetica Neue"/>
                <a:cs typeface="Helvetica Neue"/>
              </a:defRPr>
            </a:lvl3pPr>
            <a:lvl4pPr>
              <a:defRPr sz="1575" b="0">
                <a:solidFill>
                  <a:srgbClr val="536073"/>
                </a:solidFill>
                <a:latin typeface="Helvetica Neue"/>
                <a:ea typeface="Helvetica Neue"/>
                <a:cs typeface="Helvetica Neue"/>
              </a:defRPr>
            </a:lvl4pPr>
            <a:lvl5pPr>
              <a:defRPr sz="1575" b="0">
                <a:solidFill>
                  <a:srgbClr val="536073"/>
                </a:solidFill>
                <a:latin typeface="Helvetica Neue"/>
                <a:ea typeface="Helvetica Neue"/>
                <a:cs typeface="Helvetica Neue"/>
              </a:defRPr>
            </a:lvl5pPr>
            <a:lvl6pPr>
              <a:defRPr sz="1575" b="0">
                <a:solidFill>
                  <a:srgbClr val="536073"/>
                </a:solidFill>
                <a:latin typeface="Helvetica Neue"/>
                <a:ea typeface="Helvetica Neue"/>
                <a:cs typeface="Helvetica Neue"/>
              </a:defRPr>
            </a:lvl6pPr>
            <a:lvl7pPr>
              <a:defRPr sz="1575" b="0">
                <a:solidFill>
                  <a:srgbClr val="536073"/>
                </a:solidFill>
                <a:latin typeface="Helvetica Neue"/>
                <a:ea typeface="Helvetica Neue"/>
                <a:cs typeface="Helvetica Neue"/>
              </a:defRPr>
            </a:lvl7pPr>
            <a:lvl8pPr>
              <a:defRPr sz="1575" b="0">
                <a:solidFill>
                  <a:srgbClr val="536073"/>
                </a:solidFill>
                <a:latin typeface="Helvetica Neue"/>
                <a:ea typeface="Helvetica Neue"/>
                <a:cs typeface="Helvetica Neue"/>
              </a:defRPr>
            </a:lvl8pPr>
            <a:lvl9pPr>
              <a:defRPr sz="1575" b="0">
                <a:solidFill>
                  <a:srgbClr val="536073"/>
                </a:solidFill>
                <a:latin typeface="Helvetica Neue"/>
                <a:ea typeface="Helvetica Neue"/>
                <a:cs typeface="Helvetica Neue"/>
              </a:defRPr>
            </a:lvl9pPr>
          </a:lstStyle>
          <a:p xmlns:a="http://schemas.openxmlformats.org/drawingml/2006/main">
            <a:pPr>
              <a:defRPr sz="1575" b="0">
                <a:solidFill>
                  <a:srgbClr val="536073"/>
                </a:solidFill>
                <a:latin typeface="Helvetica Neue"/>
                <a:ea typeface="Helvetica Neue"/>
                <a:cs typeface="Helvetica Neue"/>
              </a:defRPr>
            </a:pPr>
            <a:r>
              <a:rPr sz="1575" b="0">
                <a:solidFill>
                  <a:srgbClr val="536073"/>
                </a:solidFill>
                <a:latin typeface="Helvetica Neue"/>
                <a:ea typeface="Helvetica Neue"/>
                <a:cs typeface="Helvetica Neue"/>
              </a:rPr>
              <a:t>29.0 million UK households. Released 17 April 2026.</a:t>
            </a:r>
          </a:p>
        </p:txBody>
      </p:sp>
      <p:sp>
        <p:nvSpPr>
          <p:cNvPr id="13" name="04">
            <a:extLst xmlns:a="http://schemas.openxmlformats.org/drawingml/2006/main">
              <a:ext uri="{FF2B5EF4-FFF2-40B4-BE49-F238E27FC236}">
                <a16:creationId xmlns:a16="http://schemas.microsoft.com/office/drawing/2014/main" id="{1A435B89-92FF-415D-A488-B5AC9912F65F}"/>
              </a:ext>
            </a:extLst>
          </p:cNvPr>
          <p:cNvSpPr>
            <a:spLocks xmlns:a="http://schemas.openxmlformats.org/drawingml/2006/main" noGrp="1"/>
          </p:cNvSpPr>
          <p:nvPr/>
        </p:nvSpPr>
        <p:spPr>
          <a:xfrm xmlns:a="http://schemas.openxmlformats.org/drawingml/2006/main">
            <a:off x="609600" y="44005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04</a:t>
            </a:r>
          </a:p>
        </p:txBody>
      </p:sp>
      <p:sp>
        <p:nvSpPr>
          <p:cNvPr id="14" name="Philips Hue and Flic">
            <a:extLst xmlns:a="http://schemas.openxmlformats.org/drawingml/2006/main">
              <a:ext uri="{FF2B5EF4-FFF2-40B4-BE49-F238E27FC236}">
                <a16:creationId xmlns:a16="http://schemas.microsoft.com/office/drawing/2014/main" id="{CDC44ACF-081D-48B1-B381-F88F5FF754E5}"/>
              </a:ext>
            </a:extLst>
          </p:cNvPr>
          <p:cNvSpPr>
            <a:spLocks xmlns:a="http://schemas.openxmlformats.org/drawingml/2006/main" noGrp="1"/>
          </p:cNvSpPr>
          <p:nvPr/>
        </p:nvSpPr>
        <p:spPr>
          <a:xfrm xmlns:a="http://schemas.openxmlformats.org/drawingml/2006/main">
            <a:off x="1524000" y="44005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133"/>
                </a:solidFill>
                <a:latin typeface="Helvetica Neue"/>
                <a:ea typeface="Helvetica Neue"/>
                <a:cs typeface="Helvetica Neue"/>
              </a:defRPr>
            </a:defPPr>
            <a:lvl1pPr>
              <a:defRPr sz="2025" b="1">
                <a:solidFill>
                  <a:srgbClr val="152133"/>
                </a:solidFill>
                <a:latin typeface="Helvetica Neue"/>
                <a:ea typeface="Helvetica Neue"/>
                <a:cs typeface="Helvetica Neue"/>
              </a:defRPr>
            </a:lvl1pPr>
            <a:lvl2pPr>
              <a:defRPr sz="2025" b="1">
                <a:solidFill>
                  <a:srgbClr val="152133"/>
                </a:solidFill>
                <a:latin typeface="Helvetica Neue"/>
                <a:ea typeface="Helvetica Neue"/>
                <a:cs typeface="Helvetica Neue"/>
              </a:defRPr>
            </a:lvl2pPr>
            <a:lvl3pPr>
              <a:defRPr sz="2025" b="1">
                <a:solidFill>
                  <a:srgbClr val="152133"/>
                </a:solidFill>
                <a:latin typeface="Helvetica Neue"/>
                <a:ea typeface="Helvetica Neue"/>
                <a:cs typeface="Helvetica Neue"/>
              </a:defRPr>
            </a:lvl3pPr>
            <a:lvl4pPr>
              <a:defRPr sz="2025" b="1">
                <a:solidFill>
                  <a:srgbClr val="152133"/>
                </a:solidFill>
                <a:latin typeface="Helvetica Neue"/>
                <a:ea typeface="Helvetica Neue"/>
                <a:cs typeface="Helvetica Neue"/>
              </a:defRPr>
            </a:lvl4pPr>
            <a:lvl5pPr>
              <a:defRPr sz="2025" b="1">
                <a:solidFill>
                  <a:srgbClr val="152133"/>
                </a:solidFill>
                <a:latin typeface="Helvetica Neue"/>
                <a:ea typeface="Helvetica Neue"/>
                <a:cs typeface="Helvetica Neue"/>
              </a:defRPr>
            </a:lvl5pPr>
            <a:lvl6pPr>
              <a:defRPr sz="2025" b="1">
                <a:solidFill>
                  <a:srgbClr val="152133"/>
                </a:solidFill>
                <a:latin typeface="Helvetica Neue"/>
                <a:ea typeface="Helvetica Neue"/>
                <a:cs typeface="Helvetica Neue"/>
              </a:defRPr>
            </a:lvl6pPr>
            <a:lvl7pPr>
              <a:defRPr sz="2025" b="1">
                <a:solidFill>
                  <a:srgbClr val="152133"/>
                </a:solidFill>
                <a:latin typeface="Helvetica Neue"/>
                <a:ea typeface="Helvetica Neue"/>
                <a:cs typeface="Helvetica Neue"/>
              </a:defRPr>
            </a:lvl7pPr>
            <a:lvl8pPr>
              <a:defRPr sz="2025" b="1">
                <a:solidFill>
                  <a:srgbClr val="152133"/>
                </a:solidFill>
                <a:latin typeface="Helvetica Neue"/>
                <a:ea typeface="Helvetica Neue"/>
                <a:cs typeface="Helvetica Neue"/>
              </a:defRPr>
            </a:lvl8pPr>
            <a:lvl9pPr>
              <a:defRPr sz="2025" b="1">
                <a:solidFill>
                  <a:srgbClr val="152133"/>
                </a:solidFill>
                <a:latin typeface="Helvetica Neue"/>
                <a:ea typeface="Helvetica Neue"/>
                <a:cs typeface="Helvetica Neue"/>
              </a:defRPr>
            </a:lvl9pPr>
          </a:lstStyle>
          <a:p xmlns:a="http://schemas.openxmlformats.org/drawingml/2006/main">
            <a:pPr>
              <a:defRPr sz="2025" b="1">
                <a:solidFill>
                  <a:srgbClr val="152133"/>
                </a:solidFill>
                <a:latin typeface="Helvetica Neue"/>
                <a:ea typeface="Helvetica Neue"/>
                <a:cs typeface="Helvetica Neue"/>
              </a:defRPr>
            </a:pPr>
            <a:r>
              <a:rPr sz="2025" b="1">
                <a:solidFill>
                  <a:srgbClr val="152133"/>
                </a:solidFill>
                <a:latin typeface="Helvetica Neue"/>
                <a:ea typeface="Helvetica Neue"/>
                <a:cs typeface="Helvetica Neue"/>
                <a:hlinkClick xmlns:r="http://schemas.openxmlformats.org/officeDocument/2006/relationships" r:id="R6a4fd3662e43468b"/>
              </a:rPr>
              <a:t>Philips Hue and Flic</a:t>
            </a:r>
          </a:p>
        </p:txBody>
      </p:sp>
      <p:sp>
        <p:nvSpPr>
          <p:cNvPr id="15" name="Existing app, switch and physical gesture-control ">
            <a:extLst xmlns:a="http://schemas.openxmlformats.org/drawingml/2006/main">
              <a:ext uri="{FF2B5EF4-FFF2-40B4-BE49-F238E27FC236}">
                <a16:creationId xmlns:a16="http://schemas.microsoft.com/office/drawing/2014/main" id="{D8B575EA-04E3-45CC-8E07-B6D9A2C5E5E1}"/>
              </a:ext>
            </a:extLst>
          </p:cNvPr>
          <p:cNvSpPr>
            <a:spLocks xmlns:a="http://schemas.openxmlformats.org/drawingml/2006/main" noGrp="1"/>
          </p:cNvSpPr>
          <p:nvPr/>
        </p:nvSpPr>
        <p:spPr>
          <a:xfrm xmlns:a="http://schemas.openxmlformats.org/drawingml/2006/main">
            <a:off x="1524000" y="476250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073"/>
                </a:solidFill>
                <a:latin typeface="Helvetica Neue"/>
                <a:ea typeface="Helvetica Neue"/>
                <a:cs typeface="Helvetica Neue"/>
              </a:defRPr>
            </a:defPPr>
            <a:lvl1pPr>
              <a:defRPr sz="1575" b="0">
                <a:solidFill>
                  <a:srgbClr val="536073"/>
                </a:solidFill>
                <a:latin typeface="Helvetica Neue"/>
                <a:ea typeface="Helvetica Neue"/>
                <a:cs typeface="Helvetica Neue"/>
              </a:defRPr>
            </a:lvl1pPr>
            <a:lvl2pPr>
              <a:defRPr sz="1575" b="0">
                <a:solidFill>
                  <a:srgbClr val="536073"/>
                </a:solidFill>
                <a:latin typeface="Helvetica Neue"/>
                <a:ea typeface="Helvetica Neue"/>
                <a:cs typeface="Helvetica Neue"/>
              </a:defRPr>
            </a:lvl2pPr>
            <a:lvl3pPr>
              <a:defRPr sz="1575" b="0">
                <a:solidFill>
                  <a:srgbClr val="536073"/>
                </a:solidFill>
                <a:latin typeface="Helvetica Neue"/>
                <a:ea typeface="Helvetica Neue"/>
                <a:cs typeface="Helvetica Neue"/>
              </a:defRPr>
            </a:lvl3pPr>
            <a:lvl4pPr>
              <a:defRPr sz="1575" b="0">
                <a:solidFill>
                  <a:srgbClr val="536073"/>
                </a:solidFill>
                <a:latin typeface="Helvetica Neue"/>
                <a:ea typeface="Helvetica Neue"/>
                <a:cs typeface="Helvetica Neue"/>
              </a:defRPr>
            </a:lvl4pPr>
            <a:lvl5pPr>
              <a:defRPr sz="1575" b="0">
                <a:solidFill>
                  <a:srgbClr val="536073"/>
                </a:solidFill>
                <a:latin typeface="Helvetica Neue"/>
                <a:ea typeface="Helvetica Neue"/>
                <a:cs typeface="Helvetica Neue"/>
              </a:defRPr>
            </a:lvl5pPr>
            <a:lvl6pPr>
              <a:defRPr sz="1575" b="0">
                <a:solidFill>
                  <a:srgbClr val="536073"/>
                </a:solidFill>
                <a:latin typeface="Helvetica Neue"/>
                <a:ea typeface="Helvetica Neue"/>
                <a:cs typeface="Helvetica Neue"/>
              </a:defRPr>
            </a:lvl6pPr>
            <a:lvl7pPr>
              <a:defRPr sz="1575" b="0">
                <a:solidFill>
                  <a:srgbClr val="536073"/>
                </a:solidFill>
                <a:latin typeface="Helvetica Neue"/>
                <a:ea typeface="Helvetica Neue"/>
                <a:cs typeface="Helvetica Neue"/>
              </a:defRPr>
            </a:lvl7pPr>
            <a:lvl8pPr>
              <a:defRPr sz="1575" b="0">
                <a:solidFill>
                  <a:srgbClr val="536073"/>
                </a:solidFill>
                <a:latin typeface="Helvetica Neue"/>
                <a:ea typeface="Helvetica Neue"/>
                <a:cs typeface="Helvetica Neue"/>
              </a:defRPr>
            </a:lvl8pPr>
            <a:lvl9pPr>
              <a:defRPr sz="1575" b="0">
                <a:solidFill>
                  <a:srgbClr val="536073"/>
                </a:solidFill>
                <a:latin typeface="Helvetica Neue"/>
                <a:ea typeface="Helvetica Neue"/>
                <a:cs typeface="Helvetica Neue"/>
              </a:defRPr>
            </a:lvl9pPr>
          </a:lstStyle>
          <a:p xmlns:a="http://schemas.openxmlformats.org/drawingml/2006/main">
            <a:pPr>
              <a:defRPr sz="1575" b="0">
                <a:solidFill>
                  <a:srgbClr val="536073"/>
                </a:solidFill>
                <a:latin typeface="Helvetica Neue"/>
                <a:ea typeface="Helvetica Neue"/>
                <a:cs typeface="Helvetica Neue"/>
              </a:defRPr>
            </a:pPr>
            <a:r>
              <a:rPr sz="1575" b="0">
                <a:solidFill>
                  <a:srgbClr val="536073"/>
                </a:solidFill>
                <a:latin typeface="Helvetica Neue"/>
                <a:ea typeface="Helvetica Neue"/>
                <a:cs typeface="Helvetica Neue"/>
              </a:rPr>
              <a:t>Existing app, switch and physical gesture-control alternatives.</a:t>
            </a:r>
          </a:p>
        </p:txBody>
      </p:sp>
      <p:sp>
        <p:nvSpPr>
          <p:cNvPr id="16" name="05">
            <a:extLst xmlns:a="http://schemas.openxmlformats.org/drawingml/2006/main">
              <a:ext uri="{FF2B5EF4-FFF2-40B4-BE49-F238E27FC236}">
                <a16:creationId xmlns:a16="http://schemas.microsoft.com/office/drawing/2014/main" id="{86946E09-0A42-4AF7-A28A-E9F1DDF62F62}"/>
              </a:ext>
            </a:extLst>
          </p:cNvPr>
          <p:cNvSpPr>
            <a:spLocks xmlns:a="http://schemas.openxmlformats.org/drawingml/2006/main" noGrp="1"/>
          </p:cNvSpPr>
          <p:nvPr/>
        </p:nvSpPr>
        <p:spPr>
          <a:xfrm xmlns:a="http://schemas.openxmlformats.org/drawingml/2006/main">
            <a:off x="609600" y="5143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073"/>
                </a:solidFill>
                <a:latin typeface="Helvetica Neue"/>
                <a:ea typeface="Helvetica Neue"/>
                <a:cs typeface="Helvetica Neue"/>
              </a:defRPr>
            </a:defPPr>
            <a:lvl1pPr>
              <a:defRPr sz="2025" b="0">
                <a:solidFill>
                  <a:srgbClr val="536073"/>
                </a:solidFill>
                <a:latin typeface="Helvetica Neue"/>
                <a:ea typeface="Helvetica Neue"/>
                <a:cs typeface="Helvetica Neue"/>
              </a:defRPr>
            </a:lvl1pPr>
            <a:lvl2pPr>
              <a:defRPr sz="2025" b="0">
                <a:solidFill>
                  <a:srgbClr val="536073"/>
                </a:solidFill>
                <a:latin typeface="Helvetica Neue"/>
                <a:ea typeface="Helvetica Neue"/>
                <a:cs typeface="Helvetica Neue"/>
              </a:defRPr>
            </a:lvl2pPr>
            <a:lvl3pPr>
              <a:defRPr sz="2025" b="0">
                <a:solidFill>
                  <a:srgbClr val="536073"/>
                </a:solidFill>
                <a:latin typeface="Helvetica Neue"/>
                <a:ea typeface="Helvetica Neue"/>
                <a:cs typeface="Helvetica Neue"/>
              </a:defRPr>
            </a:lvl3pPr>
            <a:lvl4pPr>
              <a:defRPr sz="2025" b="0">
                <a:solidFill>
                  <a:srgbClr val="536073"/>
                </a:solidFill>
                <a:latin typeface="Helvetica Neue"/>
                <a:ea typeface="Helvetica Neue"/>
                <a:cs typeface="Helvetica Neue"/>
              </a:defRPr>
            </a:lvl4pPr>
            <a:lvl5pPr>
              <a:defRPr sz="2025" b="0">
                <a:solidFill>
                  <a:srgbClr val="536073"/>
                </a:solidFill>
                <a:latin typeface="Helvetica Neue"/>
                <a:ea typeface="Helvetica Neue"/>
                <a:cs typeface="Helvetica Neue"/>
              </a:defRPr>
            </a:lvl5pPr>
            <a:lvl6pPr>
              <a:defRPr sz="2025" b="0">
                <a:solidFill>
                  <a:srgbClr val="536073"/>
                </a:solidFill>
                <a:latin typeface="Helvetica Neue"/>
                <a:ea typeface="Helvetica Neue"/>
                <a:cs typeface="Helvetica Neue"/>
              </a:defRPr>
            </a:lvl6pPr>
            <a:lvl7pPr>
              <a:defRPr sz="2025" b="0">
                <a:solidFill>
                  <a:srgbClr val="536073"/>
                </a:solidFill>
                <a:latin typeface="Helvetica Neue"/>
                <a:ea typeface="Helvetica Neue"/>
                <a:cs typeface="Helvetica Neue"/>
              </a:defRPr>
            </a:lvl7pPr>
            <a:lvl8pPr>
              <a:defRPr sz="2025" b="0">
                <a:solidFill>
                  <a:srgbClr val="536073"/>
                </a:solidFill>
                <a:latin typeface="Helvetica Neue"/>
                <a:ea typeface="Helvetica Neue"/>
                <a:cs typeface="Helvetica Neue"/>
              </a:defRPr>
            </a:lvl8pPr>
            <a:lvl9pPr>
              <a:defRPr sz="2025" b="0">
                <a:solidFill>
                  <a:srgbClr val="536073"/>
                </a:solidFill>
                <a:latin typeface="Helvetica Neue"/>
                <a:ea typeface="Helvetica Neue"/>
                <a:cs typeface="Helvetica Neue"/>
              </a:defRPr>
            </a:lvl9pPr>
          </a:lstStyle>
          <a:p xmlns:a="http://schemas.openxmlformats.org/drawingml/2006/main">
            <a:pPr>
              <a:defRPr sz="2025" b="0">
                <a:solidFill>
                  <a:srgbClr val="536073"/>
                </a:solidFill>
                <a:latin typeface="Helvetica Neue"/>
                <a:ea typeface="Helvetica Neue"/>
                <a:cs typeface="Helvetica Neue"/>
              </a:defRPr>
            </a:pPr>
            <a:r>
              <a:rPr sz="2025" b="0">
                <a:solidFill>
                  <a:srgbClr val="536073"/>
                </a:solidFill>
                <a:latin typeface="Helvetica Neue"/>
                <a:ea typeface="Helvetica Neue"/>
                <a:cs typeface="Helvetica Neue"/>
              </a:rPr>
              <a:t>05</a:t>
            </a:r>
          </a:p>
        </p:txBody>
      </p:sp>
      <p:sp>
        <p:nvSpPr>
          <p:cNvPr id="17" name="Spellcast / current source code">
            <a:extLst xmlns:a="http://schemas.openxmlformats.org/drawingml/2006/main">
              <a:ext uri="{FF2B5EF4-FFF2-40B4-BE49-F238E27FC236}">
                <a16:creationId xmlns:a16="http://schemas.microsoft.com/office/drawing/2014/main" id="{28A6ED6E-756B-443F-8F73-AE7159143B6A}"/>
              </a:ext>
            </a:extLst>
          </p:cNvPr>
          <p:cNvSpPr>
            <a:spLocks xmlns:a="http://schemas.openxmlformats.org/drawingml/2006/main" noGrp="1"/>
          </p:cNvSpPr>
          <p:nvPr/>
        </p:nvSpPr>
        <p:spPr>
          <a:xfrm xmlns:a="http://schemas.openxmlformats.org/drawingml/2006/main">
            <a:off x="1524000" y="51435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133"/>
                </a:solidFill>
                <a:latin typeface="Helvetica Neue"/>
                <a:ea typeface="Helvetica Neue"/>
                <a:cs typeface="Helvetica Neue"/>
              </a:defRPr>
            </a:defPPr>
            <a:lvl1pPr>
              <a:defRPr sz="2025" b="1">
                <a:solidFill>
                  <a:srgbClr val="152133"/>
                </a:solidFill>
                <a:latin typeface="Helvetica Neue"/>
                <a:ea typeface="Helvetica Neue"/>
                <a:cs typeface="Helvetica Neue"/>
              </a:defRPr>
            </a:lvl1pPr>
            <a:lvl2pPr>
              <a:defRPr sz="2025" b="1">
                <a:solidFill>
                  <a:srgbClr val="152133"/>
                </a:solidFill>
                <a:latin typeface="Helvetica Neue"/>
                <a:ea typeface="Helvetica Neue"/>
                <a:cs typeface="Helvetica Neue"/>
              </a:defRPr>
            </a:lvl2pPr>
            <a:lvl3pPr>
              <a:defRPr sz="2025" b="1">
                <a:solidFill>
                  <a:srgbClr val="152133"/>
                </a:solidFill>
                <a:latin typeface="Helvetica Neue"/>
                <a:ea typeface="Helvetica Neue"/>
                <a:cs typeface="Helvetica Neue"/>
              </a:defRPr>
            </a:lvl3pPr>
            <a:lvl4pPr>
              <a:defRPr sz="2025" b="1">
                <a:solidFill>
                  <a:srgbClr val="152133"/>
                </a:solidFill>
                <a:latin typeface="Helvetica Neue"/>
                <a:ea typeface="Helvetica Neue"/>
                <a:cs typeface="Helvetica Neue"/>
              </a:defRPr>
            </a:lvl4pPr>
            <a:lvl5pPr>
              <a:defRPr sz="2025" b="1">
                <a:solidFill>
                  <a:srgbClr val="152133"/>
                </a:solidFill>
                <a:latin typeface="Helvetica Neue"/>
                <a:ea typeface="Helvetica Neue"/>
                <a:cs typeface="Helvetica Neue"/>
              </a:defRPr>
            </a:lvl5pPr>
            <a:lvl6pPr>
              <a:defRPr sz="2025" b="1">
                <a:solidFill>
                  <a:srgbClr val="152133"/>
                </a:solidFill>
                <a:latin typeface="Helvetica Neue"/>
                <a:ea typeface="Helvetica Neue"/>
                <a:cs typeface="Helvetica Neue"/>
              </a:defRPr>
            </a:lvl6pPr>
            <a:lvl7pPr>
              <a:defRPr sz="2025" b="1">
                <a:solidFill>
                  <a:srgbClr val="152133"/>
                </a:solidFill>
                <a:latin typeface="Helvetica Neue"/>
                <a:ea typeface="Helvetica Neue"/>
                <a:cs typeface="Helvetica Neue"/>
              </a:defRPr>
            </a:lvl7pPr>
            <a:lvl8pPr>
              <a:defRPr sz="2025" b="1">
                <a:solidFill>
                  <a:srgbClr val="152133"/>
                </a:solidFill>
                <a:latin typeface="Helvetica Neue"/>
                <a:ea typeface="Helvetica Neue"/>
                <a:cs typeface="Helvetica Neue"/>
              </a:defRPr>
            </a:lvl8pPr>
            <a:lvl9pPr>
              <a:defRPr sz="2025" b="1">
                <a:solidFill>
                  <a:srgbClr val="152133"/>
                </a:solidFill>
                <a:latin typeface="Helvetica Neue"/>
                <a:ea typeface="Helvetica Neue"/>
                <a:cs typeface="Helvetica Neue"/>
              </a:defRPr>
            </a:lvl9pPr>
          </a:lstStyle>
          <a:p xmlns:a="http://schemas.openxmlformats.org/drawingml/2006/main">
            <a:pPr>
              <a:defRPr sz="2025" b="1">
                <a:solidFill>
                  <a:srgbClr val="152133"/>
                </a:solidFill>
                <a:latin typeface="Helvetica Neue"/>
                <a:ea typeface="Helvetica Neue"/>
                <a:cs typeface="Helvetica Neue"/>
              </a:defRPr>
            </a:pPr>
            <a:r>
              <a:rPr sz="2025" b="1">
                <a:solidFill>
                  <a:srgbClr val="152133"/>
                </a:solidFill>
                <a:latin typeface="Helvetica Neue"/>
                <a:ea typeface="Helvetica Neue"/>
                <a:cs typeface="Helvetica Neue"/>
              </a:rPr>
              <a:t>Spellcast / current source code</a:t>
            </a:r>
          </a:p>
        </p:txBody>
      </p:sp>
      <p:sp>
        <p:nvSpPr>
          <p:cNvPr id="18" name="Features and current integration boundaries, commi">
            <a:extLst xmlns:a="http://schemas.openxmlformats.org/drawingml/2006/main">
              <a:ext uri="{FF2B5EF4-FFF2-40B4-BE49-F238E27FC236}">
                <a16:creationId xmlns:a16="http://schemas.microsoft.com/office/drawing/2014/main" id="{12EEF0B9-1F4A-472E-A677-45B3214E9FD0}"/>
              </a:ext>
            </a:extLst>
          </p:cNvPr>
          <p:cNvSpPr>
            <a:spLocks xmlns:a="http://schemas.openxmlformats.org/drawingml/2006/main" noGrp="1"/>
          </p:cNvSpPr>
          <p:nvPr/>
        </p:nvSpPr>
        <p:spPr>
          <a:xfrm xmlns:a="http://schemas.openxmlformats.org/drawingml/2006/main">
            <a:off x="1524000" y="55054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073"/>
                </a:solidFill>
                <a:latin typeface="Helvetica Neue"/>
                <a:ea typeface="Helvetica Neue"/>
                <a:cs typeface="Helvetica Neue"/>
              </a:defRPr>
            </a:defPPr>
            <a:lvl1pPr>
              <a:defRPr sz="1575" b="0">
                <a:solidFill>
                  <a:srgbClr val="536073"/>
                </a:solidFill>
                <a:latin typeface="Helvetica Neue"/>
                <a:ea typeface="Helvetica Neue"/>
                <a:cs typeface="Helvetica Neue"/>
              </a:defRPr>
            </a:lvl1pPr>
            <a:lvl2pPr>
              <a:defRPr sz="1575" b="0">
                <a:solidFill>
                  <a:srgbClr val="536073"/>
                </a:solidFill>
                <a:latin typeface="Helvetica Neue"/>
                <a:ea typeface="Helvetica Neue"/>
                <a:cs typeface="Helvetica Neue"/>
              </a:defRPr>
            </a:lvl2pPr>
            <a:lvl3pPr>
              <a:defRPr sz="1575" b="0">
                <a:solidFill>
                  <a:srgbClr val="536073"/>
                </a:solidFill>
                <a:latin typeface="Helvetica Neue"/>
                <a:ea typeface="Helvetica Neue"/>
                <a:cs typeface="Helvetica Neue"/>
              </a:defRPr>
            </a:lvl3pPr>
            <a:lvl4pPr>
              <a:defRPr sz="1575" b="0">
                <a:solidFill>
                  <a:srgbClr val="536073"/>
                </a:solidFill>
                <a:latin typeface="Helvetica Neue"/>
                <a:ea typeface="Helvetica Neue"/>
                <a:cs typeface="Helvetica Neue"/>
              </a:defRPr>
            </a:lvl4pPr>
            <a:lvl5pPr>
              <a:defRPr sz="1575" b="0">
                <a:solidFill>
                  <a:srgbClr val="536073"/>
                </a:solidFill>
                <a:latin typeface="Helvetica Neue"/>
                <a:ea typeface="Helvetica Neue"/>
                <a:cs typeface="Helvetica Neue"/>
              </a:defRPr>
            </a:lvl5pPr>
            <a:lvl6pPr>
              <a:defRPr sz="1575" b="0">
                <a:solidFill>
                  <a:srgbClr val="536073"/>
                </a:solidFill>
                <a:latin typeface="Helvetica Neue"/>
                <a:ea typeface="Helvetica Neue"/>
                <a:cs typeface="Helvetica Neue"/>
              </a:defRPr>
            </a:lvl6pPr>
            <a:lvl7pPr>
              <a:defRPr sz="1575" b="0">
                <a:solidFill>
                  <a:srgbClr val="536073"/>
                </a:solidFill>
                <a:latin typeface="Helvetica Neue"/>
                <a:ea typeface="Helvetica Neue"/>
                <a:cs typeface="Helvetica Neue"/>
              </a:defRPr>
            </a:lvl7pPr>
            <a:lvl8pPr>
              <a:defRPr sz="1575" b="0">
                <a:solidFill>
                  <a:srgbClr val="536073"/>
                </a:solidFill>
                <a:latin typeface="Helvetica Neue"/>
                <a:ea typeface="Helvetica Neue"/>
                <a:cs typeface="Helvetica Neue"/>
              </a:defRPr>
            </a:lvl8pPr>
            <a:lvl9pPr>
              <a:defRPr sz="1575" b="0">
                <a:solidFill>
                  <a:srgbClr val="536073"/>
                </a:solidFill>
                <a:latin typeface="Helvetica Neue"/>
                <a:ea typeface="Helvetica Neue"/>
                <a:cs typeface="Helvetica Neue"/>
              </a:defRPr>
            </a:lvl9pPr>
          </a:lstStyle>
          <a:p xmlns:a="http://schemas.openxmlformats.org/drawingml/2006/main">
            <a:pPr>
              <a:defRPr sz="1575" b="0">
                <a:solidFill>
                  <a:srgbClr val="536073"/>
                </a:solidFill>
                <a:latin typeface="Helvetica Neue"/>
                <a:ea typeface="Helvetica Neue"/>
                <a:cs typeface="Helvetica Neue"/>
              </a:defRPr>
            </a:pPr>
            <a:r>
              <a:rPr sz="1575" b="0">
                <a:solidFill>
                  <a:srgbClr val="536073"/>
                </a:solidFill>
                <a:latin typeface="Helvetica Neue"/>
                <a:ea typeface="Helvetica Neue"/>
                <a:cs typeface="Helvetica Neue"/>
              </a:rPr>
              <a:t>Features and current integration boundaries, commit 23970ca.</a:t>
            </a:r>
          </a:p>
        </p:txBody>
      </p:sp>
      <p:sp>
        <p:nvSpPr>
          <p:cNvPr id="19" name="Full links and source qualifications appear in the">
            <a:extLst xmlns:a="http://schemas.openxmlformats.org/drawingml/2006/main">
              <a:ext uri="{FF2B5EF4-FFF2-40B4-BE49-F238E27FC236}">
                <a16:creationId xmlns:a16="http://schemas.microsoft.com/office/drawing/2014/main" id="{B2EB5B7D-7498-4378-8FDA-92A1E61CF565}"/>
              </a:ext>
            </a:extLst>
          </p:cNvPr>
          <p:cNvSpPr>
            <a:spLocks xmlns:a="http://schemas.openxmlformats.org/drawingml/2006/main" noGrp="1"/>
          </p:cNvSpPr>
          <p:nvPr/>
        </p:nvSpPr>
        <p:spPr>
          <a:xfrm xmlns:a="http://schemas.openxmlformats.org/drawingml/2006/main">
            <a:off x="609600" y="62007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36073"/>
                </a:solidFill>
                <a:latin typeface="Helvetica Neue"/>
                <a:ea typeface="Helvetica Neue"/>
                <a:cs typeface="Helvetica Neue"/>
              </a:defRPr>
            </a:defPPr>
            <a:lvl1pPr>
              <a:defRPr sz="1125" b="0">
                <a:solidFill>
                  <a:srgbClr val="536073"/>
                </a:solidFill>
                <a:latin typeface="Helvetica Neue"/>
                <a:ea typeface="Helvetica Neue"/>
                <a:cs typeface="Helvetica Neue"/>
              </a:defRPr>
            </a:lvl1pPr>
            <a:lvl2pPr>
              <a:defRPr sz="1125" b="0">
                <a:solidFill>
                  <a:srgbClr val="536073"/>
                </a:solidFill>
                <a:latin typeface="Helvetica Neue"/>
                <a:ea typeface="Helvetica Neue"/>
                <a:cs typeface="Helvetica Neue"/>
              </a:defRPr>
            </a:lvl2pPr>
            <a:lvl3pPr>
              <a:defRPr sz="1125" b="0">
                <a:solidFill>
                  <a:srgbClr val="536073"/>
                </a:solidFill>
                <a:latin typeface="Helvetica Neue"/>
                <a:ea typeface="Helvetica Neue"/>
                <a:cs typeface="Helvetica Neue"/>
              </a:defRPr>
            </a:lvl3pPr>
            <a:lvl4pPr>
              <a:defRPr sz="1125" b="0">
                <a:solidFill>
                  <a:srgbClr val="536073"/>
                </a:solidFill>
                <a:latin typeface="Helvetica Neue"/>
                <a:ea typeface="Helvetica Neue"/>
                <a:cs typeface="Helvetica Neue"/>
              </a:defRPr>
            </a:lvl4pPr>
            <a:lvl5pPr>
              <a:defRPr sz="1125" b="0">
                <a:solidFill>
                  <a:srgbClr val="536073"/>
                </a:solidFill>
                <a:latin typeface="Helvetica Neue"/>
                <a:ea typeface="Helvetica Neue"/>
                <a:cs typeface="Helvetica Neue"/>
              </a:defRPr>
            </a:lvl5pPr>
            <a:lvl6pPr>
              <a:defRPr sz="1125" b="0">
                <a:solidFill>
                  <a:srgbClr val="536073"/>
                </a:solidFill>
                <a:latin typeface="Helvetica Neue"/>
                <a:ea typeface="Helvetica Neue"/>
                <a:cs typeface="Helvetica Neue"/>
              </a:defRPr>
            </a:lvl6pPr>
            <a:lvl7pPr>
              <a:defRPr sz="1125" b="0">
                <a:solidFill>
                  <a:srgbClr val="536073"/>
                </a:solidFill>
                <a:latin typeface="Helvetica Neue"/>
                <a:ea typeface="Helvetica Neue"/>
                <a:cs typeface="Helvetica Neue"/>
              </a:defRPr>
            </a:lvl7pPr>
            <a:lvl8pPr>
              <a:defRPr sz="1125" b="0">
                <a:solidFill>
                  <a:srgbClr val="536073"/>
                </a:solidFill>
                <a:latin typeface="Helvetica Neue"/>
                <a:ea typeface="Helvetica Neue"/>
                <a:cs typeface="Helvetica Neue"/>
              </a:defRPr>
            </a:lvl8pPr>
            <a:lvl9pPr>
              <a:defRPr sz="1125" b="0">
                <a:solidFill>
                  <a:srgbClr val="536073"/>
                </a:solidFill>
                <a:latin typeface="Helvetica Neue"/>
                <a:ea typeface="Helvetica Neue"/>
                <a:cs typeface="Helvetica Neue"/>
              </a:defRPr>
            </a:lvl9pPr>
          </a:lstStyle>
          <a:p xmlns:a="http://schemas.openxmlformats.org/drawingml/2006/main">
            <a:pPr>
              <a:defRPr sz="1125" b="0">
                <a:solidFill>
                  <a:srgbClr val="536073"/>
                </a:solidFill>
                <a:latin typeface="Helvetica Neue"/>
                <a:ea typeface="Helvetica Neue"/>
                <a:cs typeface="Helvetica Neue"/>
              </a:defRPr>
            </a:pPr>
            <a:r>
              <a:rPr sz="1125" b="0">
                <a:solidFill>
                  <a:srgbClr val="536073"/>
                </a:solidFill>
                <a:latin typeface="Helvetica Neue"/>
                <a:ea typeface="Helvetica Neue"/>
                <a:cs typeface="Helvetica Neue"/>
              </a:rPr>
              <a:t>Full links and source qualifications appear in the relevant speaker notes. Cover visual is a concept illustration.</a:t>
            </a:r>
          </a:p>
        </p:txBody>
      </p:sp>
    </p:spTree>
    <p:extLst>
      <p:ext uri="{BB962C8B-B14F-4D97-AF65-F5344CB8AC3E}">
        <p14:creationId xmlns:p14="http://schemas.microsoft.com/office/powerpoint/2010/main" val="1671640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2026-10-17T16:43:00.6350000Z</dcterms:created>
  <dcterms:modified xsi:type="dcterms:W3CDTF">2026-10-17T16:43:00.6350000Z</dcterms:modified>
</coreProperties>
</file>